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85"/>
    <p:restoredTop sz="94610"/>
  </p:normalViewPr>
  <p:slideViewPr>
    <p:cSldViewPr snapToGrid="0" snapToObjects="1">
      <p:cViewPr varScale="1">
        <p:scale>
          <a:sx n="99" d="100"/>
          <a:sy n="99" d="100"/>
        </p:scale>
        <p:origin x="2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81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THE BRIDGE SESSION · MODULE 1 → MODULE 2</a:t>
            </a:r>
            <a:endParaRPr lang="en-US" sz="1800" dirty="0"/>
          </a:p>
        </p:txBody>
      </p:sp>
      <p:sp>
        <p:nvSpPr>
          <p:cNvPr id="3" name="Text 1"/>
          <p:cNvSpPr/>
          <p:nvPr/>
        </p:nvSpPr>
        <p:spPr>
          <a:xfrm>
            <a:off x="1074539" y="3543300"/>
            <a:ext cx="17677507" cy="1181100"/>
          </a:xfrm>
          <a:prstGeom prst="rect">
            <a:avLst/>
          </a:prstGeom>
          <a:noFill/>
          <a:ln/>
        </p:spPr>
        <p:txBody>
          <a:bodyPr wrap="square" lIns="25400" tIns="25400" rIns="25400" bIns="25400" rtlCol="0" anchor="t">
            <a:normAutofit/>
          </a:bodyPr>
          <a:lstStyle/>
          <a:p>
            <a:pPr marL="0" indent="0" algn="l">
              <a:lnSpc>
                <a:spcPct val="83916"/>
              </a:lnSpc>
              <a:buNone/>
            </a:pPr>
            <a:r>
              <a:rPr lang="en-US" sz="9300" b="1" kern="0" spc="-186" dirty="0">
                <a:solidFill>
                  <a:srgbClr val="201E1D"/>
                </a:solidFill>
                <a:latin typeface="Arial" pitchFamily="34" charset="0"/>
                <a:ea typeface="Arial" pitchFamily="34" charset="-122"/>
                <a:cs typeface="Arial" pitchFamily="34" charset="-120"/>
              </a:rPr>
              <a:t>Python &amp; FastAPI</a:t>
            </a:r>
            <a:endParaRPr lang="en-US" sz="9300" dirty="0"/>
          </a:p>
        </p:txBody>
      </p:sp>
      <p:sp>
        <p:nvSpPr>
          <p:cNvPr id="4" name="Text 2"/>
          <p:cNvSpPr/>
          <p:nvPr/>
        </p:nvSpPr>
        <p:spPr>
          <a:xfrm>
            <a:off x="1143000" y="5143500"/>
            <a:ext cx="8989790" cy="1409700"/>
          </a:xfrm>
          <a:prstGeom prst="rect">
            <a:avLst/>
          </a:prstGeom>
          <a:noFill/>
          <a:ln/>
        </p:spPr>
        <p:txBody>
          <a:bodyPr wrap="square" lIns="25400" tIns="25400" rIns="25400" bIns="25400" rtlCol="0" anchor="t">
            <a:normAutofit/>
          </a:bodyPr>
          <a:lstStyle/>
          <a:p>
            <a:pPr marL="0" indent="0" algn="l">
              <a:lnSpc>
                <a:spcPct val="104348"/>
              </a:lnSpc>
              <a:buNone/>
            </a:pPr>
            <a:r>
              <a:rPr lang="en-US" sz="3000" dirty="0">
                <a:solidFill>
                  <a:srgbClr val="211D1D">
                    <a:alpha val="55000"/>
                  </a:srgbClr>
                </a:solidFill>
                <a:latin typeface="Arial" pitchFamily="34" charset="0"/>
                <a:ea typeface="Arial" pitchFamily="34" charset="-122"/>
                <a:cs typeface="Arial" pitchFamily="34" charset="-120"/>
              </a:rPr>
              <a:t>Write a small, typed Python service, then connect a web page to it — end to end. A three-hour bridge that closes with a running integration checkpoint.</a:t>
            </a:r>
            <a:endParaRPr lang="en-US" sz="3000" dirty="0"/>
          </a:p>
        </p:txBody>
      </p:sp>
      <p:sp>
        <p:nvSpPr>
          <p:cNvPr id="5" name="Text 3"/>
          <p:cNvSpPr/>
          <p:nvPr/>
        </p:nvSpPr>
        <p:spPr>
          <a:xfrm>
            <a:off x="1143000" y="8987210"/>
            <a:ext cx="1655609"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Instructor deck</a:t>
            </a:r>
            <a:endParaRPr lang="en-US" sz="1800" dirty="0"/>
          </a:p>
        </p:txBody>
      </p:sp>
      <p:sp>
        <p:nvSpPr>
          <p:cNvPr id="6" name="Text 4"/>
          <p:cNvSpPr/>
          <p:nvPr/>
        </p:nvSpPr>
        <p:spPr>
          <a:xfrm>
            <a:off x="2819549" y="8987210"/>
            <a:ext cx="152326"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3067124" y="8987210"/>
            <a:ext cx="834851"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3 hours</a:t>
            </a:r>
            <a:endParaRPr lang="en-US" sz="1800" dirty="0"/>
          </a:p>
        </p:txBody>
      </p:sp>
      <p:sp>
        <p:nvSpPr>
          <p:cNvPr id="8" name="Text 6"/>
          <p:cNvSpPr/>
          <p:nvPr/>
        </p:nvSpPr>
        <p:spPr>
          <a:xfrm>
            <a:off x="3997226" y="8987210"/>
            <a:ext cx="152326"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4244801" y="8987210"/>
            <a:ext cx="1947751"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Week 0 → Week 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Contents</a:t>
            </a:r>
            <a:endParaRPr lang="en-US" sz="4800" dirty="0"/>
          </a:p>
        </p:txBody>
      </p:sp>
      <p:sp>
        <p:nvSpPr>
          <p:cNvPr id="3" name="Shape 1"/>
          <p:cNvSpPr/>
          <p:nvPr/>
        </p:nvSpPr>
        <p:spPr>
          <a:xfrm>
            <a:off x="1143000" y="3200400"/>
            <a:ext cx="7543800" cy="19050"/>
          </a:xfrm>
          <a:prstGeom prst="rect">
            <a:avLst/>
          </a:prstGeom>
          <a:solidFill>
            <a:srgbClr val="201E1E">
              <a:alpha val="40000"/>
            </a:srgbClr>
          </a:solidFill>
          <a:ln/>
        </p:spPr>
        <p:txBody>
          <a:bodyPr/>
          <a:lstStyle/>
          <a:p>
            <a:endParaRPr lang="en-US"/>
          </a:p>
        </p:txBody>
      </p:sp>
      <p:sp>
        <p:nvSpPr>
          <p:cNvPr id="4" name="Shape 2"/>
          <p:cNvSpPr/>
          <p:nvPr/>
        </p:nvSpPr>
        <p:spPr>
          <a:xfrm>
            <a:off x="1143000" y="4114726"/>
            <a:ext cx="7543800" cy="19050"/>
          </a:xfrm>
          <a:prstGeom prst="rect">
            <a:avLst/>
          </a:prstGeom>
          <a:solidFill>
            <a:srgbClr val="201E1E">
              <a:alpha val="40000"/>
            </a:srgbClr>
          </a:solidFill>
          <a:ln/>
        </p:spPr>
        <p:txBody>
          <a:bodyPr/>
          <a:lstStyle/>
          <a:p>
            <a:endParaRPr lang="en-US"/>
          </a:p>
        </p:txBody>
      </p:sp>
      <p:sp>
        <p:nvSpPr>
          <p:cNvPr id="5" name="Text 3"/>
          <p:cNvSpPr/>
          <p:nvPr/>
        </p:nvSpPr>
        <p:spPr>
          <a:xfrm>
            <a:off x="1143000" y="3621360"/>
            <a:ext cx="336128"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01</a:t>
            </a:r>
            <a:endParaRPr lang="en-US" sz="1800" dirty="0"/>
          </a:p>
        </p:txBody>
      </p:sp>
      <p:sp>
        <p:nvSpPr>
          <p:cNvPr id="6" name="Text 4"/>
          <p:cNvSpPr/>
          <p:nvPr/>
        </p:nvSpPr>
        <p:spPr>
          <a:xfrm>
            <a:off x="1860128" y="3556025"/>
            <a:ext cx="3733919" cy="260226"/>
          </a:xfrm>
          <a:prstGeom prst="rect">
            <a:avLst/>
          </a:prstGeom>
          <a:noFill/>
          <a:ln/>
        </p:spPr>
        <p:txBody>
          <a:bodyPr wrap="square" lIns="25400" tIns="25400" rIns="25400" bIns="25400" rtlCol="0" anchor="t">
            <a:normAutofit/>
          </a:bodyPr>
          <a:lstStyle/>
          <a:p>
            <a:pPr marL="0" indent="0" algn="l">
              <a:lnSpc>
                <a:spcPct val="135128"/>
              </a:lnSpc>
              <a:buNone/>
            </a:pPr>
            <a:r>
              <a:rPr lang="en-US" sz="2550" dirty="0">
                <a:solidFill>
                  <a:srgbClr val="201E1D"/>
                </a:solidFill>
                <a:latin typeface="Arial" pitchFamily="34" charset="0"/>
                <a:ea typeface="Arial" pitchFamily="34" charset="-122"/>
                <a:cs typeface="Arial" pitchFamily="34" charset="-120"/>
              </a:rPr>
              <a:t>Opening &amp; environment</a:t>
            </a:r>
            <a:endParaRPr lang="en-US" sz="2550" dirty="0"/>
          </a:p>
        </p:txBody>
      </p:sp>
      <p:sp>
        <p:nvSpPr>
          <p:cNvPr id="7" name="Text 5"/>
          <p:cNvSpPr/>
          <p:nvPr/>
        </p:nvSpPr>
        <p:spPr>
          <a:xfrm>
            <a:off x="8229377" y="3621360"/>
            <a:ext cx="533623"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0:00</a:t>
            </a:r>
            <a:endParaRPr lang="en-US" sz="1800" dirty="0"/>
          </a:p>
        </p:txBody>
      </p:sp>
      <p:sp>
        <p:nvSpPr>
          <p:cNvPr id="8" name="Shape 6"/>
          <p:cNvSpPr/>
          <p:nvPr/>
        </p:nvSpPr>
        <p:spPr>
          <a:xfrm>
            <a:off x="1143000" y="5029051"/>
            <a:ext cx="7543800" cy="19050"/>
          </a:xfrm>
          <a:prstGeom prst="rect">
            <a:avLst/>
          </a:prstGeom>
          <a:solidFill>
            <a:srgbClr val="201E1E">
              <a:alpha val="40000"/>
            </a:srgbClr>
          </a:solidFill>
          <a:ln/>
        </p:spPr>
        <p:txBody>
          <a:bodyPr/>
          <a:lstStyle/>
          <a:p>
            <a:endParaRPr lang="en-US"/>
          </a:p>
        </p:txBody>
      </p:sp>
      <p:sp>
        <p:nvSpPr>
          <p:cNvPr id="9" name="Text 7"/>
          <p:cNvSpPr/>
          <p:nvPr/>
        </p:nvSpPr>
        <p:spPr>
          <a:xfrm>
            <a:off x="1143000" y="4535686"/>
            <a:ext cx="336128"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02</a:t>
            </a:r>
            <a:endParaRPr lang="en-US" sz="1800" dirty="0"/>
          </a:p>
        </p:txBody>
      </p:sp>
      <p:sp>
        <p:nvSpPr>
          <p:cNvPr id="10" name="Text 8"/>
          <p:cNvSpPr/>
          <p:nvPr/>
        </p:nvSpPr>
        <p:spPr>
          <a:xfrm>
            <a:off x="1860128" y="4470350"/>
            <a:ext cx="4741069" cy="260226"/>
          </a:xfrm>
          <a:prstGeom prst="rect">
            <a:avLst/>
          </a:prstGeom>
          <a:noFill/>
          <a:ln/>
        </p:spPr>
        <p:txBody>
          <a:bodyPr wrap="square" lIns="25400" tIns="25400" rIns="25400" bIns="25400" rtlCol="0" anchor="t">
            <a:normAutofit/>
          </a:bodyPr>
          <a:lstStyle/>
          <a:p>
            <a:pPr marL="0" indent="0" algn="l">
              <a:lnSpc>
                <a:spcPct val="135128"/>
              </a:lnSpc>
              <a:buNone/>
            </a:pPr>
            <a:r>
              <a:rPr lang="en-US" sz="2550" dirty="0">
                <a:solidFill>
                  <a:srgbClr val="201E1D"/>
                </a:solidFill>
                <a:latin typeface="Arial" pitchFamily="34" charset="0"/>
                <a:ea typeface="Arial" pitchFamily="34" charset="-122"/>
                <a:cs typeface="Arial" pitchFamily="34" charset="-120"/>
              </a:rPr>
              <a:t>Typed Python &amp; environments</a:t>
            </a:r>
            <a:endParaRPr lang="en-US" sz="2550" dirty="0"/>
          </a:p>
        </p:txBody>
      </p:sp>
      <p:sp>
        <p:nvSpPr>
          <p:cNvPr id="11" name="Text 9"/>
          <p:cNvSpPr/>
          <p:nvPr/>
        </p:nvSpPr>
        <p:spPr>
          <a:xfrm>
            <a:off x="8229377" y="4535686"/>
            <a:ext cx="533623"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0:10</a:t>
            </a:r>
            <a:endParaRPr lang="en-US" sz="1800" dirty="0"/>
          </a:p>
        </p:txBody>
      </p:sp>
      <p:sp>
        <p:nvSpPr>
          <p:cNvPr id="12" name="Shape 10"/>
          <p:cNvSpPr/>
          <p:nvPr/>
        </p:nvSpPr>
        <p:spPr>
          <a:xfrm>
            <a:off x="1143000" y="5943377"/>
            <a:ext cx="7543800" cy="19050"/>
          </a:xfrm>
          <a:prstGeom prst="rect">
            <a:avLst/>
          </a:prstGeom>
          <a:solidFill>
            <a:srgbClr val="201E1E">
              <a:alpha val="40000"/>
            </a:srgbClr>
          </a:solidFill>
          <a:ln/>
        </p:spPr>
        <p:txBody>
          <a:bodyPr/>
          <a:lstStyle/>
          <a:p>
            <a:endParaRPr lang="en-US"/>
          </a:p>
        </p:txBody>
      </p:sp>
      <p:sp>
        <p:nvSpPr>
          <p:cNvPr id="13" name="Text 11"/>
          <p:cNvSpPr/>
          <p:nvPr/>
        </p:nvSpPr>
        <p:spPr>
          <a:xfrm>
            <a:off x="1143000" y="5450012"/>
            <a:ext cx="336128"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03</a:t>
            </a:r>
            <a:endParaRPr lang="en-US" sz="1800" dirty="0"/>
          </a:p>
        </p:txBody>
      </p:sp>
      <p:sp>
        <p:nvSpPr>
          <p:cNvPr id="14" name="Text 12"/>
          <p:cNvSpPr/>
          <p:nvPr/>
        </p:nvSpPr>
        <p:spPr>
          <a:xfrm>
            <a:off x="1860128" y="5384676"/>
            <a:ext cx="4357248" cy="260226"/>
          </a:xfrm>
          <a:prstGeom prst="rect">
            <a:avLst/>
          </a:prstGeom>
          <a:noFill/>
          <a:ln/>
        </p:spPr>
        <p:txBody>
          <a:bodyPr wrap="square" lIns="25400" tIns="25400" rIns="25400" bIns="25400" rtlCol="0" anchor="t">
            <a:normAutofit/>
          </a:bodyPr>
          <a:lstStyle/>
          <a:p>
            <a:pPr marL="0" indent="0" algn="l">
              <a:lnSpc>
                <a:spcPct val="135128"/>
              </a:lnSpc>
              <a:buNone/>
            </a:pPr>
            <a:r>
              <a:rPr lang="en-US" sz="2550" dirty="0">
                <a:solidFill>
                  <a:srgbClr val="201E1D"/>
                </a:solidFill>
                <a:latin typeface="Arial" pitchFamily="34" charset="0"/>
                <a:ea typeface="Arial" pitchFamily="34" charset="-122"/>
                <a:cs typeface="Arial" pitchFamily="34" charset="-120"/>
              </a:rPr>
              <a:t>FastAPI: routes &amp; validation</a:t>
            </a:r>
            <a:endParaRPr lang="en-US" sz="2550" dirty="0"/>
          </a:p>
        </p:txBody>
      </p:sp>
      <p:sp>
        <p:nvSpPr>
          <p:cNvPr id="15" name="Text 13"/>
          <p:cNvSpPr/>
          <p:nvPr/>
        </p:nvSpPr>
        <p:spPr>
          <a:xfrm>
            <a:off x="8229377" y="5450012"/>
            <a:ext cx="533623"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0:40</a:t>
            </a:r>
            <a:endParaRPr lang="en-US" sz="1800" dirty="0"/>
          </a:p>
        </p:txBody>
      </p:sp>
      <p:sp>
        <p:nvSpPr>
          <p:cNvPr id="16" name="Shape 14"/>
          <p:cNvSpPr/>
          <p:nvPr/>
        </p:nvSpPr>
        <p:spPr>
          <a:xfrm>
            <a:off x="1143000" y="6857702"/>
            <a:ext cx="7543800" cy="19050"/>
          </a:xfrm>
          <a:prstGeom prst="rect">
            <a:avLst/>
          </a:prstGeom>
          <a:solidFill>
            <a:srgbClr val="201E1E">
              <a:alpha val="40000"/>
            </a:srgbClr>
          </a:solidFill>
          <a:ln/>
        </p:spPr>
        <p:txBody>
          <a:bodyPr/>
          <a:lstStyle/>
          <a:p>
            <a:endParaRPr lang="en-US"/>
          </a:p>
        </p:txBody>
      </p:sp>
      <p:sp>
        <p:nvSpPr>
          <p:cNvPr id="17" name="Text 15"/>
          <p:cNvSpPr/>
          <p:nvPr/>
        </p:nvSpPr>
        <p:spPr>
          <a:xfrm>
            <a:off x="1143000" y="6364337"/>
            <a:ext cx="336128"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04</a:t>
            </a:r>
            <a:endParaRPr lang="en-US" sz="1800" dirty="0"/>
          </a:p>
        </p:txBody>
      </p:sp>
      <p:sp>
        <p:nvSpPr>
          <p:cNvPr id="18" name="Text 16"/>
          <p:cNvSpPr/>
          <p:nvPr/>
        </p:nvSpPr>
        <p:spPr>
          <a:xfrm>
            <a:off x="1860128" y="6299002"/>
            <a:ext cx="3328243" cy="260226"/>
          </a:xfrm>
          <a:prstGeom prst="rect">
            <a:avLst/>
          </a:prstGeom>
          <a:noFill/>
          <a:ln/>
        </p:spPr>
        <p:txBody>
          <a:bodyPr wrap="square" lIns="25400" tIns="25400" rIns="25400" bIns="25400" rtlCol="0" anchor="t">
            <a:normAutofit/>
          </a:bodyPr>
          <a:lstStyle/>
          <a:p>
            <a:pPr marL="0" indent="0" algn="l">
              <a:lnSpc>
                <a:spcPct val="135128"/>
              </a:lnSpc>
              <a:buNone/>
            </a:pPr>
            <a:r>
              <a:rPr lang="en-US" sz="2550" dirty="0">
                <a:solidFill>
                  <a:srgbClr val="201E1D"/>
                </a:solidFill>
                <a:latin typeface="Arial" pitchFamily="34" charset="0"/>
                <a:ea typeface="Arial" pitchFamily="34" charset="-122"/>
                <a:cs typeface="Arial" pitchFamily="34" charset="-120"/>
              </a:rPr>
              <a:t>A first test with pytest</a:t>
            </a:r>
            <a:endParaRPr lang="en-US" sz="2550" dirty="0"/>
          </a:p>
        </p:txBody>
      </p:sp>
      <p:sp>
        <p:nvSpPr>
          <p:cNvPr id="19" name="Text 17"/>
          <p:cNvSpPr/>
          <p:nvPr/>
        </p:nvSpPr>
        <p:spPr>
          <a:xfrm>
            <a:off x="8229377" y="6364337"/>
            <a:ext cx="533623"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1:20</a:t>
            </a:r>
            <a:endParaRPr lang="en-US" sz="1800" dirty="0"/>
          </a:p>
        </p:txBody>
      </p:sp>
      <p:sp>
        <p:nvSpPr>
          <p:cNvPr id="20" name="Shape 18"/>
          <p:cNvSpPr/>
          <p:nvPr/>
        </p:nvSpPr>
        <p:spPr>
          <a:xfrm>
            <a:off x="9601200" y="3200400"/>
            <a:ext cx="7543800" cy="19050"/>
          </a:xfrm>
          <a:prstGeom prst="rect">
            <a:avLst/>
          </a:prstGeom>
          <a:solidFill>
            <a:srgbClr val="201E1E">
              <a:alpha val="40000"/>
            </a:srgbClr>
          </a:solidFill>
          <a:ln/>
        </p:spPr>
        <p:txBody>
          <a:bodyPr/>
          <a:lstStyle/>
          <a:p>
            <a:endParaRPr lang="en-US"/>
          </a:p>
        </p:txBody>
      </p:sp>
      <p:sp>
        <p:nvSpPr>
          <p:cNvPr id="21" name="Shape 19"/>
          <p:cNvSpPr/>
          <p:nvPr/>
        </p:nvSpPr>
        <p:spPr>
          <a:xfrm>
            <a:off x="9601200" y="4114726"/>
            <a:ext cx="7543800" cy="19050"/>
          </a:xfrm>
          <a:prstGeom prst="rect">
            <a:avLst/>
          </a:prstGeom>
          <a:solidFill>
            <a:srgbClr val="201E1E">
              <a:alpha val="40000"/>
            </a:srgbClr>
          </a:solidFill>
          <a:ln/>
        </p:spPr>
        <p:txBody>
          <a:bodyPr/>
          <a:lstStyle/>
          <a:p>
            <a:endParaRPr lang="en-US"/>
          </a:p>
        </p:txBody>
      </p:sp>
      <p:sp>
        <p:nvSpPr>
          <p:cNvPr id="22" name="Text 20"/>
          <p:cNvSpPr/>
          <p:nvPr/>
        </p:nvSpPr>
        <p:spPr>
          <a:xfrm>
            <a:off x="9601200" y="3621360"/>
            <a:ext cx="336128"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05</a:t>
            </a:r>
            <a:endParaRPr lang="en-US" sz="1800" dirty="0"/>
          </a:p>
        </p:txBody>
      </p:sp>
      <p:sp>
        <p:nvSpPr>
          <p:cNvPr id="23" name="Text 21"/>
          <p:cNvSpPr/>
          <p:nvPr/>
        </p:nvSpPr>
        <p:spPr>
          <a:xfrm>
            <a:off x="10318328" y="3556025"/>
            <a:ext cx="4267535" cy="260226"/>
          </a:xfrm>
          <a:prstGeom prst="rect">
            <a:avLst/>
          </a:prstGeom>
          <a:noFill/>
          <a:ln/>
        </p:spPr>
        <p:txBody>
          <a:bodyPr wrap="square" lIns="25400" tIns="25400" rIns="25400" bIns="25400" rtlCol="0" anchor="t">
            <a:normAutofit/>
          </a:bodyPr>
          <a:lstStyle/>
          <a:p>
            <a:pPr marL="0" indent="0" algn="l">
              <a:lnSpc>
                <a:spcPct val="135128"/>
              </a:lnSpc>
              <a:buNone/>
            </a:pPr>
            <a:r>
              <a:rPr lang="en-US" sz="2550" dirty="0">
                <a:solidFill>
                  <a:srgbClr val="201E1D"/>
                </a:solidFill>
                <a:latin typeface="Arial" pitchFamily="34" charset="0"/>
                <a:ea typeface="Arial" pitchFamily="34" charset="-122"/>
                <a:cs typeface="Arial" pitchFamily="34" charset="-120"/>
              </a:rPr>
              <a:t>The Integration Checkpoint</a:t>
            </a:r>
            <a:endParaRPr lang="en-US" sz="2550" dirty="0"/>
          </a:p>
        </p:txBody>
      </p:sp>
      <p:sp>
        <p:nvSpPr>
          <p:cNvPr id="24" name="Text 22"/>
          <p:cNvSpPr/>
          <p:nvPr/>
        </p:nvSpPr>
        <p:spPr>
          <a:xfrm>
            <a:off x="16687577" y="3621360"/>
            <a:ext cx="533623"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1:45</a:t>
            </a:r>
            <a:endParaRPr lang="en-US" sz="1800" dirty="0"/>
          </a:p>
        </p:txBody>
      </p:sp>
      <p:sp>
        <p:nvSpPr>
          <p:cNvPr id="25" name="Shape 23"/>
          <p:cNvSpPr/>
          <p:nvPr/>
        </p:nvSpPr>
        <p:spPr>
          <a:xfrm>
            <a:off x="9601200" y="5029051"/>
            <a:ext cx="7543800" cy="19050"/>
          </a:xfrm>
          <a:prstGeom prst="rect">
            <a:avLst/>
          </a:prstGeom>
          <a:solidFill>
            <a:srgbClr val="201E1E">
              <a:alpha val="40000"/>
            </a:srgbClr>
          </a:solidFill>
          <a:ln/>
        </p:spPr>
        <p:txBody>
          <a:bodyPr/>
          <a:lstStyle/>
          <a:p>
            <a:endParaRPr lang="en-US"/>
          </a:p>
        </p:txBody>
      </p:sp>
      <p:sp>
        <p:nvSpPr>
          <p:cNvPr id="26" name="Text 24"/>
          <p:cNvSpPr/>
          <p:nvPr/>
        </p:nvSpPr>
        <p:spPr>
          <a:xfrm>
            <a:off x="9601200" y="4535686"/>
            <a:ext cx="336128"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06</a:t>
            </a:r>
            <a:endParaRPr lang="en-US" sz="1800" dirty="0"/>
          </a:p>
        </p:txBody>
      </p:sp>
      <p:sp>
        <p:nvSpPr>
          <p:cNvPr id="27" name="Text 25"/>
          <p:cNvSpPr/>
          <p:nvPr/>
        </p:nvSpPr>
        <p:spPr>
          <a:xfrm>
            <a:off x="10318328" y="4470350"/>
            <a:ext cx="3239758" cy="260226"/>
          </a:xfrm>
          <a:prstGeom prst="rect">
            <a:avLst/>
          </a:prstGeom>
          <a:noFill/>
          <a:ln/>
        </p:spPr>
        <p:txBody>
          <a:bodyPr wrap="square" lIns="25400" tIns="25400" rIns="25400" bIns="25400" rtlCol="0" anchor="t">
            <a:normAutofit/>
          </a:bodyPr>
          <a:lstStyle/>
          <a:p>
            <a:pPr marL="0" indent="0" algn="l">
              <a:lnSpc>
                <a:spcPct val="135128"/>
              </a:lnSpc>
              <a:buNone/>
            </a:pPr>
            <a:r>
              <a:rPr lang="en-US" sz="2550" dirty="0">
                <a:solidFill>
                  <a:srgbClr val="201E1D"/>
                </a:solidFill>
                <a:latin typeface="Arial" pitchFamily="34" charset="0"/>
                <a:ea typeface="Arial" pitchFamily="34" charset="-122"/>
                <a:cs typeface="Arial" pitchFamily="34" charset="-120"/>
              </a:rPr>
              <a:t>Verification &amp; demos</a:t>
            </a:r>
            <a:endParaRPr lang="en-US" sz="2550" dirty="0"/>
          </a:p>
        </p:txBody>
      </p:sp>
      <p:sp>
        <p:nvSpPr>
          <p:cNvPr id="28" name="Text 26"/>
          <p:cNvSpPr/>
          <p:nvPr/>
        </p:nvSpPr>
        <p:spPr>
          <a:xfrm>
            <a:off x="16687577" y="4535686"/>
            <a:ext cx="533623"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2:40</a:t>
            </a:r>
            <a:endParaRPr lang="en-US" sz="1800" dirty="0"/>
          </a:p>
        </p:txBody>
      </p:sp>
      <p:sp>
        <p:nvSpPr>
          <p:cNvPr id="29" name="Shape 27"/>
          <p:cNvSpPr/>
          <p:nvPr/>
        </p:nvSpPr>
        <p:spPr>
          <a:xfrm>
            <a:off x="9601200" y="5943377"/>
            <a:ext cx="7543800" cy="19050"/>
          </a:xfrm>
          <a:prstGeom prst="rect">
            <a:avLst/>
          </a:prstGeom>
          <a:solidFill>
            <a:srgbClr val="201E1E">
              <a:alpha val="40000"/>
            </a:srgbClr>
          </a:solidFill>
          <a:ln/>
        </p:spPr>
        <p:txBody>
          <a:bodyPr/>
          <a:lstStyle/>
          <a:p>
            <a:endParaRPr lang="en-US"/>
          </a:p>
        </p:txBody>
      </p:sp>
      <p:sp>
        <p:nvSpPr>
          <p:cNvPr id="30" name="Text 28"/>
          <p:cNvSpPr/>
          <p:nvPr/>
        </p:nvSpPr>
        <p:spPr>
          <a:xfrm>
            <a:off x="9601200" y="5450012"/>
            <a:ext cx="336128"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07</a:t>
            </a:r>
            <a:endParaRPr lang="en-US" sz="1800" dirty="0"/>
          </a:p>
        </p:txBody>
      </p:sp>
      <p:sp>
        <p:nvSpPr>
          <p:cNvPr id="31" name="Text 29"/>
          <p:cNvSpPr/>
          <p:nvPr/>
        </p:nvSpPr>
        <p:spPr>
          <a:xfrm>
            <a:off x="10318328" y="5384676"/>
            <a:ext cx="2360548" cy="260226"/>
          </a:xfrm>
          <a:prstGeom prst="rect">
            <a:avLst/>
          </a:prstGeom>
          <a:noFill/>
          <a:ln/>
        </p:spPr>
        <p:txBody>
          <a:bodyPr wrap="square" lIns="25400" tIns="25400" rIns="25400" bIns="25400" rtlCol="0" anchor="t">
            <a:normAutofit/>
          </a:bodyPr>
          <a:lstStyle/>
          <a:p>
            <a:pPr marL="0" indent="0" algn="l">
              <a:lnSpc>
                <a:spcPct val="135128"/>
              </a:lnSpc>
              <a:buNone/>
            </a:pPr>
            <a:r>
              <a:rPr lang="en-US" sz="2550" dirty="0">
                <a:solidFill>
                  <a:srgbClr val="201E1D"/>
                </a:solidFill>
                <a:latin typeface="Arial" pitchFamily="34" charset="0"/>
                <a:ea typeface="Arial" pitchFamily="34" charset="-122"/>
                <a:cs typeface="Arial" pitchFamily="34" charset="-120"/>
              </a:rPr>
              <a:t>Wrap &amp; Week 1</a:t>
            </a:r>
            <a:endParaRPr lang="en-US" sz="2550" dirty="0"/>
          </a:p>
        </p:txBody>
      </p:sp>
      <p:sp>
        <p:nvSpPr>
          <p:cNvPr id="32" name="Text 30"/>
          <p:cNvSpPr/>
          <p:nvPr/>
        </p:nvSpPr>
        <p:spPr>
          <a:xfrm>
            <a:off x="16687577" y="5450012"/>
            <a:ext cx="533623"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2:55</a:t>
            </a:r>
            <a:endParaRPr lang="en-US" sz="1800" dirty="0"/>
          </a:p>
        </p:txBody>
      </p:sp>
      <p:sp>
        <p:nvSpPr>
          <p:cNvPr id="33" name="Shape 31"/>
          <p:cNvSpPr/>
          <p:nvPr/>
        </p:nvSpPr>
        <p:spPr>
          <a:xfrm>
            <a:off x="9601200" y="6857702"/>
            <a:ext cx="7543800" cy="19050"/>
          </a:xfrm>
          <a:prstGeom prst="rect">
            <a:avLst/>
          </a:prstGeom>
          <a:solidFill>
            <a:srgbClr val="201E1E">
              <a:alpha val="40000"/>
            </a:srgbClr>
          </a:solidFill>
          <a:ln/>
        </p:spPr>
        <p:txBody>
          <a:bodyPr/>
          <a:lstStyle/>
          <a:p>
            <a:endParaRPr lang="en-US"/>
          </a:p>
        </p:txBody>
      </p:sp>
      <p:sp>
        <p:nvSpPr>
          <p:cNvPr id="34" name="Text 32"/>
          <p:cNvSpPr/>
          <p:nvPr/>
        </p:nvSpPr>
        <p:spPr>
          <a:xfrm>
            <a:off x="9601200" y="6364337"/>
            <a:ext cx="336128"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08</a:t>
            </a:r>
            <a:endParaRPr lang="en-US" sz="1800" dirty="0"/>
          </a:p>
        </p:txBody>
      </p:sp>
      <p:sp>
        <p:nvSpPr>
          <p:cNvPr id="35" name="Text 33"/>
          <p:cNvSpPr/>
          <p:nvPr/>
        </p:nvSpPr>
        <p:spPr>
          <a:xfrm>
            <a:off x="10318328" y="6299002"/>
            <a:ext cx="3307452" cy="260226"/>
          </a:xfrm>
          <a:prstGeom prst="rect">
            <a:avLst/>
          </a:prstGeom>
          <a:noFill/>
          <a:ln/>
        </p:spPr>
        <p:txBody>
          <a:bodyPr wrap="square" lIns="25400" tIns="25400" rIns="25400" bIns="25400" rtlCol="0" anchor="t">
            <a:normAutofit/>
          </a:bodyPr>
          <a:lstStyle/>
          <a:p>
            <a:pPr marL="0" indent="0" algn="l">
              <a:lnSpc>
                <a:spcPct val="135128"/>
              </a:lnSpc>
              <a:buNone/>
            </a:pPr>
            <a:r>
              <a:rPr lang="en-US" sz="2550" dirty="0">
                <a:solidFill>
                  <a:srgbClr val="201E1D"/>
                </a:solidFill>
                <a:latin typeface="Arial" pitchFamily="34" charset="0"/>
                <a:ea typeface="Arial" pitchFamily="34" charset="-122"/>
                <a:cs typeface="Arial" pitchFamily="34" charset="-120"/>
              </a:rPr>
              <a:t>Interview preparation</a:t>
            </a:r>
            <a:endParaRPr lang="en-US" sz="2550" dirty="0"/>
          </a:p>
        </p:txBody>
      </p:sp>
      <p:sp>
        <p:nvSpPr>
          <p:cNvPr id="36" name="Text 34"/>
          <p:cNvSpPr/>
          <p:nvPr/>
        </p:nvSpPr>
        <p:spPr>
          <a:xfrm>
            <a:off x="16177692" y="6364337"/>
            <a:ext cx="1043508"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Appendix</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WHY THIS SESSION EXISTS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Today is the bridge</a:t>
            </a:r>
            <a:endParaRPr lang="en-US" sz="48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743200"/>
            <a:ext cx="16002000" cy="4114800"/>
          </a:xfrm>
          <a:prstGeom prst="rect">
            <a:avLst/>
          </a:prstGeom>
        </p:spPr>
      </p:pic>
      <p:sp>
        <p:nvSpPr>
          <p:cNvPr id="5" name="Text 2"/>
          <p:cNvSpPr/>
          <p:nvPr/>
        </p:nvSpPr>
        <p:spPr>
          <a:xfrm>
            <a:off x="1143000" y="7608987"/>
            <a:ext cx="12922827" cy="658639"/>
          </a:xfrm>
          <a:prstGeom prst="rect">
            <a:avLst/>
          </a:prstGeom>
          <a:noFill/>
          <a:ln/>
        </p:spPr>
        <p:txBody>
          <a:bodyPr wrap="square" lIns="25400" tIns="25400" rIns="25400" bIns="25400" rtlCol="0" anchor="t">
            <a:normAutofit/>
          </a:bodyPr>
          <a:lstStyle/>
          <a:p>
            <a:pPr marL="0" indent="0" algn="l">
              <a:lnSpc>
                <a:spcPct val="165517"/>
              </a:lnSpc>
              <a:buNone/>
            </a:pPr>
            <a:r>
              <a:rPr lang="en-US" sz="1875" dirty="0">
                <a:solidFill>
                  <a:srgbClr val="211D1D">
                    <a:alpha val="55000"/>
                  </a:srgbClr>
                </a:solidFill>
                <a:latin typeface="Arial" pitchFamily="34" charset="0"/>
                <a:ea typeface="Arial" pitchFamily="34" charset="-122"/>
                <a:cs typeface="Arial" pitchFamily="34" charset="-120"/>
              </a:rPr>
              <a:t>Module 1 gave you the backend pieces; Module 2 gives you the frontend pieces. This session closes the loop once, end to end — the checkpoint is the same shape as everything Week 1 builds, just smaller.</a:t>
            </a:r>
            <a:endParaRPr lang="en-US" sz="18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THE RUNNING EXAMPLE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A loan-application intake service</a:t>
            </a:r>
            <a:endParaRPr lang="en-US" sz="4800" dirty="0"/>
          </a:p>
        </p:txBody>
      </p:sp>
      <p:sp>
        <p:nvSpPr>
          <p:cNvPr id="4" name="Shape 2"/>
          <p:cNvSpPr/>
          <p:nvPr/>
        </p:nvSpPr>
        <p:spPr>
          <a:xfrm>
            <a:off x="1143000" y="3190875"/>
            <a:ext cx="77724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854964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Why this domain</a:t>
            </a:r>
            <a:endParaRPr lang="en-US" sz="2550" dirty="0"/>
          </a:p>
        </p:txBody>
      </p:sp>
      <p:sp>
        <p:nvSpPr>
          <p:cNvPr id="6" name="Text 4"/>
          <p:cNvSpPr/>
          <p:nvPr/>
        </p:nvSpPr>
        <p:spPr>
          <a:xfrm>
            <a:off x="1143000" y="3931741"/>
            <a:ext cx="8005572"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Familiar and trivially small: an applicant submits a request, staff read the list back. No business rules to learn — the surface is two endpoints, so all the attention stays on the tools, not the problem.</a:t>
            </a:r>
            <a:endParaRPr lang="en-US" sz="2100" dirty="0"/>
          </a:p>
        </p:txBody>
      </p:sp>
      <p:sp>
        <p:nvSpPr>
          <p:cNvPr id="7" name="Shape 5"/>
          <p:cNvSpPr/>
          <p:nvPr/>
        </p:nvSpPr>
        <p:spPr>
          <a:xfrm>
            <a:off x="9372600" y="3190875"/>
            <a:ext cx="7772400" cy="19050"/>
          </a:xfrm>
          <a:prstGeom prst="rect">
            <a:avLst/>
          </a:prstGeom>
          <a:solidFill>
            <a:srgbClr val="201E1E">
              <a:alpha val="40000"/>
            </a:srgbClr>
          </a:solidFill>
          <a:ln/>
        </p:spPr>
        <p:txBody>
          <a:bodyPr/>
          <a:lstStyle/>
          <a:p>
            <a:endParaRPr lang="en-US"/>
          </a:p>
        </p:txBody>
      </p:sp>
      <p:sp>
        <p:nvSpPr>
          <p:cNvPr id="8" name="Text 6"/>
          <p:cNvSpPr/>
          <p:nvPr/>
        </p:nvSpPr>
        <p:spPr>
          <a:xfrm>
            <a:off x="9372600" y="3425577"/>
            <a:ext cx="854964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The whole surface</a:t>
            </a:r>
            <a:endParaRPr lang="en-US" sz="2550" dirty="0"/>
          </a:p>
        </p:txBody>
      </p:sp>
      <p:sp>
        <p:nvSpPr>
          <p:cNvPr id="9" name="Text 7"/>
          <p:cNvSpPr/>
          <p:nvPr/>
        </p:nvSpPr>
        <p:spPr>
          <a:xfrm>
            <a:off x="9372600" y="3931741"/>
            <a:ext cx="8549640" cy="221084"/>
          </a:xfrm>
          <a:prstGeom prst="rect">
            <a:avLst/>
          </a:prstGeom>
          <a:noFill/>
          <a:ln/>
        </p:spPr>
        <p:txBody>
          <a:bodyPr wrap="square" lIns="25400" tIns="25400" rIns="25400" bIns="25400" rtlCol="0" anchor="t">
            <a:normAutofit/>
          </a:bodyPr>
          <a:lstStyle/>
          <a:p>
            <a:pPr marL="0" indent="0" algn="l">
              <a:lnSpc>
                <a:spcPct val="147692"/>
              </a:lnSpc>
              <a:buNone/>
            </a:pPr>
            <a:r>
              <a:rPr lang="en-US" sz="1950" dirty="0">
                <a:solidFill>
                  <a:srgbClr val="AE1800"/>
                </a:solidFill>
                <a:latin typeface="Courier New" pitchFamily="34" charset="0"/>
                <a:ea typeface="Courier New" pitchFamily="34" charset="-122"/>
                <a:cs typeface="Courier New" pitchFamily="34" charset="-120"/>
              </a:rPr>
              <a:t>POST /applications </a:t>
            </a:r>
            <a:r>
              <a:rPr lang="en-US" sz="2100" dirty="0">
                <a:solidFill>
                  <a:srgbClr val="201E1D"/>
                </a:solidFill>
                <a:latin typeface="Arial" pitchFamily="34" charset="0"/>
                <a:ea typeface="Arial" pitchFamily="34" charset="-122"/>
                <a:cs typeface="Arial" pitchFamily="34" charset="-120"/>
              </a:rPr>
              <a:t>— submit one application.</a:t>
            </a:r>
            <a:endParaRPr lang="en-US" sz="2100" dirty="0"/>
          </a:p>
        </p:txBody>
      </p:sp>
      <p:sp>
        <p:nvSpPr>
          <p:cNvPr id="10" name="Text 8"/>
          <p:cNvSpPr/>
          <p:nvPr/>
        </p:nvSpPr>
        <p:spPr>
          <a:xfrm>
            <a:off x="9372600" y="4388941"/>
            <a:ext cx="8549640" cy="221084"/>
          </a:xfrm>
          <a:prstGeom prst="rect">
            <a:avLst/>
          </a:prstGeom>
          <a:noFill/>
          <a:ln/>
        </p:spPr>
        <p:txBody>
          <a:bodyPr wrap="square" lIns="25400" tIns="25400" rIns="25400" bIns="25400" rtlCol="0" anchor="t">
            <a:normAutofit/>
          </a:bodyPr>
          <a:lstStyle/>
          <a:p>
            <a:pPr marL="0" indent="0" algn="l">
              <a:lnSpc>
                <a:spcPct val="147692"/>
              </a:lnSpc>
              <a:buNone/>
            </a:pPr>
            <a:r>
              <a:rPr lang="en-US" sz="1950" dirty="0">
                <a:solidFill>
                  <a:srgbClr val="AE1800"/>
                </a:solidFill>
                <a:latin typeface="Courier New" pitchFamily="34" charset="0"/>
                <a:ea typeface="Courier New" pitchFamily="34" charset="-122"/>
                <a:cs typeface="Courier New" pitchFamily="34" charset="-120"/>
              </a:rPr>
              <a:t>GET /applications </a:t>
            </a:r>
            <a:r>
              <a:rPr lang="en-US" sz="2100" dirty="0">
                <a:solidFill>
                  <a:srgbClr val="201E1D"/>
                </a:solidFill>
                <a:latin typeface="Arial" pitchFamily="34" charset="0"/>
                <a:ea typeface="Arial" pitchFamily="34" charset="-122"/>
                <a:cs typeface="Arial" pitchFamily="34" charset="-120"/>
              </a:rPr>
              <a:t>— list them all.</a:t>
            </a:r>
            <a:endParaRPr lang="en-US" sz="2100" dirty="0"/>
          </a:p>
        </p:txBody>
      </p:sp>
      <p:sp>
        <p:nvSpPr>
          <p:cNvPr id="11" name="Text 9"/>
          <p:cNvSpPr/>
          <p:nvPr/>
        </p:nvSpPr>
        <p:spPr>
          <a:xfrm>
            <a:off x="9372600" y="4846141"/>
            <a:ext cx="8005572"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That is the entire API. It starts in memory this morning and reads from PostgreSQL by the checkpoint.</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HOW THE THREE HOURS RUN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Session map</a:t>
            </a:r>
            <a:endParaRPr lang="en-US" sz="4800" dirty="0"/>
          </a:p>
        </p:txBody>
      </p:sp>
      <p:sp>
        <p:nvSpPr>
          <p:cNvPr id="4" name="Shape 2"/>
          <p:cNvSpPr/>
          <p:nvPr/>
        </p:nvSpPr>
        <p:spPr>
          <a:xfrm>
            <a:off x="1143000" y="3711699"/>
            <a:ext cx="1428750" cy="19050"/>
          </a:xfrm>
          <a:prstGeom prst="rect">
            <a:avLst/>
          </a:prstGeom>
          <a:solidFill>
            <a:srgbClr val="201E1E">
              <a:alpha val="40000"/>
            </a:srgbClr>
          </a:solidFill>
          <a:ln/>
        </p:spPr>
        <p:txBody>
          <a:bodyPr/>
          <a:lstStyle/>
          <a:p>
            <a:endParaRPr lang="en-US"/>
          </a:p>
        </p:txBody>
      </p:sp>
      <p:sp>
        <p:nvSpPr>
          <p:cNvPr id="5" name="Text 3"/>
          <p:cNvSpPr/>
          <p:nvPr/>
        </p:nvSpPr>
        <p:spPr>
          <a:xfrm>
            <a:off x="1143000" y="3383702"/>
            <a:ext cx="1276350" cy="192320"/>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TIME</a:t>
            </a:r>
            <a:endParaRPr lang="en-US" sz="1800" dirty="0"/>
          </a:p>
        </p:txBody>
      </p:sp>
      <p:sp>
        <p:nvSpPr>
          <p:cNvPr id="6" name="Shape 4"/>
          <p:cNvSpPr/>
          <p:nvPr/>
        </p:nvSpPr>
        <p:spPr>
          <a:xfrm>
            <a:off x="2571750" y="3711699"/>
            <a:ext cx="10572750" cy="19050"/>
          </a:xfrm>
          <a:prstGeom prst="rect">
            <a:avLst/>
          </a:prstGeom>
          <a:solidFill>
            <a:srgbClr val="201E1E">
              <a:alpha val="40000"/>
            </a:srgbClr>
          </a:solidFill>
          <a:ln/>
        </p:spPr>
        <p:txBody>
          <a:bodyPr/>
          <a:lstStyle/>
          <a:p>
            <a:endParaRPr lang="en-US"/>
          </a:p>
        </p:txBody>
      </p:sp>
      <p:sp>
        <p:nvSpPr>
          <p:cNvPr id="7" name="Text 5"/>
          <p:cNvSpPr/>
          <p:nvPr/>
        </p:nvSpPr>
        <p:spPr>
          <a:xfrm>
            <a:off x="2800350" y="3383702"/>
            <a:ext cx="10432733" cy="192320"/>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SEGMENT</a:t>
            </a:r>
            <a:endParaRPr lang="en-US" sz="1800" dirty="0"/>
          </a:p>
        </p:txBody>
      </p:sp>
      <p:sp>
        <p:nvSpPr>
          <p:cNvPr id="8" name="Shape 6"/>
          <p:cNvSpPr/>
          <p:nvPr/>
        </p:nvSpPr>
        <p:spPr>
          <a:xfrm>
            <a:off x="13144500" y="3711699"/>
            <a:ext cx="4000500" cy="19050"/>
          </a:xfrm>
          <a:prstGeom prst="rect">
            <a:avLst/>
          </a:prstGeom>
          <a:solidFill>
            <a:srgbClr val="201E1E">
              <a:alpha val="40000"/>
            </a:srgbClr>
          </a:solidFill>
          <a:ln/>
        </p:spPr>
        <p:txBody>
          <a:bodyPr/>
          <a:lstStyle/>
          <a:p>
            <a:endParaRPr lang="en-US"/>
          </a:p>
        </p:txBody>
      </p:sp>
      <p:sp>
        <p:nvSpPr>
          <p:cNvPr id="9" name="Text 7"/>
          <p:cNvSpPr/>
          <p:nvPr/>
        </p:nvSpPr>
        <p:spPr>
          <a:xfrm>
            <a:off x="13373100" y="3383702"/>
            <a:ext cx="3891915" cy="192320"/>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MODE</a:t>
            </a:r>
            <a:endParaRPr lang="en-US" sz="1800" dirty="0"/>
          </a:p>
        </p:txBody>
      </p:sp>
      <p:sp>
        <p:nvSpPr>
          <p:cNvPr id="10" name="Shape 8"/>
          <p:cNvSpPr/>
          <p:nvPr/>
        </p:nvSpPr>
        <p:spPr>
          <a:xfrm>
            <a:off x="1143000" y="4256261"/>
            <a:ext cx="1428750" cy="9525"/>
          </a:xfrm>
          <a:prstGeom prst="rect">
            <a:avLst/>
          </a:prstGeom>
          <a:solidFill>
            <a:srgbClr val="201E1E">
              <a:alpha val="40000"/>
            </a:srgbClr>
          </a:solidFill>
          <a:ln/>
        </p:spPr>
        <p:txBody>
          <a:bodyPr/>
          <a:lstStyle/>
          <a:p>
            <a:endParaRPr lang="en-US"/>
          </a:p>
        </p:txBody>
      </p:sp>
      <p:sp>
        <p:nvSpPr>
          <p:cNvPr id="11" name="Text 9"/>
          <p:cNvSpPr/>
          <p:nvPr/>
        </p:nvSpPr>
        <p:spPr>
          <a:xfrm>
            <a:off x="1143000" y="3904247"/>
            <a:ext cx="1276350" cy="216616"/>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0:00</a:t>
            </a:r>
            <a:endParaRPr lang="en-US" sz="1875" dirty="0"/>
          </a:p>
        </p:txBody>
      </p:sp>
      <p:sp>
        <p:nvSpPr>
          <p:cNvPr id="12" name="Shape 10"/>
          <p:cNvSpPr/>
          <p:nvPr/>
        </p:nvSpPr>
        <p:spPr>
          <a:xfrm>
            <a:off x="2571750" y="4256261"/>
            <a:ext cx="10572750" cy="9525"/>
          </a:xfrm>
          <a:prstGeom prst="rect">
            <a:avLst/>
          </a:prstGeom>
          <a:solidFill>
            <a:srgbClr val="201E1E">
              <a:alpha val="40000"/>
            </a:srgbClr>
          </a:solidFill>
          <a:ln/>
        </p:spPr>
        <p:txBody>
          <a:bodyPr/>
          <a:lstStyle/>
          <a:p>
            <a:endParaRPr lang="en-US"/>
          </a:p>
        </p:txBody>
      </p:sp>
      <p:sp>
        <p:nvSpPr>
          <p:cNvPr id="13" name="Text 11"/>
          <p:cNvSpPr/>
          <p:nvPr/>
        </p:nvSpPr>
        <p:spPr>
          <a:xfrm>
            <a:off x="2800350" y="3896417"/>
            <a:ext cx="10432733" cy="232275"/>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Opening + environment verification</a:t>
            </a:r>
            <a:endParaRPr lang="en-US" sz="2175" dirty="0"/>
          </a:p>
        </p:txBody>
      </p:sp>
      <p:sp>
        <p:nvSpPr>
          <p:cNvPr id="14" name="Shape 12"/>
          <p:cNvSpPr/>
          <p:nvPr/>
        </p:nvSpPr>
        <p:spPr>
          <a:xfrm>
            <a:off x="13144500" y="4256261"/>
            <a:ext cx="4000500" cy="9525"/>
          </a:xfrm>
          <a:prstGeom prst="rect">
            <a:avLst/>
          </a:prstGeom>
          <a:solidFill>
            <a:srgbClr val="201E1E">
              <a:alpha val="40000"/>
            </a:srgbClr>
          </a:solidFill>
          <a:ln/>
        </p:spPr>
        <p:txBody>
          <a:bodyPr/>
          <a:lstStyle/>
          <a:p>
            <a:endParaRPr lang="en-US"/>
          </a:p>
        </p:txBody>
      </p:sp>
      <p:sp>
        <p:nvSpPr>
          <p:cNvPr id="15" name="Text 13"/>
          <p:cNvSpPr/>
          <p:nvPr/>
        </p:nvSpPr>
        <p:spPr>
          <a:xfrm>
            <a:off x="13373100" y="3896417"/>
            <a:ext cx="3891915" cy="232275"/>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11D1D">
                    <a:alpha val="55000"/>
                  </a:srgbClr>
                </a:solidFill>
                <a:latin typeface="Arial" pitchFamily="34" charset="0"/>
                <a:ea typeface="Arial" pitchFamily="34" charset="-122"/>
                <a:cs typeface="Arial" pitchFamily="34" charset="-120"/>
              </a:rPr>
              <a:t>Whole group</a:t>
            </a:r>
            <a:endParaRPr lang="en-US" sz="2175" dirty="0"/>
          </a:p>
        </p:txBody>
      </p:sp>
      <p:sp>
        <p:nvSpPr>
          <p:cNvPr id="16" name="Shape 14"/>
          <p:cNvSpPr/>
          <p:nvPr/>
        </p:nvSpPr>
        <p:spPr>
          <a:xfrm>
            <a:off x="1143000" y="4786536"/>
            <a:ext cx="1428750" cy="9525"/>
          </a:xfrm>
          <a:prstGeom prst="rect">
            <a:avLst/>
          </a:prstGeom>
          <a:solidFill>
            <a:srgbClr val="201E1E">
              <a:alpha val="40000"/>
            </a:srgbClr>
          </a:solidFill>
          <a:ln/>
        </p:spPr>
        <p:txBody>
          <a:bodyPr/>
          <a:lstStyle/>
          <a:p>
            <a:endParaRPr lang="en-US"/>
          </a:p>
        </p:txBody>
      </p:sp>
      <p:sp>
        <p:nvSpPr>
          <p:cNvPr id="17" name="Text 15"/>
          <p:cNvSpPr/>
          <p:nvPr/>
        </p:nvSpPr>
        <p:spPr>
          <a:xfrm>
            <a:off x="1143000" y="4439284"/>
            <a:ext cx="1276350" cy="211854"/>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0:10</a:t>
            </a:r>
            <a:endParaRPr lang="en-US" sz="1875" dirty="0"/>
          </a:p>
        </p:txBody>
      </p:sp>
      <p:sp>
        <p:nvSpPr>
          <p:cNvPr id="18" name="Shape 16"/>
          <p:cNvSpPr/>
          <p:nvPr/>
        </p:nvSpPr>
        <p:spPr>
          <a:xfrm>
            <a:off x="2571750" y="4786536"/>
            <a:ext cx="10572750" cy="9525"/>
          </a:xfrm>
          <a:prstGeom prst="rect">
            <a:avLst/>
          </a:prstGeom>
          <a:solidFill>
            <a:srgbClr val="201E1E">
              <a:alpha val="40000"/>
            </a:srgbClr>
          </a:solidFill>
          <a:ln/>
        </p:spPr>
        <p:txBody>
          <a:bodyPr/>
          <a:lstStyle/>
          <a:p>
            <a:endParaRPr lang="en-US"/>
          </a:p>
        </p:txBody>
      </p:sp>
      <p:sp>
        <p:nvSpPr>
          <p:cNvPr id="19" name="Text 17"/>
          <p:cNvSpPr/>
          <p:nvPr/>
        </p:nvSpPr>
        <p:spPr>
          <a:xfrm>
            <a:off x="2800350" y="4431454"/>
            <a:ext cx="10432733"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Typed Python + virtual environments</a:t>
            </a:r>
            <a:endParaRPr lang="en-US" sz="2175" dirty="0"/>
          </a:p>
        </p:txBody>
      </p:sp>
      <p:sp>
        <p:nvSpPr>
          <p:cNvPr id="20" name="Shape 18"/>
          <p:cNvSpPr/>
          <p:nvPr/>
        </p:nvSpPr>
        <p:spPr>
          <a:xfrm>
            <a:off x="13144500" y="4786536"/>
            <a:ext cx="4000500" cy="9525"/>
          </a:xfrm>
          <a:prstGeom prst="rect">
            <a:avLst/>
          </a:prstGeom>
          <a:solidFill>
            <a:srgbClr val="201E1E">
              <a:alpha val="40000"/>
            </a:srgbClr>
          </a:solidFill>
          <a:ln/>
        </p:spPr>
        <p:txBody>
          <a:bodyPr/>
          <a:lstStyle/>
          <a:p>
            <a:endParaRPr lang="en-US"/>
          </a:p>
        </p:txBody>
      </p:sp>
      <p:sp>
        <p:nvSpPr>
          <p:cNvPr id="21" name="Text 19"/>
          <p:cNvSpPr/>
          <p:nvPr/>
        </p:nvSpPr>
        <p:spPr>
          <a:xfrm>
            <a:off x="13373100" y="4431454"/>
            <a:ext cx="3891915"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11D1D">
                    <a:alpha val="55000"/>
                  </a:srgbClr>
                </a:solidFill>
                <a:latin typeface="Arial" pitchFamily="34" charset="0"/>
                <a:ea typeface="Arial" pitchFamily="34" charset="-122"/>
                <a:cs typeface="Arial" pitchFamily="34" charset="-120"/>
              </a:rPr>
              <a:t>Live-code along</a:t>
            </a:r>
            <a:endParaRPr lang="en-US" sz="2175" dirty="0"/>
          </a:p>
        </p:txBody>
      </p:sp>
      <p:sp>
        <p:nvSpPr>
          <p:cNvPr id="22" name="Shape 20"/>
          <p:cNvSpPr/>
          <p:nvPr/>
        </p:nvSpPr>
        <p:spPr>
          <a:xfrm>
            <a:off x="1143000" y="5316810"/>
            <a:ext cx="1428750" cy="9525"/>
          </a:xfrm>
          <a:prstGeom prst="rect">
            <a:avLst/>
          </a:prstGeom>
          <a:solidFill>
            <a:srgbClr val="201E1E">
              <a:alpha val="40000"/>
            </a:srgbClr>
          </a:solidFill>
          <a:ln/>
        </p:spPr>
        <p:txBody>
          <a:bodyPr/>
          <a:lstStyle/>
          <a:p>
            <a:endParaRPr lang="en-US"/>
          </a:p>
        </p:txBody>
      </p:sp>
      <p:sp>
        <p:nvSpPr>
          <p:cNvPr id="23" name="Text 21"/>
          <p:cNvSpPr/>
          <p:nvPr/>
        </p:nvSpPr>
        <p:spPr>
          <a:xfrm>
            <a:off x="1143000" y="4969559"/>
            <a:ext cx="1276350" cy="211854"/>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0:40</a:t>
            </a:r>
            <a:endParaRPr lang="en-US" sz="1875" dirty="0"/>
          </a:p>
        </p:txBody>
      </p:sp>
      <p:sp>
        <p:nvSpPr>
          <p:cNvPr id="24" name="Shape 22"/>
          <p:cNvSpPr/>
          <p:nvPr/>
        </p:nvSpPr>
        <p:spPr>
          <a:xfrm>
            <a:off x="2571750" y="5316810"/>
            <a:ext cx="10572750" cy="9525"/>
          </a:xfrm>
          <a:prstGeom prst="rect">
            <a:avLst/>
          </a:prstGeom>
          <a:solidFill>
            <a:srgbClr val="201E1E">
              <a:alpha val="40000"/>
            </a:srgbClr>
          </a:solidFill>
          <a:ln/>
        </p:spPr>
        <p:txBody>
          <a:bodyPr/>
          <a:lstStyle/>
          <a:p>
            <a:endParaRPr lang="en-US"/>
          </a:p>
        </p:txBody>
      </p:sp>
      <p:sp>
        <p:nvSpPr>
          <p:cNvPr id="25" name="Text 23"/>
          <p:cNvSpPr/>
          <p:nvPr/>
        </p:nvSpPr>
        <p:spPr>
          <a:xfrm>
            <a:off x="2800350" y="4961729"/>
            <a:ext cx="10432733"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FastAPI: routes + Pydantic validation</a:t>
            </a:r>
            <a:endParaRPr lang="en-US" sz="2175" dirty="0"/>
          </a:p>
        </p:txBody>
      </p:sp>
      <p:sp>
        <p:nvSpPr>
          <p:cNvPr id="26" name="Shape 24"/>
          <p:cNvSpPr/>
          <p:nvPr/>
        </p:nvSpPr>
        <p:spPr>
          <a:xfrm>
            <a:off x="13144500" y="5316810"/>
            <a:ext cx="4000500" cy="9525"/>
          </a:xfrm>
          <a:prstGeom prst="rect">
            <a:avLst/>
          </a:prstGeom>
          <a:solidFill>
            <a:srgbClr val="201E1E">
              <a:alpha val="40000"/>
            </a:srgbClr>
          </a:solidFill>
          <a:ln/>
        </p:spPr>
        <p:txBody>
          <a:bodyPr/>
          <a:lstStyle/>
          <a:p>
            <a:endParaRPr lang="en-US"/>
          </a:p>
        </p:txBody>
      </p:sp>
      <p:sp>
        <p:nvSpPr>
          <p:cNvPr id="27" name="Text 25"/>
          <p:cNvSpPr/>
          <p:nvPr/>
        </p:nvSpPr>
        <p:spPr>
          <a:xfrm>
            <a:off x="13373100" y="4961729"/>
            <a:ext cx="3891915"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11D1D">
                    <a:alpha val="55000"/>
                  </a:srgbClr>
                </a:solidFill>
                <a:latin typeface="Arial" pitchFamily="34" charset="0"/>
                <a:ea typeface="Arial" pitchFamily="34" charset="-122"/>
                <a:cs typeface="Arial" pitchFamily="34" charset="-120"/>
              </a:rPr>
              <a:t>Live-code along</a:t>
            </a:r>
            <a:endParaRPr lang="en-US" sz="2175" dirty="0"/>
          </a:p>
        </p:txBody>
      </p:sp>
      <p:sp>
        <p:nvSpPr>
          <p:cNvPr id="28" name="Shape 26"/>
          <p:cNvSpPr/>
          <p:nvPr/>
        </p:nvSpPr>
        <p:spPr>
          <a:xfrm>
            <a:off x="1143000" y="5847085"/>
            <a:ext cx="1428750" cy="9525"/>
          </a:xfrm>
          <a:prstGeom prst="rect">
            <a:avLst/>
          </a:prstGeom>
          <a:solidFill>
            <a:srgbClr val="201E1E">
              <a:alpha val="40000"/>
            </a:srgbClr>
          </a:solidFill>
          <a:ln/>
        </p:spPr>
        <p:txBody>
          <a:bodyPr/>
          <a:lstStyle/>
          <a:p>
            <a:endParaRPr lang="en-US"/>
          </a:p>
        </p:txBody>
      </p:sp>
      <p:sp>
        <p:nvSpPr>
          <p:cNvPr id="29" name="Text 27"/>
          <p:cNvSpPr/>
          <p:nvPr/>
        </p:nvSpPr>
        <p:spPr>
          <a:xfrm>
            <a:off x="1143000" y="5499833"/>
            <a:ext cx="1276350" cy="211854"/>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1:20</a:t>
            </a:r>
            <a:endParaRPr lang="en-US" sz="1875" dirty="0"/>
          </a:p>
        </p:txBody>
      </p:sp>
      <p:sp>
        <p:nvSpPr>
          <p:cNvPr id="30" name="Shape 28"/>
          <p:cNvSpPr/>
          <p:nvPr/>
        </p:nvSpPr>
        <p:spPr>
          <a:xfrm>
            <a:off x="2571750" y="5847085"/>
            <a:ext cx="10572750" cy="9525"/>
          </a:xfrm>
          <a:prstGeom prst="rect">
            <a:avLst/>
          </a:prstGeom>
          <a:solidFill>
            <a:srgbClr val="201E1E">
              <a:alpha val="40000"/>
            </a:srgbClr>
          </a:solidFill>
          <a:ln/>
        </p:spPr>
        <p:txBody>
          <a:bodyPr/>
          <a:lstStyle/>
          <a:p>
            <a:endParaRPr lang="en-US"/>
          </a:p>
        </p:txBody>
      </p:sp>
      <p:sp>
        <p:nvSpPr>
          <p:cNvPr id="31" name="Text 29"/>
          <p:cNvSpPr/>
          <p:nvPr/>
        </p:nvSpPr>
        <p:spPr>
          <a:xfrm>
            <a:off x="2800350" y="5492004"/>
            <a:ext cx="10432733"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First test with pytest</a:t>
            </a:r>
            <a:endParaRPr lang="en-US" sz="2175" dirty="0"/>
          </a:p>
        </p:txBody>
      </p:sp>
      <p:sp>
        <p:nvSpPr>
          <p:cNvPr id="32" name="Shape 30"/>
          <p:cNvSpPr/>
          <p:nvPr/>
        </p:nvSpPr>
        <p:spPr>
          <a:xfrm>
            <a:off x="13144500" y="5847085"/>
            <a:ext cx="4000500" cy="9525"/>
          </a:xfrm>
          <a:prstGeom prst="rect">
            <a:avLst/>
          </a:prstGeom>
          <a:solidFill>
            <a:srgbClr val="201E1E">
              <a:alpha val="40000"/>
            </a:srgbClr>
          </a:solidFill>
          <a:ln/>
        </p:spPr>
        <p:txBody>
          <a:bodyPr/>
          <a:lstStyle/>
          <a:p>
            <a:endParaRPr lang="en-US"/>
          </a:p>
        </p:txBody>
      </p:sp>
      <p:sp>
        <p:nvSpPr>
          <p:cNvPr id="33" name="Text 31"/>
          <p:cNvSpPr/>
          <p:nvPr/>
        </p:nvSpPr>
        <p:spPr>
          <a:xfrm>
            <a:off x="13373100" y="5492004"/>
            <a:ext cx="3891915"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11D1D">
                    <a:alpha val="55000"/>
                  </a:srgbClr>
                </a:solidFill>
                <a:latin typeface="Arial" pitchFamily="34" charset="0"/>
                <a:ea typeface="Arial" pitchFamily="34" charset="-122"/>
                <a:cs typeface="Arial" pitchFamily="34" charset="-120"/>
              </a:rPr>
              <a:t>Live-code along</a:t>
            </a:r>
            <a:endParaRPr lang="en-US" sz="2175" dirty="0"/>
          </a:p>
        </p:txBody>
      </p:sp>
      <p:sp>
        <p:nvSpPr>
          <p:cNvPr id="34" name="Shape 32"/>
          <p:cNvSpPr/>
          <p:nvPr/>
        </p:nvSpPr>
        <p:spPr>
          <a:xfrm>
            <a:off x="1143000" y="6377360"/>
            <a:ext cx="1428750" cy="9525"/>
          </a:xfrm>
          <a:prstGeom prst="rect">
            <a:avLst/>
          </a:prstGeom>
          <a:solidFill>
            <a:srgbClr val="201E1E">
              <a:alpha val="40000"/>
            </a:srgbClr>
          </a:solidFill>
          <a:ln/>
        </p:spPr>
        <p:txBody>
          <a:bodyPr/>
          <a:lstStyle/>
          <a:p>
            <a:endParaRPr lang="en-US"/>
          </a:p>
        </p:txBody>
      </p:sp>
      <p:sp>
        <p:nvSpPr>
          <p:cNvPr id="35" name="Text 33"/>
          <p:cNvSpPr/>
          <p:nvPr/>
        </p:nvSpPr>
        <p:spPr>
          <a:xfrm>
            <a:off x="1143000" y="6030108"/>
            <a:ext cx="1276350" cy="211854"/>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1:35</a:t>
            </a:r>
            <a:endParaRPr lang="en-US" sz="1875" dirty="0"/>
          </a:p>
        </p:txBody>
      </p:sp>
      <p:sp>
        <p:nvSpPr>
          <p:cNvPr id="36" name="Shape 34"/>
          <p:cNvSpPr/>
          <p:nvPr/>
        </p:nvSpPr>
        <p:spPr>
          <a:xfrm>
            <a:off x="2571750" y="6377360"/>
            <a:ext cx="10572750" cy="9525"/>
          </a:xfrm>
          <a:prstGeom prst="rect">
            <a:avLst/>
          </a:prstGeom>
          <a:solidFill>
            <a:srgbClr val="201E1E">
              <a:alpha val="40000"/>
            </a:srgbClr>
          </a:solidFill>
          <a:ln/>
        </p:spPr>
        <p:txBody>
          <a:bodyPr/>
          <a:lstStyle/>
          <a:p>
            <a:endParaRPr lang="en-US"/>
          </a:p>
        </p:txBody>
      </p:sp>
      <p:sp>
        <p:nvSpPr>
          <p:cNvPr id="37" name="Text 35"/>
          <p:cNvSpPr/>
          <p:nvPr/>
        </p:nvSpPr>
        <p:spPr>
          <a:xfrm>
            <a:off x="2800350" y="6022278"/>
            <a:ext cx="10432733"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Break</a:t>
            </a:r>
            <a:endParaRPr lang="en-US" sz="2175" dirty="0"/>
          </a:p>
        </p:txBody>
      </p:sp>
      <p:sp>
        <p:nvSpPr>
          <p:cNvPr id="38" name="Shape 36"/>
          <p:cNvSpPr/>
          <p:nvPr/>
        </p:nvSpPr>
        <p:spPr>
          <a:xfrm>
            <a:off x="13144500" y="6377360"/>
            <a:ext cx="4000500" cy="9525"/>
          </a:xfrm>
          <a:prstGeom prst="rect">
            <a:avLst/>
          </a:prstGeom>
          <a:solidFill>
            <a:srgbClr val="201E1E">
              <a:alpha val="40000"/>
            </a:srgbClr>
          </a:solidFill>
          <a:ln/>
        </p:spPr>
        <p:txBody>
          <a:bodyPr/>
          <a:lstStyle/>
          <a:p>
            <a:endParaRPr lang="en-US"/>
          </a:p>
        </p:txBody>
      </p:sp>
      <p:sp>
        <p:nvSpPr>
          <p:cNvPr id="39" name="Text 37"/>
          <p:cNvSpPr/>
          <p:nvPr/>
        </p:nvSpPr>
        <p:spPr>
          <a:xfrm>
            <a:off x="13373100" y="6022278"/>
            <a:ext cx="3891915"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11D1D">
                    <a:alpha val="55000"/>
                  </a:srgbClr>
                </a:solidFill>
                <a:latin typeface="Arial" pitchFamily="34" charset="0"/>
                <a:ea typeface="Arial" pitchFamily="34" charset="-122"/>
                <a:cs typeface="Arial" pitchFamily="34" charset="-120"/>
              </a:rPr>
              <a:t>—</a:t>
            </a:r>
            <a:endParaRPr lang="en-US" sz="2175" dirty="0"/>
          </a:p>
        </p:txBody>
      </p:sp>
      <p:sp>
        <p:nvSpPr>
          <p:cNvPr id="40" name="Shape 38"/>
          <p:cNvSpPr/>
          <p:nvPr/>
        </p:nvSpPr>
        <p:spPr>
          <a:xfrm>
            <a:off x="1143000" y="6907634"/>
            <a:ext cx="1428750" cy="9525"/>
          </a:xfrm>
          <a:prstGeom prst="rect">
            <a:avLst/>
          </a:prstGeom>
          <a:solidFill>
            <a:srgbClr val="201E1E">
              <a:alpha val="40000"/>
            </a:srgbClr>
          </a:solidFill>
          <a:ln/>
        </p:spPr>
        <p:txBody>
          <a:bodyPr/>
          <a:lstStyle/>
          <a:p>
            <a:endParaRPr lang="en-US"/>
          </a:p>
        </p:txBody>
      </p:sp>
      <p:sp>
        <p:nvSpPr>
          <p:cNvPr id="41" name="Text 39"/>
          <p:cNvSpPr/>
          <p:nvPr/>
        </p:nvSpPr>
        <p:spPr>
          <a:xfrm>
            <a:off x="1143000" y="6560382"/>
            <a:ext cx="1276350" cy="211854"/>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AE1800"/>
                </a:solidFill>
                <a:latin typeface="Courier New" pitchFamily="34" charset="0"/>
                <a:ea typeface="Courier New" pitchFamily="34" charset="-122"/>
                <a:cs typeface="Courier New" pitchFamily="34" charset="-120"/>
              </a:rPr>
              <a:t>1:45</a:t>
            </a:r>
            <a:endParaRPr lang="en-US" sz="1875" dirty="0"/>
          </a:p>
        </p:txBody>
      </p:sp>
      <p:sp>
        <p:nvSpPr>
          <p:cNvPr id="42" name="Shape 40"/>
          <p:cNvSpPr/>
          <p:nvPr/>
        </p:nvSpPr>
        <p:spPr>
          <a:xfrm>
            <a:off x="2571750" y="6907634"/>
            <a:ext cx="10572750" cy="9525"/>
          </a:xfrm>
          <a:prstGeom prst="rect">
            <a:avLst/>
          </a:prstGeom>
          <a:solidFill>
            <a:srgbClr val="201E1E">
              <a:alpha val="40000"/>
            </a:srgbClr>
          </a:solidFill>
          <a:ln/>
        </p:spPr>
        <p:txBody>
          <a:bodyPr/>
          <a:lstStyle/>
          <a:p>
            <a:endParaRPr lang="en-US"/>
          </a:p>
        </p:txBody>
      </p:sp>
      <p:sp>
        <p:nvSpPr>
          <p:cNvPr id="43" name="Text 41"/>
          <p:cNvSpPr/>
          <p:nvPr/>
        </p:nvSpPr>
        <p:spPr>
          <a:xfrm>
            <a:off x="2800350" y="6552553"/>
            <a:ext cx="10432733"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AE1800"/>
                </a:solidFill>
                <a:latin typeface="Arial" pitchFamily="34" charset="0"/>
                <a:ea typeface="Arial" pitchFamily="34" charset="-122"/>
                <a:cs typeface="Arial" pitchFamily="34" charset="-120"/>
              </a:rPr>
              <a:t>Integration Checkpoint</a:t>
            </a:r>
            <a:endParaRPr lang="en-US" sz="2175" dirty="0"/>
          </a:p>
        </p:txBody>
      </p:sp>
      <p:sp>
        <p:nvSpPr>
          <p:cNvPr id="44" name="Shape 42"/>
          <p:cNvSpPr/>
          <p:nvPr/>
        </p:nvSpPr>
        <p:spPr>
          <a:xfrm>
            <a:off x="13144500" y="6907634"/>
            <a:ext cx="4000500" cy="9525"/>
          </a:xfrm>
          <a:prstGeom prst="rect">
            <a:avLst/>
          </a:prstGeom>
          <a:solidFill>
            <a:srgbClr val="201E1E">
              <a:alpha val="40000"/>
            </a:srgbClr>
          </a:solidFill>
          <a:ln/>
        </p:spPr>
        <p:txBody>
          <a:bodyPr/>
          <a:lstStyle/>
          <a:p>
            <a:endParaRPr lang="en-US"/>
          </a:p>
        </p:txBody>
      </p:sp>
      <p:sp>
        <p:nvSpPr>
          <p:cNvPr id="45" name="Text 43"/>
          <p:cNvSpPr/>
          <p:nvPr/>
        </p:nvSpPr>
        <p:spPr>
          <a:xfrm>
            <a:off x="13373100" y="6552553"/>
            <a:ext cx="3891915"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11D1D">
                    <a:alpha val="55000"/>
                  </a:srgbClr>
                </a:solidFill>
                <a:latin typeface="Arial" pitchFamily="34" charset="0"/>
                <a:ea typeface="Arial" pitchFamily="34" charset="-122"/>
                <a:cs typeface="Arial" pitchFamily="34" charset="-120"/>
              </a:rPr>
              <a:t>Individual / pairs</a:t>
            </a:r>
            <a:endParaRPr lang="en-US" sz="2175" dirty="0"/>
          </a:p>
        </p:txBody>
      </p:sp>
      <p:sp>
        <p:nvSpPr>
          <p:cNvPr id="46" name="Shape 44"/>
          <p:cNvSpPr/>
          <p:nvPr/>
        </p:nvSpPr>
        <p:spPr>
          <a:xfrm>
            <a:off x="1143000" y="7437909"/>
            <a:ext cx="1428750" cy="9525"/>
          </a:xfrm>
          <a:prstGeom prst="rect">
            <a:avLst/>
          </a:prstGeom>
          <a:solidFill>
            <a:srgbClr val="201E1E">
              <a:alpha val="40000"/>
            </a:srgbClr>
          </a:solidFill>
          <a:ln/>
        </p:spPr>
        <p:txBody>
          <a:bodyPr/>
          <a:lstStyle/>
          <a:p>
            <a:endParaRPr lang="en-US"/>
          </a:p>
        </p:txBody>
      </p:sp>
      <p:sp>
        <p:nvSpPr>
          <p:cNvPr id="47" name="Text 45"/>
          <p:cNvSpPr/>
          <p:nvPr/>
        </p:nvSpPr>
        <p:spPr>
          <a:xfrm>
            <a:off x="1143000" y="7090657"/>
            <a:ext cx="1276350" cy="211854"/>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2:40</a:t>
            </a:r>
            <a:endParaRPr lang="en-US" sz="1875" dirty="0"/>
          </a:p>
        </p:txBody>
      </p:sp>
      <p:sp>
        <p:nvSpPr>
          <p:cNvPr id="48" name="Shape 46"/>
          <p:cNvSpPr/>
          <p:nvPr/>
        </p:nvSpPr>
        <p:spPr>
          <a:xfrm>
            <a:off x="2571750" y="7437909"/>
            <a:ext cx="10572750" cy="9525"/>
          </a:xfrm>
          <a:prstGeom prst="rect">
            <a:avLst/>
          </a:prstGeom>
          <a:solidFill>
            <a:srgbClr val="201E1E">
              <a:alpha val="40000"/>
            </a:srgbClr>
          </a:solidFill>
          <a:ln/>
        </p:spPr>
        <p:txBody>
          <a:bodyPr/>
          <a:lstStyle/>
          <a:p>
            <a:endParaRPr lang="en-US"/>
          </a:p>
        </p:txBody>
      </p:sp>
      <p:sp>
        <p:nvSpPr>
          <p:cNvPr id="49" name="Text 47"/>
          <p:cNvSpPr/>
          <p:nvPr/>
        </p:nvSpPr>
        <p:spPr>
          <a:xfrm>
            <a:off x="2800350" y="7082828"/>
            <a:ext cx="10432733"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Checkpoint verification + demos</a:t>
            </a:r>
            <a:endParaRPr lang="en-US" sz="2175" dirty="0"/>
          </a:p>
        </p:txBody>
      </p:sp>
      <p:sp>
        <p:nvSpPr>
          <p:cNvPr id="50" name="Shape 48"/>
          <p:cNvSpPr/>
          <p:nvPr/>
        </p:nvSpPr>
        <p:spPr>
          <a:xfrm>
            <a:off x="13144500" y="7437909"/>
            <a:ext cx="4000500" cy="9525"/>
          </a:xfrm>
          <a:prstGeom prst="rect">
            <a:avLst/>
          </a:prstGeom>
          <a:solidFill>
            <a:srgbClr val="201E1E">
              <a:alpha val="40000"/>
            </a:srgbClr>
          </a:solidFill>
          <a:ln/>
        </p:spPr>
        <p:txBody>
          <a:bodyPr/>
          <a:lstStyle/>
          <a:p>
            <a:endParaRPr lang="en-US"/>
          </a:p>
        </p:txBody>
      </p:sp>
      <p:sp>
        <p:nvSpPr>
          <p:cNvPr id="51" name="Text 49"/>
          <p:cNvSpPr/>
          <p:nvPr/>
        </p:nvSpPr>
        <p:spPr>
          <a:xfrm>
            <a:off x="13373100" y="7082828"/>
            <a:ext cx="3891915"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11D1D">
                    <a:alpha val="55000"/>
                  </a:srgbClr>
                </a:solidFill>
                <a:latin typeface="Arial" pitchFamily="34" charset="0"/>
                <a:ea typeface="Arial" pitchFamily="34" charset="-122"/>
                <a:cs typeface="Arial" pitchFamily="34" charset="-120"/>
              </a:rPr>
              <a:t>Whole group</a:t>
            </a:r>
            <a:endParaRPr lang="en-US" sz="2175" dirty="0"/>
          </a:p>
        </p:txBody>
      </p:sp>
      <p:sp>
        <p:nvSpPr>
          <p:cNvPr id="52" name="Shape 50"/>
          <p:cNvSpPr/>
          <p:nvPr/>
        </p:nvSpPr>
        <p:spPr>
          <a:xfrm>
            <a:off x="1143000" y="7968183"/>
            <a:ext cx="1428750" cy="9525"/>
          </a:xfrm>
          <a:prstGeom prst="rect">
            <a:avLst/>
          </a:prstGeom>
          <a:solidFill>
            <a:srgbClr val="201E1E">
              <a:alpha val="40000"/>
            </a:srgbClr>
          </a:solidFill>
          <a:ln/>
        </p:spPr>
        <p:txBody>
          <a:bodyPr/>
          <a:lstStyle/>
          <a:p>
            <a:endParaRPr lang="en-US"/>
          </a:p>
        </p:txBody>
      </p:sp>
      <p:sp>
        <p:nvSpPr>
          <p:cNvPr id="53" name="Text 51"/>
          <p:cNvSpPr/>
          <p:nvPr/>
        </p:nvSpPr>
        <p:spPr>
          <a:xfrm>
            <a:off x="1143000" y="7620932"/>
            <a:ext cx="1276350" cy="211854"/>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2:55</a:t>
            </a:r>
            <a:endParaRPr lang="en-US" sz="1875" dirty="0"/>
          </a:p>
        </p:txBody>
      </p:sp>
      <p:sp>
        <p:nvSpPr>
          <p:cNvPr id="54" name="Shape 52"/>
          <p:cNvSpPr/>
          <p:nvPr/>
        </p:nvSpPr>
        <p:spPr>
          <a:xfrm>
            <a:off x="2571750" y="7968183"/>
            <a:ext cx="10572750" cy="9525"/>
          </a:xfrm>
          <a:prstGeom prst="rect">
            <a:avLst/>
          </a:prstGeom>
          <a:solidFill>
            <a:srgbClr val="201E1E">
              <a:alpha val="40000"/>
            </a:srgbClr>
          </a:solidFill>
          <a:ln/>
        </p:spPr>
        <p:txBody>
          <a:bodyPr/>
          <a:lstStyle/>
          <a:p>
            <a:endParaRPr lang="en-US"/>
          </a:p>
        </p:txBody>
      </p:sp>
      <p:sp>
        <p:nvSpPr>
          <p:cNvPr id="55" name="Text 53"/>
          <p:cNvSpPr/>
          <p:nvPr/>
        </p:nvSpPr>
        <p:spPr>
          <a:xfrm>
            <a:off x="2800350" y="7613102"/>
            <a:ext cx="10432733"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Wrap: how this mirrors Module 1 ↔ 2</a:t>
            </a:r>
            <a:endParaRPr lang="en-US" sz="2175" dirty="0"/>
          </a:p>
        </p:txBody>
      </p:sp>
      <p:sp>
        <p:nvSpPr>
          <p:cNvPr id="56" name="Shape 54"/>
          <p:cNvSpPr/>
          <p:nvPr/>
        </p:nvSpPr>
        <p:spPr>
          <a:xfrm>
            <a:off x="13144500" y="7968183"/>
            <a:ext cx="4000500" cy="9525"/>
          </a:xfrm>
          <a:prstGeom prst="rect">
            <a:avLst/>
          </a:prstGeom>
          <a:solidFill>
            <a:srgbClr val="201E1E">
              <a:alpha val="40000"/>
            </a:srgbClr>
          </a:solidFill>
          <a:ln/>
        </p:spPr>
        <p:txBody>
          <a:bodyPr/>
          <a:lstStyle/>
          <a:p>
            <a:endParaRPr lang="en-US"/>
          </a:p>
        </p:txBody>
      </p:sp>
      <p:sp>
        <p:nvSpPr>
          <p:cNvPr id="57" name="Text 55"/>
          <p:cNvSpPr/>
          <p:nvPr/>
        </p:nvSpPr>
        <p:spPr>
          <a:xfrm>
            <a:off x="13373100" y="7613102"/>
            <a:ext cx="3891915" cy="22751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11D1D">
                    <a:alpha val="55000"/>
                  </a:srgbClr>
                </a:solidFill>
                <a:latin typeface="Arial" pitchFamily="34" charset="0"/>
                <a:ea typeface="Arial" pitchFamily="34" charset="-122"/>
                <a:cs typeface="Arial" pitchFamily="34" charset="-120"/>
              </a:rPr>
              <a:t>Whole group</a:t>
            </a:r>
            <a:endParaRPr lang="en-US" sz="21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BEFORE WE START</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What you installed and refreshed</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Installed</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Python 3.11 or later and Docker Desktop. We prove both are working in the first ten minutes.</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Refreshed</a:t>
            </a:r>
            <a:endParaRPr lang="en-US" sz="2550" dirty="0"/>
          </a:p>
        </p:txBody>
      </p:sp>
      <p:sp>
        <p:nvSpPr>
          <p:cNvPr id="9" name="Text 7"/>
          <p:cNvSpPr/>
          <p:nvPr/>
        </p:nvSpPr>
        <p:spPr>
          <a:xfrm>
            <a:off x="6629400" y="3931741"/>
            <a:ext cx="5180076" cy="15926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self-study on Docker, REST, SQL and Git. Early-career: finish it — the checkpoint depends on it. Experienced: a skim is enough.</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Why up front</a:t>
            </a:r>
            <a:endParaRPr lang="en-US" sz="2550" dirty="0"/>
          </a:p>
        </p:txBody>
      </p:sp>
      <p:sp>
        <p:nvSpPr>
          <p:cNvPr id="12" name="Text 10"/>
          <p:cNvSpPr/>
          <p:nvPr/>
        </p:nvSpPr>
        <p:spPr>
          <a:xfrm>
            <a:off x="12115800" y="3931741"/>
            <a:ext cx="5180076" cy="15926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tools must be installed and the basics fresh before the checkpoint. We do not teach Docker or SQL today; we assemble with them.</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3223915"/>
            <a:ext cx="2921176" cy="2266950"/>
          </a:xfrm>
          <a:prstGeom prst="rect">
            <a:avLst/>
          </a:prstGeom>
          <a:noFill/>
          <a:ln/>
        </p:spPr>
        <p:txBody>
          <a:bodyPr wrap="square" lIns="25400" tIns="25400" rIns="25400" bIns="25400" rtlCol="0" anchor="t">
            <a:normAutofit/>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01</a:t>
            </a:r>
            <a:endParaRPr lang="en-US" sz="19500" dirty="0"/>
          </a:p>
        </p:txBody>
      </p:sp>
      <p:sp>
        <p:nvSpPr>
          <p:cNvPr id="3" name="Text 1"/>
          <p:cNvSpPr/>
          <p:nvPr/>
        </p:nvSpPr>
        <p:spPr>
          <a:xfrm>
            <a:off x="1107653" y="5833765"/>
            <a:ext cx="8711632"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Opening &amp; environment check</a:t>
            </a:r>
            <a:endParaRPr lang="en-US" sz="4800" dirty="0"/>
          </a:p>
        </p:txBody>
      </p:sp>
      <p:sp>
        <p:nvSpPr>
          <p:cNvPr id="4" name="Text 2"/>
          <p:cNvSpPr/>
          <p:nvPr/>
        </p:nvSpPr>
        <p:spPr>
          <a:xfrm>
            <a:off x="1143000" y="6651427"/>
            <a:ext cx="6477305" cy="221084"/>
          </a:xfrm>
          <a:prstGeom prst="rect">
            <a:avLst/>
          </a:prstGeom>
          <a:noFill/>
          <a:ln/>
        </p:spPr>
        <p:txBody>
          <a:bodyPr wrap="square" lIns="25400" tIns="25400" rIns="25400" bIns="25400" rtlCol="0" anchor="t">
            <a:normAutofit/>
          </a:bodyPr>
          <a:lstStyle/>
          <a:p>
            <a:pPr marL="0" indent="0" algn="l">
              <a:lnSpc>
                <a:spcPct val="133538"/>
              </a:lnSpc>
              <a:buNone/>
            </a:pPr>
            <a:r>
              <a:rPr lang="en-US" sz="2100" kern="0" spc="126" dirty="0">
                <a:solidFill>
                  <a:srgbClr val="F3F2F2"/>
                </a:solidFill>
                <a:latin typeface="Arial" pitchFamily="34" charset="0"/>
                <a:ea typeface="Arial" pitchFamily="34" charset="-122"/>
                <a:cs typeface="Arial" pitchFamily="34" charset="-120"/>
              </a:rPr>
              <a:t>0:00 – 0:10 · 10 MINUTES · WHOLE GROUP</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OPENING</a:t>
            </a:r>
            <a:endParaRPr lang="en-US" sz="1800" dirty="0"/>
          </a:p>
        </p:txBody>
      </p:sp>
      <p:sp>
        <p:nvSpPr>
          <p:cNvPr id="3" name="Shape 1"/>
          <p:cNvSpPr/>
          <p:nvPr/>
        </p:nvSpPr>
        <p:spPr>
          <a:xfrm>
            <a:off x="1143000" y="1972717"/>
            <a:ext cx="152400" cy="285750"/>
          </a:xfrm>
          <a:prstGeom prst="rect">
            <a:avLst/>
          </a:prstGeom>
          <a:solidFill>
            <a:srgbClr val="EC3013"/>
          </a:solidFill>
          <a:ln/>
        </p:spPr>
        <p:txBody>
          <a:bodyPr/>
          <a:lstStyle/>
          <a:p>
            <a:endParaRPr lang="en-US"/>
          </a:p>
        </p:txBody>
      </p:sp>
      <p:sp>
        <p:nvSpPr>
          <p:cNvPr id="4" name="Text 2"/>
          <p:cNvSpPr/>
          <p:nvPr/>
        </p:nvSpPr>
        <p:spPr>
          <a:xfrm>
            <a:off x="1466850" y="1894136"/>
            <a:ext cx="4715694"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Prove every machine works</a:t>
            </a:r>
            <a:endParaRPr lang="en-US" sz="2250" dirty="0"/>
          </a:p>
        </p:txBody>
      </p:sp>
      <p:sp>
        <p:nvSpPr>
          <p:cNvPr id="5" name="Shape 3"/>
          <p:cNvSpPr/>
          <p:nvPr/>
        </p:nvSpPr>
        <p:spPr>
          <a:xfrm>
            <a:off x="1143000" y="2719090"/>
            <a:ext cx="16002000" cy="2457450"/>
          </a:xfrm>
          <a:prstGeom prst="rect">
            <a:avLst/>
          </a:prstGeom>
          <a:solidFill>
            <a:srgbClr val="EAE9E9"/>
          </a:solidFill>
          <a:ln/>
        </p:spPr>
        <p:txBody>
          <a:bodyPr/>
          <a:lstStyle/>
          <a:p>
            <a:endParaRPr lang="en-US"/>
          </a:p>
        </p:txBody>
      </p:sp>
      <p:sp>
        <p:nvSpPr>
          <p:cNvPr id="6" name="Text 4"/>
          <p:cNvSpPr/>
          <p:nvPr/>
        </p:nvSpPr>
        <p:spPr>
          <a:xfrm>
            <a:off x="1562100" y="3042940"/>
            <a:ext cx="14188762" cy="1847850"/>
          </a:xfrm>
          <a:prstGeom prst="rect">
            <a:avLst/>
          </a:prstGeom>
          <a:noFill/>
          <a:ln/>
        </p:spPr>
        <p:txBody>
          <a:bodyPr wrap="none" lIns="25400" tIns="25400" rIns="25400" bIns="25400" rtlCol="0" anchor="t">
            <a:normAutofit lnSpcReduction="10000"/>
          </a:bodyPr>
          <a:lstStyle/>
          <a:p>
            <a:pPr marL="0" indent="0" algn="l">
              <a:lnSpc>
                <a:spcPct val="124590"/>
              </a:lnSpc>
              <a:buNone/>
            </a:pPr>
            <a:r>
              <a:rPr lang="en-US" sz="2025" dirty="0">
                <a:solidFill>
                  <a:srgbClr val="211F1C">
                    <a:alpha val="46000"/>
                  </a:srgbClr>
                </a:solidFill>
                <a:latin typeface="Courier New" pitchFamily="34" charset="0"/>
                <a:ea typeface="Courier New" pitchFamily="34" charset="-122"/>
                <a:cs typeface="Courier New" pitchFamily="34" charset="-120"/>
              </a:rPr>
              <a:t># run all four; paste the output into the shared channel </a:t>
            </a:r>
          </a:p>
          <a:p>
            <a:pPr marL="0" indent="0" algn="l">
              <a:lnSpc>
                <a:spcPct val="124590"/>
              </a:lnSpc>
              <a:buNone/>
            </a:pPr>
            <a:r>
              <a:rPr lang="en-US" sz="2025" dirty="0">
                <a:solidFill>
                  <a:srgbClr val="201E1D"/>
                </a:solidFill>
                <a:highlight>
                  <a:srgbClr val="EAE9E9"/>
                </a:highlight>
                <a:latin typeface="Courier New" pitchFamily="34" charset="0"/>
                <a:ea typeface="Courier New" pitchFamily="34" charset="-122"/>
                <a:cs typeface="Courier New" pitchFamily="34" charset="-120"/>
              </a:rPr>
              <a:t>python --version        </a:t>
            </a:r>
          </a:p>
          <a:p>
            <a:pPr marL="0" indent="0" algn="l">
              <a:lnSpc>
                <a:spcPct val="124590"/>
              </a:lnSpc>
              <a:buNone/>
            </a:pPr>
            <a:r>
              <a:rPr lang="en-US" sz="2025" dirty="0">
                <a:solidFill>
                  <a:srgbClr val="211F1C">
                    <a:alpha val="46000"/>
                  </a:srgbClr>
                </a:solidFill>
                <a:latin typeface="Courier New" pitchFamily="34" charset="0"/>
                <a:ea typeface="Courier New" pitchFamily="34" charset="-122"/>
                <a:cs typeface="Courier New" pitchFamily="34" charset="-120"/>
              </a:rPr>
              <a:t># expect 3.11 or later </a:t>
            </a:r>
            <a:r>
              <a:rPr lang="en-US" sz="2025" dirty="0">
                <a:solidFill>
                  <a:srgbClr val="201E1D"/>
                </a:solidFill>
                <a:highlight>
                  <a:srgbClr val="EAE9E9"/>
                </a:highlight>
                <a:latin typeface="Courier New" pitchFamily="34" charset="0"/>
                <a:ea typeface="Courier New" pitchFamily="34" charset="-122"/>
                <a:cs typeface="Courier New" pitchFamily="34" charset="-120"/>
              </a:rPr>
              <a:t>docker --version</a:t>
            </a:r>
            <a:endParaRPr lang="en-US" sz="2025" dirty="0"/>
          </a:p>
          <a:p>
            <a:pPr marL="0" indent="0" algn="l">
              <a:lnSpc>
                <a:spcPct val="124590"/>
              </a:lnSpc>
              <a:buNone/>
            </a:pPr>
            <a:r>
              <a:rPr lang="en-US" sz="2025" dirty="0">
                <a:solidFill>
                  <a:srgbClr val="201E1D"/>
                </a:solidFill>
                <a:highlight>
                  <a:srgbClr val="EAE9E9"/>
                </a:highlight>
                <a:latin typeface="Courier New" pitchFamily="34" charset="0"/>
                <a:ea typeface="Courier New" pitchFamily="34" charset="-122"/>
                <a:cs typeface="Courier New" pitchFamily="34" charset="-120"/>
              </a:rPr>
              <a:t>docker compose version</a:t>
            </a:r>
            <a:endParaRPr lang="en-US" sz="2025" dirty="0"/>
          </a:p>
          <a:p>
            <a:pPr marL="0" indent="0" algn="l">
              <a:lnSpc>
                <a:spcPct val="124590"/>
              </a:lnSpc>
              <a:buNone/>
            </a:pPr>
            <a:r>
              <a:rPr lang="en-US" sz="2025" dirty="0">
                <a:solidFill>
                  <a:srgbClr val="201E1D"/>
                </a:solidFill>
                <a:highlight>
                  <a:srgbClr val="EAE9E9"/>
                </a:highlight>
                <a:latin typeface="Courier New" pitchFamily="34" charset="0"/>
                <a:ea typeface="Courier New" pitchFamily="34" charset="-122"/>
                <a:cs typeface="Courier New" pitchFamily="34" charset="-120"/>
              </a:rPr>
              <a:t>git --version</a:t>
            </a:r>
            <a:endParaRPr lang="en-US" sz="2025" dirty="0"/>
          </a:p>
        </p:txBody>
      </p:sp>
      <p:sp>
        <p:nvSpPr>
          <p:cNvPr id="7" name="Text 5"/>
          <p:cNvSpPr/>
          <p:nvPr/>
        </p:nvSpPr>
        <p:spPr>
          <a:xfrm>
            <a:off x="1143000" y="5469062"/>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Nobody writes a line of code until these four succeed. The paste doubles as attendance — and it means the room starts from a known-good baseline instead of discovering broken installs at the checkpoint.</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OPENING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If your environment fails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361432"/>
            <a:ext cx="5532120" cy="647700"/>
          </a:xfrm>
          <a:prstGeom prst="rect">
            <a:avLst/>
          </a:prstGeom>
          <a:noFill/>
          <a:ln/>
        </p:spPr>
        <p:txBody>
          <a:bodyPr wrap="square" lIns="25400" tIns="25400" rIns="25400" bIns="25400" rtlCol="0" anchor="t">
            <a:normAutofit/>
          </a:bodyPr>
          <a:lstStyle/>
          <a:p>
            <a:pPr marL="0" indent="0" algn="l">
              <a:lnSpc>
                <a:spcPct val="87075"/>
              </a:lnSpc>
              <a:buNone/>
            </a:pPr>
            <a:r>
              <a:rPr lang="en-US" sz="4800" b="1" dirty="0">
                <a:solidFill>
                  <a:srgbClr val="EC3013"/>
                </a:solidFill>
                <a:latin typeface="Arial" pitchFamily="34" charset="0"/>
                <a:ea typeface="Arial" pitchFamily="34" charset="-122"/>
                <a:cs typeface="Arial" pitchFamily="34" charset="-120"/>
              </a:rPr>
              <a:t>1</a:t>
            </a:r>
            <a:endParaRPr lang="en-US" sz="4800" dirty="0"/>
          </a:p>
        </p:txBody>
      </p:sp>
      <p:sp>
        <p:nvSpPr>
          <p:cNvPr id="6" name="Text 4"/>
          <p:cNvSpPr/>
          <p:nvPr/>
        </p:nvSpPr>
        <p:spPr>
          <a:xfrm>
            <a:off x="1143000" y="4186684"/>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Check out the branch</a:t>
            </a:r>
            <a:endParaRPr lang="en-US" sz="2550" dirty="0"/>
          </a:p>
        </p:txBody>
      </p:sp>
      <p:sp>
        <p:nvSpPr>
          <p:cNvPr id="7" name="Text 5"/>
          <p:cNvSpPr/>
          <p:nvPr/>
        </p:nvSpPr>
        <p:spPr>
          <a:xfrm>
            <a:off x="1143000" y="4692848"/>
            <a:ext cx="5180076"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catch-up branch is the fastest unblock — run the working code, read the diff later.</a:t>
            </a:r>
            <a:endParaRPr lang="en-US" sz="2100" dirty="0"/>
          </a:p>
        </p:txBody>
      </p:sp>
      <p:sp>
        <p:nvSpPr>
          <p:cNvPr id="8" name="Shape 6"/>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9" name="Text 7"/>
          <p:cNvSpPr/>
          <p:nvPr/>
        </p:nvSpPr>
        <p:spPr>
          <a:xfrm>
            <a:off x="6629400" y="3361432"/>
            <a:ext cx="5532120" cy="647700"/>
          </a:xfrm>
          <a:prstGeom prst="rect">
            <a:avLst/>
          </a:prstGeom>
          <a:noFill/>
          <a:ln/>
        </p:spPr>
        <p:txBody>
          <a:bodyPr wrap="square" lIns="25400" tIns="25400" rIns="25400" bIns="25400" rtlCol="0" anchor="t">
            <a:normAutofit/>
          </a:bodyPr>
          <a:lstStyle/>
          <a:p>
            <a:pPr marL="0" indent="0" algn="l">
              <a:lnSpc>
                <a:spcPct val="87075"/>
              </a:lnSpc>
              <a:buNone/>
            </a:pPr>
            <a:r>
              <a:rPr lang="en-US" sz="4800" b="1" dirty="0">
                <a:solidFill>
                  <a:srgbClr val="EC3013"/>
                </a:solidFill>
                <a:latin typeface="Arial" pitchFamily="34" charset="0"/>
                <a:ea typeface="Arial" pitchFamily="34" charset="-122"/>
                <a:cs typeface="Arial" pitchFamily="34" charset="-120"/>
              </a:rPr>
              <a:t>2</a:t>
            </a:r>
            <a:endParaRPr lang="en-US" sz="4800" dirty="0"/>
          </a:p>
        </p:txBody>
      </p:sp>
      <p:sp>
        <p:nvSpPr>
          <p:cNvPr id="10" name="Text 8"/>
          <p:cNvSpPr/>
          <p:nvPr/>
        </p:nvSpPr>
        <p:spPr>
          <a:xfrm>
            <a:off x="6629400" y="4186684"/>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Raise your hand</a:t>
            </a:r>
            <a:endParaRPr lang="en-US" sz="2550" dirty="0"/>
          </a:p>
        </p:txBody>
      </p:sp>
      <p:sp>
        <p:nvSpPr>
          <p:cNvPr id="11" name="Text 9"/>
          <p:cNvSpPr/>
          <p:nvPr/>
        </p:nvSpPr>
        <p:spPr>
          <a:xfrm>
            <a:off x="6629400" y="4692848"/>
            <a:ext cx="5180076"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TA fixes installs offline. We never stop the whole room for one machine.</a:t>
            </a:r>
            <a:endParaRPr lang="en-US" sz="2100" dirty="0"/>
          </a:p>
        </p:txBody>
      </p:sp>
      <p:sp>
        <p:nvSpPr>
          <p:cNvPr id="12" name="Shape 10"/>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3" name="Text 11"/>
          <p:cNvSpPr/>
          <p:nvPr/>
        </p:nvSpPr>
        <p:spPr>
          <a:xfrm>
            <a:off x="12115800" y="3361432"/>
            <a:ext cx="5532120" cy="647700"/>
          </a:xfrm>
          <a:prstGeom prst="rect">
            <a:avLst/>
          </a:prstGeom>
          <a:noFill/>
          <a:ln/>
        </p:spPr>
        <p:txBody>
          <a:bodyPr wrap="square" lIns="25400" tIns="25400" rIns="25400" bIns="25400" rtlCol="0" anchor="t">
            <a:normAutofit/>
          </a:bodyPr>
          <a:lstStyle/>
          <a:p>
            <a:pPr marL="0" indent="0" algn="l">
              <a:lnSpc>
                <a:spcPct val="87075"/>
              </a:lnSpc>
              <a:buNone/>
            </a:pPr>
            <a:r>
              <a:rPr lang="en-US" sz="4800" b="1" dirty="0">
                <a:solidFill>
                  <a:srgbClr val="EC3013"/>
                </a:solidFill>
                <a:latin typeface="Arial" pitchFamily="34" charset="0"/>
                <a:ea typeface="Arial" pitchFamily="34" charset="-122"/>
                <a:cs typeface="Arial" pitchFamily="34" charset="-120"/>
              </a:rPr>
              <a:t>3</a:t>
            </a:r>
            <a:endParaRPr lang="en-US" sz="4800" dirty="0"/>
          </a:p>
        </p:txBody>
      </p:sp>
      <p:sp>
        <p:nvSpPr>
          <p:cNvPr id="14" name="Text 12"/>
          <p:cNvSpPr/>
          <p:nvPr/>
        </p:nvSpPr>
        <p:spPr>
          <a:xfrm>
            <a:off x="12115800" y="4186684"/>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Pair with a neighbour</a:t>
            </a:r>
            <a:endParaRPr lang="en-US" sz="2550" dirty="0"/>
          </a:p>
        </p:txBody>
      </p:sp>
      <p:sp>
        <p:nvSpPr>
          <p:cNvPr id="15" name="Text 13"/>
          <p:cNvSpPr/>
          <p:nvPr/>
        </p:nvSpPr>
        <p:spPr>
          <a:xfrm>
            <a:off x="12115800" y="4692848"/>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Two people, one working machine still earns full checkpoint credit. Nobody sits idle.</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01 · OPENING · WHY IT MATTERS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we verify before teaching</a:t>
            </a:r>
            <a:endParaRPr lang="en-US" sz="4800" dirty="0"/>
          </a:p>
        </p:txBody>
      </p:sp>
      <p:sp>
        <p:nvSpPr>
          <p:cNvPr id="4" name="Text 2"/>
          <p:cNvSpPr/>
          <p:nvPr/>
        </p:nvSpPr>
        <p:spPr>
          <a:xfrm>
            <a:off x="1143000" y="3074194"/>
            <a:ext cx="9646650" cy="1581596"/>
          </a:xfrm>
          <a:prstGeom prst="rect">
            <a:avLst/>
          </a:prstGeom>
          <a:noFill/>
          <a:ln/>
        </p:spPr>
        <p:txBody>
          <a:bodyPr wrap="square" lIns="25400" tIns="25400" rIns="25400" bIns="25400" rtlCol="0" anchor="t">
            <a:normAutofit/>
          </a:bodyPr>
          <a:lstStyle/>
          <a:p>
            <a:pPr marL="0" indent="0" algn="l">
              <a:lnSpc>
                <a:spcPct val="104874"/>
              </a:lnSpc>
              <a:buNone/>
            </a:pPr>
            <a:r>
              <a:rPr lang="en-US" sz="3900" b="1" kern="0" spc="-58" dirty="0">
                <a:solidFill>
                  <a:srgbClr val="201E1D"/>
                </a:solidFill>
                <a:latin typeface="Arial" pitchFamily="34" charset="0"/>
                <a:ea typeface="Arial" pitchFamily="34" charset="-122"/>
                <a:cs typeface="Arial" pitchFamily="34" charset="-120"/>
              </a:rPr>
              <a:t>A broken install found at </a:t>
            </a:r>
            <a:r>
              <a:rPr lang="en-US" sz="3900" b="1" kern="0" spc="-58" dirty="0">
                <a:solidFill>
                  <a:srgbClr val="AE1800"/>
                </a:solidFill>
                <a:latin typeface="Arial" pitchFamily="34" charset="0"/>
                <a:ea typeface="Arial" pitchFamily="34" charset="-122"/>
                <a:cs typeface="Arial" pitchFamily="34" charset="-120"/>
              </a:rPr>
              <a:t>minute five </a:t>
            </a:r>
            <a:r>
              <a:rPr lang="en-US" sz="3900" b="1" kern="0" spc="-58" dirty="0">
                <a:solidFill>
                  <a:srgbClr val="201E1D"/>
                </a:solidFill>
                <a:latin typeface="Arial" pitchFamily="34" charset="0"/>
                <a:ea typeface="Arial" pitchFamily="34" charset="-122"/>
                <a:cs typeface="Arial" pitchFamily="34" charset="-120"/>
              </a:rPr>
              <a:t>is a footnote. Found at </a:t>
            </a:r>
            <a:r>
              <a:rPr lang="en-US" sz="3900" b="1" kern="0" spc="-58" dirty="0">
                <a:solidFill>
                  <a:srgbClr val="AE1800"/>
                </a:solidFill>
                <a:latin typeface="Arial" pitchFamily="34" charset="0"/>
                <a:ea typeface="Arial" pitchFamily="34" charset="-122"/>
                <a:cs typeface="Arial" pitchFamily="34" charset="-120"/>
              </a:rPr>
              <a:t>the checkpoint </a:t>
            </a:r>
            <a:r>
              <a:rPr lang="en-US" sz="3900" b="1" kern="0" spc="-58" dirty="0">
                <a:solidFill>
                  <a:srgbClr val="201E1D"/>
                </a:solidFill>
                <a:latin typeface="Arial" pitchFamily="34" charset="0"/>
                <a:ea typeface="Arial" pitchFamily="34" charset="-122"/>
                <a:cs typeface="Arial" pitchFamily="34" charset="-120"/>
              </a:rPr>
              <a:t>, it costs the whole session.</a:t>
            </a:r>
            <a:endParaRPr lang="en-US" sz="3900" dirty="0"/>
          </a:p>
        </p:txBody>
      </p:sp>
      <p:sp>
        <p:nvSpPr>
          <p:cNvPr id="5" name="Text 3"/>
          <p:cNvSpPr/>
          <p:nvPr/>
        </p:nvSpPr>
        <p:spPr>
          <a:xfrm>
            <a:off x="1143000" y="5367412"/>
            <a:ext cx="16361495"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Environment problems are the number-one time sink in a session like this. Front-loading them — and pre-pulling the Docker images — converts a room-wide stall into a two-minute triage. This is the same discipline you will use on any real team: prove the pipeline runs before you build on it.</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3223915"/>
            <a:ext cx="2921176" cy="2266950"/>
          </a:xfrm>
          <a:prstGeom prst="rect">
            <a:avLst/>
          </a:prstGeom>
          <a:noFill/>
          <a:ln/>
        </p:spPr>
        <p:txBody>
          <a:bodyPr wrap="square" lIns="25400" tIns="25400" rIns="25400" bIns="25400" rtlCol="0" anchor="t">
            <a:normAutofit/>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02</a:t>
            </a:r>
            <a:endParaRPr lang="en-US" sz="19500" dirty="0"/>
          </a:p>
        </p:txBody>
      </p:sp>
      <p:sp>
        <p:nvSpPr>
          <p:cNvPr id="3" name="Text 1"/>
          <p:cNvSpPr/>
          <p:nvPr/>
        </p:nvSpPr>
        <p:spPr>
          <a:xfrm>
            <a:off x="1107653" y="5833765"/>
            <a:ext cx="8674306"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Typed Python &amp; environments</a:t>
            </a:r>
            <a:endParaRPr lang="en-US" sz="4800" dirty="0"/>
          </a:p>
        </p:txBody>
      </p:sp>
      <p:sp>
        <p:nvSpPr>
          <p:cNvPr id="4" name="Text 2"/>
          <p:cNvSpPr/>
          <p:nvPr/>
        </p:nvSpPr>
        <p:spPr>
          <a:xfrm>
            <a:off x="1143000" y="6651427"/>
            <a:ext cx="7010184" cy="221084"/>
          </a:xfrm>
          <a:prstGeom prst="rect">
            <a:avLst/>
          </a:prstGeom>
          <a:noFill/>
          <a:ln/>
        </p:spPr>
        <p:txBody>
          <a:bodyPr wrap="square" lIns="25400" tIns="25400" rIns="25400" bIns="25400" rtlCol="0" anchor="t">
            <a:normAutofit/>
          </a:bodyPr>
          <a:lstStyle/>
          <a:p>
            <a:pPr marL="0" indent="0" algn="l">
              <a:lnSpc>
                <a:spcPct val="133538"/>
              </a:lnSpc>
              <a:buNone/>
            </a:pPr>
            <a:r>
              <a:rPr lang="en-US" sz="2100" kern="0" spc="126" dirty="0">
                <a:solidFill>
                  <a:srgbClr val="F3F2F2"/>
                </a:solidFill>
                <a:latin typeface="Arial" pitchFamily="34" charset="0"/>
                <a:ea typeface="Arial" pitchFamily="34" charset="-122"/>
                <a:cs typeface="Arial" pitchFamily="34" charset="-120"/>
              </a:rPr>
              <a:t>0:10 – 0:40 · 30 MINUTES · LIVE-CODE ALONG</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 · WHY IT MATTERS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isolate dependencies</a:t>
            </a:r>
            <a:endParaRPr lang="en-US" sz="4800" dirty="0"/>
          </a:p>
        </p:txBody>
      </p:sp>
      <p:sp>
        <p:nvSpPr>
          <p:cNvPr id="4" name="Text 2"/>
          <p:cNvSpPr/>
          <p:nvPr/>
        </p:nvSpPr>
        <p:spPr>
          <a:xfrm>
            <a:off x="1143000" y="3074194"/>
            <a:ext cx="9646650" cy="1581596"/>
          </a:xfrm>
          <a:prstGeom prst="rect">
            <a:avLst/>
          </a:prstGeom>
          <a:noFill/>
          <a:ln/>
        </p:spPr>
        <p:txBody>
          <a:bodyPr wrap="square" lIns="25400" tIns="25400" rIns="25400" bIns="25400" rtlCol="0" anchor="t">
            <a:normAutofit/>
          </a:bodyPr>
          <a:lstStyle/>
          <a:p>
            <a:pPr marL="0" indent="0" algn="l">
              <a:lnSpc>
                <a:spcPct val="104874"/>
              </a:lnSpc>
              <a:buNone/>
            </a:pPr>
            <a:r>
              <a:rPr lang="en-US" sz="3900" b="1" kern="0" spc="-58" dirty="0">
                <a:solidFill>
                  <a:srgbClr val="201E1D"/>
                </a:solidFill>
                <a:latin typeface="Arial" pitchFamily="34" charset="0"/>
                <a:ea typeface="Arial" pitchFamily="34" charset="-122"/>
                <a:cs typeface="Arial" pitchFamily="34" charset="-120"/>
              </a:rPr>
              <a:t>Two projects, two versions of the same library. Without isolation, installing one </a:t>
            </a:r>
            <a:r>
              <a:rPr lang="en-US" sz="3900" b="1" kern="0" spc="-58" dirty="0">
                <a:solidFill>
                  <a:srgbClr val="AE1800"/>
                </a:solidFill>
                <a:latin typeface="Arial" pitchFamily="34" charset="0"/>
                <a:ea typeface="Arial" pitchFamily="34" charset="-122"/>
                <a:cs typeface="Arial" pitchFamily="34" charset="-120"/>
              </a:rPr>
              <a:t>quietly breaks </a:t>
            </a:r>
            <a:r>
              <a:rPr lang="en-US" sz="3900" b="1" kern="0" spc="-58" dirty="0">
                <a:solidFill>
                  <a:srgbClr val="201E1D"/>
                </a:solidFill>
                <a:latin typeface="Arial" pitchFamily="34" charset="0"/>
                <a:ea typeface="Arial" pitchFamily="34" charset="-122"/>
                <a:cs typeface="Arial" pitchFamily="34" charset="-120"/>
              </a:rPr>
              <a:t>the other.</a:t>
            </a:r>
            <a:endParaRPr lang="en-US" sz="3900" dirty="0"/>
          </a:p>
        </p:txBody>
      </p:sp>
      <p:sp>
        <p:nvSpPr>
          <p:cNvPr id="5" name="Text 3"/>
          <p:cNvSpPr/>
          <p:nvPr/>
        </p:nvSpPr>
        <p:spPr>
          <a:xfrm>
            <a:off x="1143000" y="5367412"/>
            <a:ext cx="16361495"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A virtual environment gives each project its own Python and its own packages, in a folder you can delete. It is the same isolation idea as a container, one level down — and the reason a teammate reproduces your setup from one file instead of from your machine.</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5658832"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Create an isolated environment</a:t>
            </a:r>
            <a:endParaRPr lang="en-US" sz="2250" dirty="0"/>
          </a:p>
        </p:txBody>
      </p:sp>
      <p:sp>
        <p:nvSpPr>
          <p:cNvPr id="5" name="Text 3"/>
          <p:cNvSpPr/>
          <p:nvPr/>
        </p:nvSpPr>
        <p:spPr>
          <a:xfrm>
            <a:off x="6782693" y="1894136"/>
            <a:ext cx="716310"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bash</a:t>
            </a:r>
            <a:endParaRPr lang="en-US" sz="2100" dirty="0"/>
          </a:p>
        </p:txBody>
      </p:sp>
      <p:sp>
        <p:nvSpPr>
          <p:cNvPr id="6" name="Shape 4"/>
          <p:cNvSpPr/>
          <p:nvPr/>
        </p:nvSpPr>
        <p:spPr>
          <a:xfrm>
            <a:off x="1143000" y="2723852"/>
            <a:ext cx="16002000" cy="3543300"/>
          </a:xfrm>
          <a:prstGeom prst="rect">
            <a:avLst/>
          </a:prstGeom>
          <a:solidFill>
            <a:srgbClr val="EAE9E9"/>
          </a:solidFill>
          <a:ln/>
        </p:spPr>
        <p:txBody>
          <a:bodyPr/>
          <a:lstStyle/>
          <a:p>
            <a:endParaRPr lang="en-US"/>
          </a:p>
        </p:txBody>
      </p:sp>
      <p:sp>
        <p:nvSpPr>
          <p:cNvPr id="7" name="Text 5"/>
          <p:cNvSpPr/>
          <p:nvPr/>
        </p:nvSpPr>
        <p:spPr>
          <a:xfrm>
            <a:off x="1562100" y="3057227"/>
            <a:ext cx="4132319" cy="376238"/>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11F1C">
                    <a:alpha val="46000"/>
                  </a:srgbClr>
                </a:solidFill>
                <a:latin typeface="Courier New" pitchFamily="34" charset="0"/>
                <a:ea typeface="Courier New" pitchFamily="34" charset="-122"/>
                <a:cs typeface="Courier New" pitchFamily="34" charset="-120"/>
              </a:rPr>
              <a:t># start the project folder</a:t>
            </a:r>
            <a:endParaRPr lang="en-US" sz="2025" dirty="0"/>
          </a:p>
        </p:txBody>
      </p:sp>
      <p:sp>
        <p:nvSpPr>
          <p:cNvPr id="8" name="Text 6"/>
          <p:cNvSpPr/>
          <p:nvPr/>
        </p:nvSpPr>
        <p:spPr>
          <a:xfrm>
            <a:off x="1562100" y="3419177"/>
            <a:ext cx="5562695" cy="37623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mkdir loan-intake &amp;&amp; cd loan-intake</a:t>
            </a:r>
            <a:endParaRPr lang="en-US" sz="2025" dirty="0"/>
          </a:p>
        </p:txBody>
      </p:sp>
      <p:sp>
        <p:nvSpPr>
          <p:cNvPr id="9" name="Shape 7"/>
          <p:cNvSpPr/>
          <p:nvPr/>
        </p:nvSpPr>
        <p:spPr>
          <a:xfrm>
            <a:off x="1143000" y="3771602"/>
            <a:ext cx="16002000" cy="361950"/>
          </a:xfrm>
          <a:prstGeom prst="rect">
            <a:avLst/>
          </a:prstGeom>
          <a:solidFill>
            <a:srgbClr val="FFF2EF"/>
          </a:solidFill>
          <a:ln/>
        </p:spPr>
        <p:txBody>
          <a:bodyPr/>
          <a:lstStyle/>
          <a:p>
            <a:endParaRPr lang="en-US"/>
          </a:p>
        </p:txBody>
      </p:sp>
      <p:sp>
        <p:nvSpPr>
          <p:cNvPr id="10" name="Text 8"/>
          <p:cNvSpPr/>
          <p:nvPr/>
        </p:nvSpPr>
        <p:spPr>
          <a:xfrm>
            <a:off x="1562100" y="3771602"/>
            <a:ext cx="15643860" cy="400050"/>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01E1D"/>
                </a:solidFill>
                <a:highlight>
                  <a:srgbClr val="FFF2EF"/>
                </a:highlight>
                <a:latin typeface="Courier New" pitchFamily="34" charset="0"/>
                <a:ea typeface="Courier New" pitchFamily="34" charset="-122"/>
                <a:cs typeface="Courier New" pitchFamily="34" charset="-120"/>
              </a:rPr>
              <a:t>python -m venv .venv               </a:t>
            </a:r>
            <a:r>
              <a:rPr lang="en-US" sz="2025" dirty="0">
                <a:solidFill>
                  <a:srgbClr val="211F1C">
                    <a:alpha val="46000"/>
                  </a:srgbClr>
                </a:solidFill>
                <a:latin typeface="Courier New" pitchFamily="34" charset="0"/>
                <a:ea typeface="Courier New" pitchFamily="34" charset="-122"/>
                <a:cs typeface="Courier New" pitchFamily="34" charset="-120"/>
              </a:rPr>
              <a:t># make the environment</a:t>
            </a:r>
            <a:endParaRPr lang="en-US" sz="2025" dirty="0"/>
          </a:p>
        </p:txBody>
      </p:sp>
      <p:sp>
        <p:nvSpPr>
          <p:cNvPr id="11" name="Text 9"/>
          <p:cNvSpPr/>
          <p:nvPr/>
        </p:nvSpPr>
        <p:spPr>
          <a:xfrm>
            <a:off x="1562100" y="4505027"/>
            <a:ext cx="5562695" cy="37623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source .venv/bin/activate          </a:t>
            </a:r>
            <a:endParaRPr lang="en-US" sz="2025" dirty="0"/>
          </a:p>
        </p:txBody>
      </p:sp>
      <p:sp>
        <p:nvSpPr>
          <p:cNvPr id="12" name="Text 10"/>
          <p:cNvSpPr/>
          <p:nvPr/>
        </p:nvSpPr>
        <p:spPr>
          <a:xfrm>
            <a:off x="6962775" y="4505027"/>
            <a:ext cx="5244842" cy="376238"/>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11F1C">
                    <a:alpha val="46000"/>
                  </a:srgbClr>
                </a:solidFill>
                <a:latin typeface="Courier New" pitchFamily="34" charset="0"/>
                <a:ea typeface="Courier New" pitchFamily="34" charset="-122"/>
                <a:cs typeface="Courier New" pitchFamily="34" charset="-120"/>
              </a:rPr>
              <a:t># Windows: .venv\Scripts\activate</a:t>
            </a:r>
            <a:endParaRPr lang="en-US" sz="2025" dirty="0"/>
          </a:p>
        </p:txBody>
      </p:sp>
      <p:sp>
        <p:nvSpPr>
          <p:cNvPr id="13" name="Text 11"/>
          <p:cNvSpPr/>
          <p:nvPr/>
        </p:nvSpPr>
        <p:spPr>
          <a:xfrm>
            <a:off x="1562100" y="5228927"/>
            <a:ext cx="9695014" cy="73818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pip install fastapi "uvicorn[standard]" pydantic pytest httpx</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pip freeze &gt; requirements.txt      </a:t>
            </a:r>
            <a:endParaRPr lang="en-US" sz="2025" dirty="0"/>
          </a:p>
        </p:txBody>
      </p:sp>
      <p:sp>
        <p:nvSpPr>
          <p:cNvPr id="14" name="Text 12"/>
          <p:cNvSpPr/>
          <p:nvPr/>
        </p:nvSpPr>
        <p:spPr>
          <a:xfrm>
            <a:off x="6962775" y="5590877"/>
            <a:ext cx="3814466" cy="376238"/>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11F1C">
                    <a:alpha val="46000"/>
                  </a:srgbClr>
                </a:solidFill>
                <a:latin typeface="Courier New" pitchFamily="34" charset="0"/>
                <a:ea typeface="Courier New" pitchFamily="34" charset="-122"/>
                <a:cs typeface="Courier New" pitchFamily="34" charset="-120"/>
              </a:rPr>
              <a:t># capture exact versions</a:t>
            </a:r>
            <a:endParaRPr lang="en-US" sz="2025" dirty="0"/>
          </a:p>
        </p:txBody>
      </p:sp>
      <p:sp>
        <p:nvSpPr>
          <p:cNvPr id="15" name="Text 13"/>
          <p:cNvSpPr/>
          <p:nvPr/>
        </p:nvSpPr>
        <p:spPr>
          <a:xfrm>
            <a:off x="1143000" y="6559674"/>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The </a:t>
            </a:r>
            <a:r>
              <a:rPr lang="en-US" sz="2100" dirty="0">
                <a:solidFill>
                  <a:srgbClr val="AE1800"/>
                </a:solidFill>
                <a:latin typeface="Arial" pitchFamily="34" charset="0"/>
                <a:ea typeface="Arial" pitchFamily="34" charset="-122"/>
                <a:cs typeface="Arial" pitchFamily="34" charset="-120"/>
              </a:rPr>
              <a:t>venv is the project's Python</a:t>
            </a:r>
            <a:r>
              <a:rPr lang="en-US" sz="2100" dirty="0">
                <a:solidFill>
                  <a:srgbClr val="211D1D">
                    <a:alpha val="55000"/>
                  </a:srgbClr>
                </a:solidFill>
                <a:latin typeface="Arial" pitchFamily="34" charset="0"/>
                <a:ea typeface="Arial" pitchFamily="34" charset="-122"/>
                <a:cs typeface="Arial" pitchFamily="34" charset="-120"/>
              </a:rPr>
              <a:t>, not the machine's. Activating changes what </a:t>
            </a:r>
            <a:r>
              <a:rPr lang="en-US" sz="1875" dirty="0">
                <a:solidFill>
                  <a:srgbClr val="211D1D">
                    <a:alpha val="55000"/>
                  </a:srgbClr>
                </a:solidFill>
                <a:latin typeface="Courier New" pitchFamily="34" charset="0"/>
                <a:ea typeface="Courier New" pitchFamily="34" charset="-122"/>
                <a:cs typeface="Courier New" pitchFamily="34" charset="-120"/>
              </a:rPr>
              <a:t>python </a:t>
            </a:r>
            <a:r>
              <a:rPr lang="en-US" sz="2100" dirty="0">
                <a:solidFill>
                  <a:srgbClr val="211D1D">
                    <a:alpha val="55000"/>
                  </a:srgbClr>
                </a:solidFill>
                <a:latin typeface="Arial" pitchFamily="34" charset="0"/>
                <a:ea typeface="Arial" pitchFamily="34" charset="-122"/>
                <a:cs typeface="Arial" pitchFamily="34" charset="-120"/>
              </a:rPr>
              <a:t>and </a:t>
            </a:r>
            <a:r>
              <a:rPr lang="en-US" sz="1875" dirty="0">
                <a:solidFill>
                  <a:srgbClr val="211D1D">
                    <a:alpha val="55000"/>
                  </a:srgbClr>
                </a:solidFill>
                <a:latin typeface="Courier New" pitchFamily="34" charset="0"/>
                <a:ea typeface="Courier New" pitchFamily="34" charset="-122"/>
                <a:cs typeface="Courier New" pitchFamily="34" charset="-120"/>
              </a:rPr>
              <a:t>pip </a:t>
            </a:r>
            <a:r>
              <a:rPr lang="en-US" sz="2100" dirty="0">
                <a:solidFill>
                  <a:srgbClr val="211D1D">
                    <a:alpha val="55000"/>
                  </a:srgbClr>
                </a:solidFill>
                <a:latin typeface="Arial" pitchFamily="34" charset="0"/>
                <a:ea typeface="Arial" pitchFamily="34" charset="-122"/>
                <a:cs typeface="Arial" pitchFamily="34" charset="-120"/>
              </a:rPr>
              <a:t>mean in this shell — and nothing global is touched.</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 · DEEP DIVE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What activation actually does</a:t>
            </a:r>
            <a:endParaRPr lang="en-US" sz="48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743200"/>
            <a:ext cx="16002000" cy="4000500"/>
          </a:xfrm>
          <a:prstGeom prst="rect">
            <a:avLst/>
          </a:prstGeom>
        </p:spPr>
      </p:pic>
      <p:sp>
        <p:nvSpPr>
          <p:cNvPr id="5" name="Text 2"/>
          <p:cNvSpPr/>
          <p:nvPr/>
        </p:nvSpPr>
        <p:spPr>
          <a:xfrm>
            <a:off x="1143000" y="7494687"/>
            <a:ext cx="12922827" cy="658639"/>
          </a:xfrm>
          <a:prstGeom prst="rect">
            <a:avLst/>
          </a:prstGeom>
          <a:noFill/>
          <a:ln/>
        </p:spPr>
        <p:txBody>
          <a:bodyPr wrap="square" lIns="25400" tIns="25400" rIns="25400" bIns="25400" rtlCol="0" anchor="t">
            <a:normAutofit/>
          </a:bodyPr>
          <a:lstStyle/>
          <a:p>
            <a:pPr marL="0" indent="0" algn="l">
              <a:lnSpc>
                <a:spcPct val="165517"/>
              </a:lnSpc>
              <a:buNone/>
            </a:pPr>
            <a:r>
              <a:rPr lang="en-US" sz="1875" dirty="0">
                <a:solidFill>
                  <a:srgbClr val="211D1D">
                    <a:alpha val="55000"/>
                  </a:srgbClr>
                </a:solidFill>
                <a:latin typeface="Arial" pitchFamily="34" charset="0"/>
                <a:ea typeface="Arial" pitchFamily="34" charset="-122"/>
                <a:cs typeface="Arial" pitchFamily="34" charset="-120"/>
              </a:rPr>
              <a:t>Creation copies a Python into </a:t>
            </a:r>
            <a:r>
              <a:rPr lang="en-US" sz="1875" dirty="0">
                <a:solidFill>
                  <a:srgbClr val="211D1D">
                    <a:alpha val="55000"/>
                  </a:srgbClr>
                </a:solidFill>
                <a:latin typeface="Courier New" pitchFamily="34" charset="0"/>
                <a:ea typeface="Courier New" pitchFamily="34" charset="-122"/>
                <a:cs typeface="Courier New" pitchFamily="34" charset="-120"/>
              </a:rPr>
              <a:t>.venv/</a:t>
            </a:r>
            <a:r>
              <a:rPr lang="en-US" sz="1875" dirty="0">
                <a:solidFill>
                  <a:srgbClr val="211D1D">
                    <a:alpha val="55000"/>
                  </a:srgbClr>
                </a:solidFill>
                <a:latin typeface="Arial" pitchFamily="34" charset="0"/>
                <a:ea typeface="Arial" pitchFamily="34" charset="-122"/>
                <a:cs typeface="Arial" pitchFamily="34" charset="-120"/>
              </a:rPr>
              <a:t>; activation just points your shell's </a:t>
            </a:r>
            <a:r>
              <a:rPr lang="en-US" sz="1875" dirty="0">
                <a:solidFill>
                  <a:srgbClr val="211D1D">
                    <a:alpha val="55000"/>
                  </a:srgbClr>
                </a:solidFill>
                <a:latin typeface="Courier New" pitchFamily="34" charset="0"/>
                <a:ea typeface="Courier New" pitchFamily="34" charset="-122"/>
                <a:cs typeface="Courier New" pitchFamily="34" charset="-120"/>
              </a:rPr>
              <a:t>python </a:t>
            </a:r>
            <a:r>
              <a:rPr lang="en-US" sz="1875" dirty="0">
                <a:solidFill>
                  <a:srgbClr val="211D1D">
                    <a:alpha val="55000"/>
                  </a:srgbClr>
                </a:solidFill>
                <a:latin typeface="Arial" pitchFamily="34" charset="0"/>
                <a:ea typeface="Arial" pitchFamily="34" charset="-122"/>
                <a:cs typeface="Arial" pitchFamily="34" charset="-120"/>
              </a:rPr>
              <a:t>and </a:t>
            </a:r>
            <a:r>
              <a:rPr lang="en-US" sz="1875" dirty="0">
                <a:solidFill>
                  <a:srgbClr val="211D1D">
                    <a:alpha val="55000"/>
                  </a:srgbClr>
                </a:solidFill>
                <a:latin typeface="Courier New" pitchFamily="34" charset="0"/>
                <a:ea typeface="Courier New" pitchFamily="34" charset="-122"/>
                <a:cs typeface="Courier New" pitchFamily="34" charset="-120"/>
              </a:rPr>
              <a:t>pip </a:t>
            </a:r>
            <a:r>
              <a:rPr lang="en-US" sz="1875" dirty="0">
                <a:solidFill>
                  <a:srgbClr val="211D1D">
                    <a:alpha val="55000"/>
                  </a:srgbClr>
                </a:solidFill>
                <a:latin typeface="Arial" pitchFamily="34" charset="0"/>
                <a:ea typeface="Arial" pitchFamily="34" charset="-122"/>
                <a:cs typeface="Arial" pitchFamily="34" charset="-120"/>
              </a:rPr>
              <a:t>at it. The machine's Python is never modified — which is exactly why deleting the folder is a clean uninstall.</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3018011"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requirements.txt</a:t>
            </a:r>
            <a:endParaRPr lang="en-US" sz="2250" dirty="0"/>
          </a:p>
        </p:txBody>
      </p:sp>
      <p:sp>
        <p:nvSpPr>
          <p:cNvPr id="5" name="Text 3"/>
          <p:cNvSpPr/>
          <p:nvPr/>
        </p:nvSpPr>
        <p:spPr>
          <a:xfrm>
            <a:off x="4381946" y="1894136"/>
            <a:ext cx="4752610"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how the environment travels</a:t>
            </a:r>
            <a:endParaRPr lang="en-US" sz="2100" dirty="0"/>
          </a:p>
        </p:txBody>
      </p:sp>
      <p:sp>
        <p:nvSpPr>
          <p:cNvPr id="6" name="Shape 4"/>
          <p:cNvSpPr/>
          <p:nvPr/>
        </p:nvSpPr>
        <p:spPr>
          <a:xfrm>
            <a:off x="1143000" y="2723852"/>
            <a:ext cx="16002000" cy="2819400"/>
          </a:xfrm>
          <a:prstGeom prst="rect">
            <a:avLst/>
          </a:prstGeom>
          <a:solidFill>
            <a:srgbClr val="EAE9E9"/>
          </a:solidFill>
          <a:ln/>
        </p:spPr>
        <p:txBody>
          <a:bodyPr/>
          <a:lstStyle/>
          <a:p>
            <a:endParaRPr lang="en-US"/>
          </a:p>
        </p:txBody>
      </p:sp>
      <p:sp>
        <p:nvSpPr>
          <p:cNvPr id="7" name="Text 5"/>
          <p:cNvSpPr/>
          <p:nvPr/>
        </p:nvSpPr>
        <p:spPr>
          <a:xfrm>
            <a:off x="1562100" y="3047702"/>
            <a:ext cx="15643860" cy="2209800"/>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11F1C">
                    <a:alpha val="46000"/>
                  </a:srgbClr>
                </a:solidFill>
                <a:latin typeface="Courier New" pitchFamily="34" charset="0"/>
                <a:ea typeface="Courier New" pitchFamily="34" charset="-122"/>
                <a:cs typeface="Courier New" pitchFamily="34" charset="-120"/>
              </a:rPr>
              <a:t>$ pip freeze &gt; requirements.txt$ cat requirements.txt </a:t>
            </a:r>
            <a:r>
              <a:rPr lang="en-US" sz="2025" dirty="0">
                <a:solidFill>
                  <a:srgbClr val="201E1D"/>
                </a:solidFill>
                <a:highlight>
                  <a:srgbClr val="EAE9E9"/>
                </a:highlight>
                <a:latin typeface="Courier New" pitchFamily="34" charset="0"/>
                <a:ea typeface="Courier New" pitchFamily="34" charset="-122"/>
                <a:cs typeface="Courier New" pitchFamily="34" charset="-120"/>
              </a:rPr>
              <a:t>fastapi==0.115.0</a:t>
            </a:r>
            <a:endParaRPr lang="en-US" sz="2025" dirty="0"/>
          </a:p>
          <a:p>
            <a:pPr marL="0" indent="0" algn="l">
              <a:lnSpc>
                <a:spcPct val="124590"/>
              </a:lnSpc>
              <a:buNone/>
            </a:pPr>
            <a:r>
              <a:rPr lang="en-US" sz="2025" dirty="0">
                <a:solidFill>
                  <a:srgbClr val="201E1D"/>
                </a:solidFill>
                <a:highlight>
                  <a:srgbClr val="EAE9E9"/>
                </a:highlight>
                <a:latin typeface="Courier New" pitchFamily="34" charset="0"/>
                <a:ea typeface="Courier New" pitchFamily="34" charset="-122"/>
                <a:cs typeface="Courier New" pitchFamily="34" charset="-120"/>
              </a:rPr>
              <a:t>uvicorn==0.30.6</a:t>
            </a:r>
            <a:endParaRPr lang="en-US" sz="2025" dirty="0"/>
          </a:p>
          <a:p>
            <a:pPr marL="0" indent="0" algn="l">
              <a:lnSpc>
                <a:spcPct val="124590"/>
              </a:lnSpc>
              <a:buNone/>
            </a:pPr>
            <a:r>
              <a:rPr lang="en-US" sz="2025" dirty="0">
                <a:solidFill>
                  <a:srgbClr val="201E1D"/>
                </a:solidFill>
                <a:highlight>
                  <a:srgbClr val="EAE9E9"/>
                </a:highlight>
                <a:latin typeface="Courier New" pitchFamily="34" charset="0"/>
                <a:ea typeface="Courier New" pitchFamily="34" charset="-122"/>
                <a:cs typeface="Courier New" pitchFamily="34" charset="-120"/>
              </a:rPr>
              <a:t>pydantic==2.9.2</a:t>
            </a:r>
            <a:endParaRPr lang="en-US" sz="2025" dirty="0"/>
          </a:p>
          <a:p>
            <a:pPr marL="0" indent="0" algn="l">
              <a:lnSpc>
                <a:spcPct val="124590"/>
              </a:lnSpc>
              <a:buNone/>
            </a:pPr>
            <a:r>
              <a:rPr lang="en-US" sz="2025" dirty="0">
                <a:solidFill>
                  <a:srgbClr val="201E1D"/>
                </a:solidFill>
                <a:highlight>
                  <a:srgbClr val="EAE9E9"/>
                </a:highlight>
                <a:latin typeface="Courier New" pitchFamily="34" charset="0"/>
                <a:ea typeface="Courier New" pitchFamily="34" charset="-122"/>
                <a:cs typeface="Courier New" pitchFamily="34" charset="-120"/>
              </a:rPr>
              <a:t>pytest==8.3.3</a:t>
            </a:r>
            <a:endParaRPr lang="en-US" sz="2025" dirty="0"/>
          </a:p>
          <a:p>
            <a:pPr marL="0" indent="0" algn="l">
              <a:lnSpc>
                <a:spcPct val="124590"/>
              </a:lnSpc>
              <a:buNone/>
            </a:pPr>
            <a:r>
              <a:rPr lang="en-US" sz="2025" dirty="0">
                <a:solidFill>
                  <a:srgbClr val="201E1D"/>
                </a:solidFill>
                <a:highlight>
                  <a:srgbClr val="EAE9E9"/>
                </a:highlight>
                <a:latin typeface="Courier New" pitchFamily="34" charset="0"/>
                <a:ea typeface="Courier New" pitchFamily="34" charset="-122"/>
                <a:cs typeface="Courier New" pitchFamily="34" charset="-120"/>
              </a:rPr>
              <a:t>httpx==0.27.2</a:t>
            </a:r>
            <a:endParaRPr lang="en-US" sz="2025" dirty="0"/>
          </a:p>
        </p:txBody>
      </p:sp>
      <p:sp>
        <p:nvSpPr>
          <p:cNvPr id="8" name="Text 6"/>
          <p:cNvSpPr/>
          <p:nvPr/>
        </p:nvSpPr>
        <p:spPr>
          <a:xfrm>
            <a:off x="1143000" y="5835774"/>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This file is how the environment travels. A teammate runs </a:t>
            </a:r>
            <a:r>
              <a:rPr lang="en-US" sz="1875" dirty="0">
                <a:solidFill>
                  <a:srgbClr val="211D1D">
                    <a:alpha val="55000"/>
                  </a:srgbClr>
                </a:solidFill>
                <a:latin typeface="Courier New" pitchFamily="34" charset="0"/>
                <a:ea typeface="Courier New" pitchFamily="34" charset="-122"/>
                <a:cs typeface="Courier New" pitchFamily="34" charset="-120"/>
              </a:rPr>
              <a:t>pip install -r requirements.txt </a:t>
            </a:r>
            <a:r>
              <a:rPr lang="en-US" sz="2100" dirty="0">
                <a:solidFill>
                  <a:srgbClr val="211D1D">
                    <a:alpha val="55000"/>
                  </a:srgbClr>
                </a:solidFill>
                <a:latin typeface="Arial" pitchFamily="34" charset="0"/>
                <a:ea typeface="Arial" pitchFamily="34" charset="-122"/>
                <a:cs typeface="Arial" pitchFamily="34" charset="-120"/>
              </a:rPr>
              <a:t>and gets your exact versions; </a:t>
            </a:r>
            <a:r>
              <a:rPr lang="en-US" sz="2100" dirty="0">
                <a:solidFill>
                  <a:srgbClr val="AE1800"/>
                </a:solidFill>
                <a:latin typeface="Arial" pitchFamily="34" charset="0"/>
                <a:ea typeface="Arial" pitchFamily="34" charset="-122"/>
                <a:cs typeface="Arial" pitchFamily="34" charset="-120"/>
              </a:rPr>
              <a:t>Docker replays the same file </a:t>
            </a:r>
            <a:r>
              <a:rPr lang="en-US" sz="2100" dirty="0">
                <a:solidFill>
                  <a:srgbClr val="211D1D">
                    <a:alpha val="55000"/>
                  </a:srgbClr>
                </a:solidFill>
                <a:latin typeface="Arial" pitchFamily="34" charset="0"/>
                <a:ea typeface="Arial" pitchFamily="34" charset="-122"/>
                <a:cs typeface="Arial" pitchFamily="34" charset="-120"/>
              </a:rPr>
              <a:t>at the checkpoint. Reproducibility from one text file — not a screenshot of your setup.</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5092965"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Show the failure mode, once</a:t>
            </a:r>
            <a:endParaRPr lang="en-US" sz="2250" dirty="0"/>
          </a:p>
        </p:txBody>
      </p:sp>
      <p:sp>
        <p:nvSpPr>
          <p:cNvPr id="5" name="Text 3"/>
          <p:cNvSpPr/>
          <p:nvPr/>
        </p:nvSpPr>
        <p:spPr>
          <a:xfrm>
            <a:off x="6268269" y="1894136"/>
            <a:ext cx="1760220"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on purpose</a:t>
            </a:r>
            <a:endParaRPr lang="en-US" sz="2100" dirty="0"/>
          </a:p>
        </p:txBody>
      </p:sp>
      <p:sp>
        <p:nvSpPr>
          <p:cNvPr id="6" name="Shape 4"/>
          <p:cNvSpPr/>
          <p:nvPr/>
        </p:nvSpPr>
        <p:spPr>
          <a:xfrm>
            <a:off x="1143000" y="2723852"/>
            <a:ext cx="16002000" cy="3181350"/>
          </a:xfrm>
          <a:prstGeom prst="rect">
            <a:avLst/>
          </a:prstGeom>
          <a:solidFill>
            <a:srgbClr val="EAE9E9"/>
          </a:solidFill>
          <a:ln/>
        </p:spPr>
        <p:txBody>
          <a:bodyPr/>
          <a:lstStyle/>
          <a:p>
            <a:endParaRPr lang="en-US"/>
          </a:p>
        </p:txBody>
      </p:sp>
      <p:sp>
        <p:nvSpPr>
          <p:cNvPr id="7" name="Text 5"/>
          <p:cNvSpPr/>
          <p:nvPr/>
        </p:nvSpPr>
        <p:spPr>
          <a:xfrm>
            <a:off x="1562100" y="3057227"/>
            <a:ext cx="4132319" cy="376238"/>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11F1C">
                    <a:alpha val="46000"/>
                  </a:srgbClr>
                </a:solidFill>
                <a:latin typeface="Courier New" pitchFamily="34" charset="0"/>
                <a:ea typeface="Courier New" pitchFamily="34" charset="-122"/>
                <a:cs typeface="Courier New" pitchFamily="34" charset="-120"/>
              </a:rPr>
              <a:t># leave the environment...</a:t>
            </a:r>
            <a:endParaRPr lang="en-US" sz="2025" dirty="0"/>
          </a:p>
        </p:txBody>
      </p:sp>
      <p:sp>
        <p:nvSpPr>
          <p:cNvPr id="8" name="Text 6"/>
          <p:cNvSpPr/>
          <p:nvPr/>
        </p:nvSpPr>
        <p:spPr>
          <a:xfrm>
            <a:off x="1562100" y="3419177"/>
            <a:ext cx="4450172" cy="73818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deactivate</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python -c "import fastapi"</a:t>
            </a:r>
            <a:endParaRPr lang="en-US" sz="2025" dirty="0"/>
          </a:p>
        </p:txBody>
      </p:sp>
      <p:sp>
        <p:nvSpPr>
          <p:cNvPr id="9" name="Shape 7"/>
          <p:cNvSpPr/>
          <p:nvPr/>
        </p:nvSpPr>
        <p:spPr>
          <a:xfrm>
            <a:off x="1143000" y="4133552"/>
            <a:ext cx="16002000" cy="361950"/>
          </a:xfrm>
          <a:prstGeom prst="rect">
            <a:avLst/>
          </a:prstGeom>
          <a:solidFill>
            <a:srgbClr val="FFF2EF"/>
          </a:solidFill>
          <a:ln/>
        </p:spPr>
        <p:txBody>
          <a:bodyPr/>
          <a:lstStyle/>
          <a:p>
            <a:endParaRPr lang="en-US"/>
          </a:p>
        </p:txBody>
      </p:sp>
      <p:sp>
        <p:nvSpPr>
          <p:cNvPr id="10" name="Text 8"/>
          <p:cNvSpPr/>
          <p:nvPr/>
        </p:nvSpPr>
        <p:spPr>
          <a:xfrm>
            <a:off x="1562100" y="4133552"/>
            <a:ext cx="15643860" cy="400050"/>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ModuleNotFoundError: No module named 'fastapi'</a:t>
            </a:r>
            <a:endParaRPr lang="en-US" sz="2025" dirty="0"/>
          </a:p>
        </p:txBody>
      </p:sp>
      <p:sp>
        <p:nvSpPr>
          <p:cNvPr id="11" name="Text 9"/>
          <p:cNvSpPr/>
          <p:nvPr/>
        </p:nvSpPr>
        <p:spPr>
          <a:xfrm>
            <a:off x="1562100" y="4505027"/>
            <a:ext cx="7311002" cy="376238"/>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11F1C">
                    <a:alpha val="46000"/>
                  </a:srgbClr>
                </a:solidFill>
                <a:latin typeface="Courier New" pitchFamily="34" charset="0"/>
                <a:ea typeface="Courier New" pitchFamily="34" charset="-122"/>
                <a:cs typeface="Courier New" pitchFamily="34" charset="-120"/>
              </a:rPr>
              <a:t># ...re-activate and the import succeeds again</a:t>
            </a:r>
            <a:endParaRPr lang="en-US" sz="2025" dirty="0"/>
          </a:p>
        </p:txBody>
      </p:sp>
      <p:sp>
        <p:nvSpPr>
          <p:cNvPr id="12" name="Text 10"/>
          <p:cNvSpPr/>
          <p:nvPr/>
        </p:nvSpPr>
        <p:spPr>
          <a:xfrm>
            <a:off x="1562100" y="4866977"/>
            <a:ext cx="5721660" cy="73818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source .venv/bin/activate</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python -c "import fastapi"        </a:t>
            </a:r>
            <a:endParaRPr lang="en-US" sz="2025" dirty="0"/>
          </a:p>
        </p:txBody>
      </p:sp>
      <p:sp>
        <p:nvSpPr>
          <p:cNvPr id="13" name="Text 11"/>
          <p:cNvSpPr/>
          <p:nvPr/>
        </p:nvSpPr>
        <p:spPr>
          <a:xfrm>
            <a:off x="7117110" y="5228927"/>
            <a:ext cx="3337648" cy="376238"/>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11F1C">
                    <a:alpha val="46000"/>
                  </a:srgbClr>
                </a:solidFill>
                <a:latin typeface="Courier New" pitchFamily="34" charset="0"/>
                <a:ea typeface="Courier New" pitchFamily="34" charset="-122"/>
                <a:cs typeface="Courier New" pitchFamily="34" charset="-120"/>
              </a:rPr>
              <a:t># no output = success</a:t>
            </a:r>
            <a:endParaRPr lang="en-US" sz="2025" dirty="0"/>
          </a:p>
        </p:txBody>
      </p:sp>
      <p:sp>
        <p:nvSpPr>
          <p:cNvPr id="14" name="Text 12"/>
          <p:cNvSpPr/>
          <p:nvPr/>
        </p:nvSpPr>
        <p:spPr>
          <a:xfrm>
            <a:off x="1143000" y="6197724"/>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Deactivating drops you back to the machine's Python, which never saw your </a:t>
            </a:r>
            <a:r>
              <a:rPr lang="en-US" sz="1875" dirty="0">
                <a:solidFill>
                  <a:srgbClr val="211D1D">
                    <a:alpha val="55000"/>
                  </a:srgbClr>
                </a:solidFill>
                <a:latin typeface="Courier New" pitchFamily="34" charset="0"/>
                <a:ea typeface="Courier New" pitchFamily="34" charset="-122"/>
                <a:cs typeface="Courier New" pitchFamily="34" charset="-120"/>
              </a:rPr>
              <a:t>pip install</a:t>
            </a:r>
            <a:r>
              <a:rPr lang="en-US" sz="2100" dirty="0">
                <a:solidFill>
                  <a:srgbClr val="211D1D">
                    <a:alpha val="55000"/>
                  </a:srgbClr>
                </a:solidFill>
                <a:latin typeface="Arial" pitchFamily="34" charset="0"/>
                <a:ea typeface="Arial" pitchFamily="34" charset="-122"/>
                <a:cs typeface="Arial" pitchFamily="34" charset="-120"/>
              </a:rPr>
              <a:t>. That contrast — </a:t>
            </a:r>
            <a:r>
              <a:rPr lang="en-US" sz="2100" dirty="0">
                <a:solidFill>
                  <a:srgbClr val="AE1800"/>
                </a:solidFill>
                <a:latin typeface="Arial" pitchFamily="34" charset="0"/>
                <a:ea typeface="Arial" pitchFamily="34" charset="-122"/>
                <a:cs typeface="Arial" pitchFamily="34" charset="-120"/>
              </a:rPr>
              <a:t>works inside, fails outside </a:t>
            </a:r>
            <a:r>
              <a:rPr lang="en-US" sz="2100" dirty="0">
                <a:solidFill>
                  <a:srgbClr val="211D1D">
                    <a:alpha val="55000"/>
                  </a:srgbClr>
                </a:solidFill>
                <a:latin typeface="Arial" pitchFamily="34" charset="0"/>
                <a:ea typeface="Arial" pitchFamily="34" charset="-122"/>
                <a:cs typeface="Arial" pitchFamily="34" charset="-120"/>
              </a:rPr>
              <a:t>— is the entire lesson about isolation, seen once.</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 · COMMON MISTAKES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virtual environments trip people</a:t>
            </a:r>
            <a:endParaRPr lang="en-US" sz="4800" dirty="0"/>
          </a:p>
        </p:txBody>
      </p:sp>
      <p:sp>
        <p:nvSpPr>
          <p:cNvPr id="4" name="Shape 2"/>
          <p:cNvSpPr/>
          <p:nvPr/>
        </p:nvSpPr>
        <p:spPr>
          <a:xfrm>
            <a:off x="1143000" y="3200400"/>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466978"/>
            <a:ext cx="16002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751734"/>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7" name="Text 5"/>
          <p:cNvSpPr/>
          <p:nvPr/>
        </p:nvSpPr>
        <p:spPr>
          <a:xfrm>
            <a:off x="1224360" y="4261359"/>
            <a:ext cx="5106879" cy="328613"/>
          </a:xfrm>
          <a:prstGeom prst="rect">
            <a:avLst/>
          </a:prstGeom>
          <a:noFill/>
          <a:ln/>
        </p:spPr>
        <p:txBody>
          <a:bodyPr wrap="square" lIns="0" tIns="0" rIns="0" bIns="0" rtlCol="0" anchor="t">
            <a:normAutofit fontScale="85000" lnSpcReduction="20000"/>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Forgetting to activate, then wondering why</a:t>
            </a:r>
            <a:endParaRPr lang="en-US" sz="2100" dirty="0"/>
          </a:p>
        </p:txBody>
      </p:sp>
      <p:sp>
        <p:nvSpPr>
          <p:cNvPr id="8" name="Text 6"/>
          <p:cNvSpPr/>
          <p:nvPr/>
        </p:nvSpPr>
        <p:spPr>
          <a:xfrm>
            <a:off x="5590274" y="4174494"/>
            <a:ext cx="925934" cy="426435"/>
          </a:xfrm>
          <a:prstGeom prst="rect">
            <a:avLst/>
          </a:prstGeom>
          <a:noFill/>
          <a:ln/>
        </p:spPr>
        <p:txBody>
          <a:bodyPr wrap="square" lIns="25400" tIns="25400" rIns="25400" bIns="25400" rtlCol="0" anchor="t">
            <a:normAutofit fontScale="92500" lnSpcReduction="10000"/>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import</a:t>
            </a:r>
            <a:endParaRPr lang="en-US" sz="1890" dirty="0"/>
          </a:p>
        </p:txBody>
      </p:sp>
      <p:sp>
        <p:nvSpPr>
          <p:cNvPr id="9" name="Text 7"/>
          <p:cNvSpPr/>
          <p:nvPr/>
        </p:nvSpPr>
        <p:spPr>
          <a:xfrm>
            <a:off x="1224360" y="4525825"/>
            <a:ext cx="7329780"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fails or the wrong version runs.</a:t>
            </a:r>
            <a:endParaRPr lang="en-US" sz="2100" dirty="0"/>
          </a:p>
        </p:txBody>
      </p:sp>
      <p:sp>
        <p:nvSpPr>
          <p:cNvPr id="10" name="Text 8"/>
          <p:cNvSpPr/>
          <p:nvPr/>
        </p:nvSpPr>
        <p:spPr>
          <a:xfrm>
            <a:off x="9448800" y="3751734"/>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11" name="Text 9"/>
          <p:cNvSpPr/>
          <p:nvPr/>
        </p:nvSpPr>
        <p:spPr>
          <a:xfrm>
            <a:off x="9448800" y="4244132"/>
            <a:ext cx="3000787"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Check the prompt shows</a:t>
            </a:r>
            <a:endParaRPr lang="en-US" sz="2100" dirty="0"/>
          </a:p>
        </p:txBody>
      </p:sp>
      <p:sp>
        <p:nvSpPr>
          <p:cNvPr id="12" name="Text 10"/>
          <p:cNvSpPr/>
          <p:nvPr/>
        </p:nvSpPr>
        <p:spPr>
          <a:xfrm>
            <a:off x="12417996" y="4234607"/>
            <a:ext cx="1067544"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(.venv)</a:t>
            </a:r>
            <a:endParaRPr lang="en-US" sz="1890" dirty="0"/>
          </a:p>
        </p:txBody>
      </p:sp>
      <p:sp>
        <p:nvSpPr>
          <p:cNvPr id="13" name="Text 11"/>
          <p:cNvSpPr/>
          <p:nvPr/>
        </p:nvSpPr>
        <p:spPr>
          <a:xfrm>
            <a:off x="9484952" y="4680982"/>
            <a:ext cx="7676732"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If not, activate before installing  or running anything.</a:t>
            </a:r>
            <a:endParaRPr lang="en-US" sz="2100" dirty="0"/>
          </a:p>
        </p:txBody>
      </p:sp>
      <p:sp>
        <p:nvSpPr>
          <p:cNvPr id="14" name="Shape 12"/>
          <p:cNvSpPr/>
          <p:nvPr/>
        </p:nvSpPr>
        <p:spPr>
          <a:xfrm>
            <a:off x="1143000" y="7733556"/>
            <a:ext cx="16002000" cy="19050"/>
          </a:xfrm>
          <a:prstGeom prst="rect">
            <a:avLst/>
          </a:prstGeom>
          <a:solidFill>
            <a:srgbClr val="201E1E">
              <a:alpha val="40000"/>
            </a:srgbClr>
          </a:solidFill>
          <a:ln/>
        </p:spPr>
        <p:txBody>
          <a:bodyPr/>
          <a:lstStyle/>
          <a:p>
            <a:endParaRPr lang="en-US"/>
          </a:p>
        </p:txBody>
      </p:sp>
      <p:sp>
        <p:nvSpPr>
          <p:cNvPr id="15" name="Text 13"/>
          <p:cNvSpPr/>
          <p:nvPr/>
        </p:nvSpPr>
        <p:spPr>
          <a:xfrm>
            <a:off x="1143000" y="6018312"/>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16" name="Text 14"/>
          <p:cNvSpPr/>
          <p:nvPr/>
        </p:nvSpPr>
        <p:spPr>
          <a:xfrm>
            <a:off x="1143000" y="6510710"/>
            <a:ext cx="1457920"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Committing</a:t>
            </a:r>
            <a:endParaRPr lang="en-US" sz="2100" dirty="0"/>
          </a:p>
        </p:txBody>
      </p:sp>
      <p:sp>
        <p:nvSpPr>
          <p:cNvPr id="17" name="Text 15"/>
          <p:cNvSpPr/>
          <p:nvPr/>
        </p:nvSpPr>
        <p:spPr>
          <a:xfrm>
            <a:off x="2580531" y="6501185"/>
            <a:ext cx="925934"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.venv/</a:t>
            </a:r>
            <a:endParaRPr lang="en-US" sz="1890" dirty="0"/>
          </a:p>
        </p:txBody>
      </p:sp>
      <p:sp>
        <p:nvSpPr>
          <p:cNvPr id="18" name="Text 16"/>
          <p:cNvSpPr/>
          <p:nvPr/>
        </p:nvSpPr>
        <p:spPr>
          <a:xfrm>
            <a:off x="1143000" y="6828394"/>
            <a:ext cx="7127510"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to Git — thousands of platform-specific binary files.</a:t>
            </a:r>
            <a:endParaRPr lang="en-US" sz="2100" dirty="0"/>
          </a:p>
        </p:txBody>
      </p:sp>
      <p:sp>
        <p:nvSpPr>
          <p:cNvPr id="19" name="Text 17"/>
          <p:cNvSpPr/>
          <p:nvPr/>
        </p:nvSpPr>
        <p:spPr>
          <a:xfrm>
            <a:off x="9448800" y="6018312"/>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20" name="Text 18"/>
          <p:cNvSpPr/>
          <p:nvPr/>
        </p:nvSpPr>
        <p:spPr>
          <a:xfrm>
            <a:off x="9448800" y="6510710"/>
            <a:ext cx="1020217"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Commit</a:t>
            </a:r>
            <a:endParaRPr lang="en-US" sz="2100" dirty="0"/>
          </a:p>
        </p:txBody>
      </p:sp>
      <p:sp>
        <p:nvSpPr>
          <p:cNvPr id="21" name="Text 19"/>
          <p:cNvSpPr/>
          <p:nvPr/>
        </p:nvSpPr>
        <p:spPr>
          <a:xfrm>
            <a:off x="10448627" y="6501185"/>
            <a:ext cx="2492499"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requirements.txt</a:t>
            </a:r>
            <a:endParaRPr lang="en-US" sz="1890" dirty="0"/>
          </a:p>
        </p:txBody>
      </p:sp>
      <p:sp>
        <p:nvSpPr>
          <p:cNvPr id="22" name="Text 20"/>
          <p:cNvSpPr/>
          <p:nvPr/>
        </p:nvSpPr>
        <p:spPr>
          <a:xfrm>
            <a:off x="12770272" y="6510710"/>
            <a:ext cx="1026096"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and add</a:t>
            </a:r>
            <a:endParaRPr lang="en-US" sz="2100" dirty="0"/>
          </a:p>
        </p:txBody>
      </p:sp>
      <p:sp>
        <p:nvSpPr>
          <p:cNvPr id="23" name="Text 21"/>
          <p:cNvSpPr/>
          <p:nvPr/>
        </p:nvSpPr>
        <p:spPr>
          <a:xfrm>
            <a:off x="13775978" y="6501185"/>
            <a:ext cx="925934"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.venv/</a:t>
            </a:r>
            <a:endParaRPr lang="en-US" sz="1890" dirty="0"/>
          </a:p>
        </p:txBody>
      </p:sp>
      <p:sp>
        <p:nvSpPr>
          <p:cNvPr id="24" name="Text 22"/>
          <p:cNvSpPr/>
          <p:nvPr/>
        </p:nvSpPr>
        <p:spPr>
          <a:xfrm>
            <a:off x="14681448" y="6510710"/>
            <a:ext cx="307404"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to</a:t>
            </a:r>
            <a:endParaRPr lang="en-US" sz="2100" dirty="0"/>
          </a:p>
        </p:txBody>
      </p:sp>
      <p:sp>
        <p:nvSpPr>
          <p:cNvPr id="25" name="Text 23"/>
          <p:cNvSpPr/>
          <p:nvPr/>
        </p:nvSpPr>
        <p:spPr>
          <a:xfrm>
            <a:off x="14951934" y="6491946"/>
            <a:ext cx="1658162" cy="543559"/>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a:t>
            </a:r>
            <a:r>
              <a:rPr lang="en-US" sz="1890" kern="0" spc="-19" dirty="0" err="1">
                <a:solidFill>
                  <a:srgbClr val="201E1D"/>
                </a:solidFill>
                <a:latin typeface="Courier New" pitchFamily="34" charset="0"/>
                <a:ea typeface="Courier New" pitchFamily="34" charset="-122"/>
                <a:cs typeface="Courier New" pitchFamily="34" charset="-120"/>
              </a:rPr>
              <a:t>gitignore</a:t>
            </a:r>
            <a:r>
              <a:rPr lang="en-US" sz="1890" kern="0" spc="-19" dirty="0">
                <a:solidFill>
                  <a:srgbClr val="201E1D"/>
                </a:solidFill>
                <a:latin typeface="Courier New" pitchFamily="34" charset="0"/>
                <a:ea typeface="Courier New" pitchFamily="34" charset="-122"/>
                <a:cs typeface="Courier New" pitchFamily="34" charset="-120"/>
              </a:rPr>
              <a:t>.</a:t>
            </a:r>
            <a:endParaRPr lang="en-US" sz="1890" dirty="0"/>
          </a:p>
        </p:txBody>
      </p:sp>
      <p:sp>
        <p:nvSpPr>
          <p:cNvPr id="26" name="Text 24"/>
          <p:cNvSpPr/>
          <p:nvPr/>
        </p:nvSpPr>
        <p:spPr>
          <a:xfrm>
            <a:off x="9484952" y="7013305"/>
            <a:ext cx="7749036"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recipe travels, not the build.</a:t>
            </a:r>
            <a:endParaRPr lang="en-US" sz="2100" dirty="0"/>
          </a:p>
        </p:txBody>
      </p:sp>
      <p:sp>
        <p:nvSpPr>
          <p:cNvPr id="27" name="Shape 25"/>
          <p:cNvSpPr/>
          <p:nvPr/>
        </p:nvSpPr>
        <p:spPr>
          <a:xfrm>
            <a:off x="1143000" y="10000134"/>
            <a:ext cx="16002000" cy="19050"/>
          </a:xfrm>
          <a:prstGeom prst="rect">
            <a:avLst/>
          </a:prstGeom>
          <a:solidFill>
            <a:srgbClr val="201E1E">
              <a:alpha val="40000"/>
            </a:srgbClr>
          </a:solidFill>
          <a:ln/>
        </p:spPr>
        <p:txBody>
          <a:bodyPr/>
          <a:lstStyle/>
          <a:p>
            <a:endParaRPr lang="en-US"/>
          </a:p>
        </p:txBody>
      </p:sp>
      <p:sp>
        <p:nvSpPr>
          <p:cNvPr id="28" name="Text 26"/>
          <p:cNvSpPr/>
          <p:nvPr/>
        </p:nvSpPr>
        <p:spPr>
          <a:xfrm>
            <a:off x="1143000" y="8284890"/>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29" name="Text 27"/>
          <p:cNvSpPr/>
          <p:nvPr/>
        </p:nvSpPr>
        <p:spPr>
          <a:xfrm>
            <a:off x="1143000" y="8777288"/>
            <a:ext cx="7492500"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Installing packages but never freezing, so versions silently drift between machines.</a:t>
            </a:r>
            <a:endParaRPr lang="en-US" sz="2100" dirty="0"/>
          </a:p>
        </p:txBody>
      </p:sp>
      <p:sp>
        <p:nvSpPr>
          <p:cNvPr id="30" name="Text 28"/>
          <p:cNvSpPr/>
          <p:nvPr/>
        </p:nvSpPr>
        <p:spPr>
          <a:xfrm>
            <a:off x="9448800" y="8284890"/>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31" name="Text 29"/>
          <p:cNvSpPr/>
          <p:nvPr/>
        </p:nvSpPr>
        <p:spPr>
          <a:xfrm>
            <a:off x="9448800" y="8777288"/>
            <a:ext cx="890885"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Re-run</a:t>
            </a:r>
            <a:endParaRPr lang="en-US" sz="2100" dirty="0"/>
          </a:p>
        </p:txBody>
      </p:sp>
      <p:sp>
        <p:nvSpPr>
          <p:cNvPr id="32" name="Text 30"/>
          <p:cNvSpPr/>
          <p:nvPr/>
        </p:nvSpPr>
        <p:spPr>
          <a:xfrm>
            <a:off x="10319296" y="8767763"/>
            <a:ext cx="4517603"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pip freeze &gt; requirements.txt</a:t>
            </a:r>
            <a:endParaRPr lang="en-US" sz="1890" dirty="0"/>
          </a:p>
        </p:txBody>
      </p:sp>
      <p:sp>
        <p:nvSpPr>
          <p:cNvPr id="33" name="Text 31"/>
          <p:cNvSpPr/>
          <p:nvPr/>
        </p:nvSpPr>
        <p:spPr>
          <a:xfrm>
            <a:off x="9448800" y="9150027"/>
            <a:ext cx="7463528"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 time you add a dependency.</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 · WHY IT MATTERS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type hints</a:t>
            </a:r>
            <a:endParaRPr lang="en-US" sz="4800" dirty="0"/>
          </a:p>
        </p:txBody>
      </p:sp>
      <p:sp>
        <p:nvSpPr>
          <p:cNvPr id="4" name="Text 2"/>
          <p:cNvSpPr/>
          <p:nvPr/>
        </p:nvSpPr>
        <p:spPr>
          <a:xfrm>
            <a:off x="1143000" y="3074194"/>
            <a:ext cx="9646650" cy="2175942"/>
          </a:xfrm>
          <a:prstGeom prst="rect">
            <a:avLst/>
          </a:prstGeom>
          <a:noFill/>
          <a:ln/>
        </p:spPr>
        <p:txBody>
          <a:bodyPr wrap="square" lIns="25400" tIns="25400" rIns="25400" bIns="25400" rtlCol="0" anchor="t">
            <a:normAutofit/>
          </a:bodyPr>
          <a:lstStyle/>
          <a:p>
            <a:pPr marL="0" indent="0" algn="l">
              <a:lnSpc>
                <a:spcPct val="104874"/>
              </a:lnSpc>
              <a:buNone/>
            </a:pPr>
            <a:r>
              <a:rPr lang="en-US" sz="3900" b="1" kern="0" spc="-58" dirty="0">
                <a:solidFill>
                  <a:srgbClr val="201E1D"/>
                </a:solidFill>
                <a:latin typeface="Arial" pitchFamily="34" charset="0"/>
                <a:ea typeface="Arial" pitchFamily="34" charset="-122"/>
                <a:cs typeface="Arial" pitchFamily="34" charset="-120"/>
              </a:rPr>
              <a:t>Types are </a:t>
            </a:r>
            <a:r>
              <a:rPr lang="en-US" sz="3900" b="1" kern="0" spc="-58" dirty="0">
                <a:solidFill>
                  <a:srgbClr val="AE1800"/>
                </a:solidFill>
                <a:latin typeface="Arial" pitchFamily="34" charset="0"/>
                <a:ea typeface="Arial" pitchFamily="34" charset="-122"/>
                <a:cs typeface="Arial" pitchFamily="34" charset="-120"/>
              </a:rPr>
              <a:t>executable documentation </a:t>
            </a:r>
            <a:r>
              <a:rPr lang="en-US" sz="3900" b="1" kern="0" spc="-58" dirty="0">
                <a:solidFill>
                  <a:srgbClr val="201E1D"/>
                </a:solidFill>
                <a:latin typeface="Arial" pitchFamily="34" charset="0"/>
                <a:ea typeface="Arial" pitchFamily="34" charset="-122"/>
                <a:cs typeface="Arial" pitchFamily="34" charset="-120"/>
              </a:rPr>
              <a:t>your editor enforces — and the same annotations FastAPI reads to build your API.</a:t>
            </a:r>
            <a:endParaRPr lang="en-US" sz="3900" dirty="0"/>
          </a:p>
        </p:txBody>
      </p:sp>
      <p:sp>
        <p:nvSpPr>
          <p:cNvPr id="5" name="Text 3"/>
          <p:cNvSpPr/>
          <p:nvPr/>
        </p:nvSpPr>
        <p:spPr>
          <a:xfrm>
            <a:off x="1143000" y="5961757"/>
            <a:ext cx="16482060"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Python stays dynamic at runtime, but the hints let your editor autocomplete, catch a wrong argument before you run, and state each function's contract in its signature. Today they pay off twice — once in the editor, and again when FastAPI turns them into request validation and live docs for free.</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1697682"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models.py</a:t>
            </a:r>
            <a:endParaRPr lang="en-US" sz="2250" dirty="0"/>
          </a:p>
        </p:txBody>
      </p:sp>
      <p:sp>
        <p:nvSpPr>
          <p:cNvPr id="5" name="Text 3"/>
          <p:cNvSpPr/>
          <p:nvPr/>
        </p:nvSpPr>
        <p:spPr>
          <a:xfrm>
            <a:off x="3181648" y="1894136"/>
            <a:ext cx="422456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the types tell the story</a:t>
            </a:r>
            <a:endParaRPr lang="en-US" sz="2100" dirty="0"/>
          </a:p>
        </p:txBody>
      </p:sp>
      <p:sp>
        <p:nvSpPr>
          <p:cNvPr id="6" name="Shape 4"/>
          <p:cNvSpPr/>
          <p:nvPr/>
        </p:nvSpPr>
        <p:spPr>
          <a:xfrm>
            <a:off x="1143000" y="2723852"/>
            <a:ext cx="16002000" cy="5353050"/>
          </a:xfrm>
          <a:prstGeom prst="rect">
            <a:avLst/>
          </a:prstGeom>
          <a:solidFill>
            <a:srgbClr val="EAE9E9"/>
          </a:solidFill>
          <a:ln/>
        </p:spPr>
        <p:txBody>
          <a:bodyPr/>
          <a:lstStyle/>
          <a:p>
            <a:endParaRPr lang="en-US"/>
          </a:p>
        </p:txBody>
      </p:sp>
      <p:sp>
        <p:nvSpPr>
          <p:cNvPr id="7" name="Text 5"/>
          <p:cNvSpPr/>
          <p:nvPr/>
        </p:nvSpPr>
        <p:spPr>
          <a:xfrm>
            <a:off x="1562100" y="3057227"/>
            <a:ext cx="6198478" cy="3633787"/>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from dataclasses import dataclass</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from enum import Enum</a:t>
            </a:r>
            <a:endParaRPr lang="en-US" sz="2025" dirty="0"/>
          </a:p>
          <a:p>
            <a:pPr marL="0" indent="0" algn="l">
              <a:lnSpc>
                <a:spcPct val="124590"/>
              </a:lnSpc>
              <a:buNone/>
            </a:pP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class LoanPurpose(str, Enum):</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WORKING_CAPITAL = "working_capital"</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EQUIPMENT = "equipment"</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VEHICLE = "vehicle"</a:t>
            </a:r>
            <a:endParaRPr lang="en-US" sz="2025" dirty="0"/>
          </a:p>
          <a:p>
            <a:pPr marL="0" indent="0" algn="l">
              <a:lnSpc>
                <a:spcPct val="124590"/>
              </a:lnSpc>
              <a:buNone/>
            </a:pP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@dataclass</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class Applicant:</a:t>
            </a:r>
            <a:endParaRPr lang="en-US" sz="2025" dirty="0"/>
          </a:p>
        </p:txBody>
      </p:sp>
      <p:sp>
        <p:nvSpPr>
          <p:cNvPr id="8" name="Shape 6"/>
          <p:cNvSpPr/>
          <p:nvPr/>
        </p:nvSpPr>
        <p:spPr>
          <a:xfrm>
            <a:off x="1143000" y="6667202"/>
            <a:ext cx="16002000" cy="1085850"/>
          </a:xfrm>
          <a:prstGeom prst="rect">
            <a:avLst/>
          </a:prstGeom>
          <a:solidFill>
            <a:srgbClr val="FFF2EF"/>
          </a:solidFill>
          <a:ln/>
        </p:spPr>
        <p:txBody>
          <a:bodyPr/>
          <a:lstStyle/>
          <a:p>
            <a:endParaRPr lang="en-US"/>
          </a:p>
        </p:txBody>
      </p:sp>
      <p:sp>
        <p:nvSpPr>
          <p:cNvPr id="9" name="Text 7"/>
          <p:cNvSpPr/>
          <p:nvPr/>
        </p:nvSpPr>
        <p:spPr>
          <a:xfrm>
            <a:off x="1562100" y="6667202"/>
            <a:ext cx="15643860" cy="1123950"/>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name: str</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monthly_income: float</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purpose: LoanPurpose</a:t>
            </a:r>
            <a:endParaRPr lang="en-US" sz="2025" dirty="0"/>
          </a:p>
        </p:txBody>
      </p:sp>
      <p:sp>
        <p:nvSpPr>
          <p:cNvPr id="10" name="Text 8"/>
          <p:cNvSpPr/>
          <p:nvPr/>
        </p:nvSpPr>
        <p:spPr>
          <a:xfrm>
            <a:off x="1143000" y="8369424"/>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An </a:t>
            </a:r>
            <a:r>
              <a:rPr lang="en-US" sz="1875" dirty="0">
                <a:solidFill>
                  <a:srgbClr val="211D1D">
                    <a:alpha val="55000"/>
                  </a:srgbClr>
                </a:solidFill>
                <a:latin typeface="Courier New" pitchFamily="34" charset="0"/>
                <a:ea typeface="Courier New" pitchFamily="34" charset="-122"/>
                <a:cs typeface="Courier New" pitchFamily="34" charset="-120"/>
              </a:rPr>
              <a:t>Enum </a:t>
            </a:r>
            <a:r>
              <a:rPr lang="en-US" sz="2100" dirty="0">
                <a:solidFill>
                  <a:srgbClr val="211D1D">
                    <a:alpha val="55000"/>
                  </a:srgbClr>
                </a:solidFill>
                <a:latin typeface="Arial" pitchFamily="34" charset="0"/>
                <a:ea typeface="Arial" pitchFamily="34" charset="-122"/>
                <a:cs typeface="Arial" pitchFamily="34" charset="-120"/>
              </a:rPr>
              <a:t>pins the allowed purposes; a </a:t>
            </a:r>
            <a:r>
              <a:rPr lang="en-US" sz="1875" dirty="0">
                <a:solidFill>
                  <a:srgbClr val="211D1D">
                    <a:alpha val="55000"/>
                  </a:srgbClr>
                </a:solidFill>
                <a:latin typeface="Courier New" pitchFamily="34" charset="0"/>
                <a:ea typeface="Courier New" pitchFamily="34" charset="-122"/>
                <a:cs typeface="Courier New" pitchFamily="34" charset="-120"/>
              </a:rPr>
              <a:t>@dataclass </a:t>
            </a:r>
            <a:r>
              <a:rPr lang="en-US" sz="2100" dirty="0">
                <a:solidFill>
                  <a:srgbClr val="211D1D">
                    <a:alpha val="55000"/>
                  </a:srgbClr>
                </a:solidFill>
                <a:latin typeface="Arial" pitchFamily="34" charset="0"/>
                <a:ea typeface="Arial" pitchFamily="34" charset="-122"/>
                <a:cs typeface="Arial" pitchFamily="34" charset="-120"/>
              </a:rPr>
              <a:t>turns three annotated fields into a real class. The highlighted lines are the contract — read them and you know exactly what an applicant is.</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1697682"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models.py</a:t>
            </a:r>
            <a:endParaRPr lang="en-US" sz="2250" dirty="0"/>
          </a:p>
        </p:txBody>
      </p:sp>
      <p:sp>
        <p:nvSpPr>
          <p:cNvPr id="5" name="Text 3"/>
          <p:cNvSpPr/>
          <p:nvPr/>
        </p:nvSpPr>
        <p:spPr>
          <a:xfrm>
            <a:off x="3181648" y="1894136"/>
            <a:ext cx="2640330"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typed functions</a:t>
            </a:r>
            <a:endParaRPr lang="en-US" sz="2100" dirty="0"/>
          </a:p>
        </p:txBody>
      </p:sp>
      <p:sp>
        <p:nvSpPr>
          <p:cNvPr id="6" name="Shape 4"/>
          <p:cNvSpPr/>
          <p:nvPr/>
        </p:nvSpPr>
        <p:spPr>
          <a:xfrm>
            <a:off x="1143000" y="2723852"/>
            <a:ext cx="16002000" cy="4991100"/>
          </a:xfrm>
          <a:prstGeom prst="rect">
            <a:avLst/>
          </a:prstGeom>
          <a:solidFill>
            <a:srgbClr val="EAE9E9"/>
          </a:solidFill>
          <a:ln/>
        </p:spPr>
        <p:txBody>
          <a:bodyPr/>
          <a:lstStyle/>
          <a:p>
            <a:endParaRPr lang="en-US"/>
          </a:p>
        </p:txBody>
      </p:sp>
      <p:sp>
        <p:nvSpPr>
          <p:cNvPr id="7" name="Text 5"/>
          <p:cNvSpPr/>
          <p:nvPr/>
        </p:nvSpPr>
        <p:spPr>
          <a:xfrm>
            <a:off x="1562100" y="3057227"/>
            <a:ext cx="6993149" cy="376238"/>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11F1C">
                    <a:alpha val="46000"/>
                  </a:srgbClr>
                </a:solidFill>
                <a:latin typeface="Courier New" pitchFamily="34" charset="0"/>
                <a:ea typeface="Courier New" pitchFamily="34" charset="-122"/>
                <a:cs typeface="Courier New" pitchFamily="34" charset="-120"/>
              </a:rPr>
              <a:t># a toy eligibility rule: N months of income</a:t>
            </a:r>
            <a:endParaRPr lang="en-US" sz="2025" dirty="0"/>
          </a:p>
        </p:txBody>
      </p:sp>
      <p:sp>
        <p:nvSpPr>
          <p:cNvPr id="8" name="Text 6"/>
          <p:cNvSpPr/>
          <p:nvPr/>
        </p:nvSpPr>
        <p:spPr>
          <a:xfrm>
            <a:off x="1562100" y="3419177"/>
            <a:ext cx="7311002" cy="73818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def max_eligible_amount(</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applicant: Applicant, multiplier: int = 20</a:t>
            </a:r>
            <a:endParaRPr lang="en-US" sz="2025" dirty="0"/>
          </a:p>
        </p:txBody>
      </p:sp>
      <p:sp>
        <p:nvSpPr>
          <p:cNvPr id="9" name="Shape 7"/>
          <p:cNvSpPr/>
          <p:nvPr/>
        </p:nvSpPr>
        <p:spPr>
          <a:xfrm>
            <a:off x="1143000" y="4133552"/>
            <a:ext cx="16002000" cy="361950"/>
          </a:xfrm>
          <a:prstGeom prst="rect">
            <a:avLst/>
          </a:prstGeom>
          <a:solidFill>
            <a:srgbClr val="FFF2EF"/>
          </a:solidFill>
          <a:ln/>
        </p:spPr>
        <p:txBody>
          <a:bodyPr/>
          <a:lstStyle/>
          <a:p>
            <a:endParaRPr lang="en-US"/>
          </a:p>
        </p:txBody>
      </p:sp>
      <p:sp>
        <p:nvSpPr>
          <p:cNvPr id="10" name="Text 8"/>
          <p:cNvSpPr/>
          <p:nvPr/>
        </p:nvSpPr>
        <p:spPr>
          <a:xfrm>
            <a:off x="1562100" y="4133552"/>
            <a:ext cx="15643860" cy="400050"/>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-&gt; float:</a:t>
            </a:r>
            <a:endParaRPr lang="en-US" sz="2025" dirty="0"/>
          </a:p>
        </p:txBody>
      </p:sp>
      <p:sp>
        <p:nvSpPr>
          <p:cNvPr id="11" name="Text 9"/>
          <p:cNvSpPr/>
          <p:nvPr/>
        </p:nvSpPr>
        <p:spPr>
          <a:xfrm>
            <a:off x="1562100" y="4725308"/>
            <a:ext cx="7628855" cy="1462088"/>
          </a:xfrm>
          <a:prstGeom prst="rect">
            <a:avLst/>
          </a:prstGeom>
          <a:noFill/>
          <a:ln/>
        </p:spPr>
        <p:txBody>
          <a:bodyPr wrap="none" lIns="0" tIns="0" rIns="0" bIns="0" rtlCol="0" anchor="t">
            <a:normAutofit lnSpcReduction="10000"/>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return applicant.monthly_income * multiplier</a:t>
            </a:r>
            <a:endParaRPr lang="en-US" sz="2025" dirty="0"/>
          </a:p>
          <a:p>
            <a:pPr marL="0" indent="0" algn="l">
              <a:lnSpc>
                <a:spcPct val="124590"/>
              </a:lnSpc>
              <a:buNone/>
            </a:pP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def summarize(</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applicants: list[Applicant],</a:t>
            </a:r>
            <a:endParaRPr lang="en-US" sz="2025" dirty="0"/>
          </a:p>
        </p:txBody>
      </p:sp>
      <p:sp>
        <p:nvSpPr>
          <p:cNvPr id="12" name="Shape 10"/>
          <p:cNvSpPr/>
          <p:nvPr/>
        </p:nvSpPr>
        <p:spPr>
          <a:xfrm>
            <a:off x="1143000" y="6305252"/>
            <a:ext cx="16002000" cy="361950"/>
          </a:xfrm>
          <a:prstGeom prst="rect">
            <a:avLst/>
          </a:prstGeom>
          <a:solidFill>
            <a:srgbClr val="FFF2EF"/>
          </a:solidFill>
          <a:ln/>
        </p:spPr>
        <p:txBody>
          <a:bodyPr/>
          <a:lstStyle/>
          <a:p>
            <a:endParaRPr lang="en-US"/>
          </a:p>
        </p:txBody>
      </p:sp>
      <p:sp>
        <p:nvSpPr>
          <p:cNvPr id="13" name="Text 11"/>
          <p:cNvSpPr/>
          <p:nvPr/>
        </p:nvSpPr>
        <p:spPr>
          <a:xfrm>
            <a:off x="1562100" y="6305252"/>
            <a:ext cx="15643860" cy="400050"/>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-&gt; dict[str, float]:</a:t>
            </a:r>
            <a:endParaRPr lang="en-US" sz="2025" dirty="0"/>
          </a:p>
        </p:txBody>
      </p:sp>
      <p:sp>
        <p:nvSpPr>
          <p:cNvPr id="14" name="Text 12"/>
          <p:cNvSpPr/>
          <p:nvPr/>
        </p:nvSpPr>
        <p:spPr>
          <a:xfrm>
            <a:off x="1562100" y="7038677"/>
            <a:ext cx="10012867" cy="37623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return {a.name: max_eligible_amount(a) for a in applicants}</a:t>
            </a:r>
            <a:endParaRPr lang="en-US" sz="2025" dirty="0"/>
          </a:p>
        </p:txBody>
      </p:sp>
      <p:sp>
        <p:nvSpPr>
          <p:cNvPr id="15" name="Text 13"/>
          <p:cNvSpPr/>
          <p:nvPr/>
        </p:nvSpPr>
        <p:spPr>
          <a:xfrm>
            <a:off x="1143000" y="8007474"/>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The return types are part of the contract too. </a:t>
            </a:r>
            <a:r>
              <a:rPr lang="en-US" sz="1875" dirty="0">
                <a:solidFill>
                  <a:srgbClr val="211D1D">
                    <a:alpha val="55000"/>
                  </a:srgbClr>
                </a:solidFill>
                <a:latin typeface="Courier New" pitchFamily="34" charset="0"/>
                <a:ea typeface="Courier New" pitchFamily="34" charset="-122"/>
                <a:cs typeface="Courier New" pitchFamily="34" charset="-120"/>
              </a:rPr>
              <a:t>list[Applicant] </a:t>
            </a:r>
            <a:r>
              <a:rPr lang="en-US" sz="2100" dirty="0">
                <a:solidFill>
                  <a:srgbClr val="211D1D">
                    <a:alpha val="55000"/>
                  </a:srgbClr>
                </a:solidFill>
                <a:latin typeface="Arial" pitchFamily="34" charset="0"/>
                <a:ea typeface="Arial" pitchFamily="34" charset="-122"/>
                <a:cs typeface="Arial" pitchFamily="34" charset="-120"/>
              </a:rPr>
              <a:t>and </a:t>
            </a:r>
            <a:r>
              <a:rPr lang="en-US" sz="1875" dirty="0">
                <a:solidFill>
                  <a:srgbClr val="211D1D">
                    <a:alpha val="55000"/>
                  </a:srgbClr>
                </a:solidFill>
                <a:latin typeface="Courier New" pitchFamily="34" charset="0"/>
                <a:ea typeface="Courier New" pitchFamily="34" charset="-122"/>
                <a:cs typeface="Courier New" pitchFamily="34" charset="-120"/>
              </a:rPr>
              <a:t>dict[str, float] </a:t>
            </a:r>
            <a:r>
              <a:rPr lang="en-US" sz="2100" dirty="0">
                <a:solidFill>
                  <a:srgbClr val="211D1D">
                    <a:alpha val="55000"/>
                  </a:srgbClr>
                </a:solidFill>
                <a:latin typeface="Arial" pitchFamily="34" charset="0"/>
                <a:ea typeface="Arial" pitchFamily="34" charset="-122"/>
                <a:cs typeface="Arial" pitchFamily="34" charset="-120"/>
              </a:rPr>
              <a:t>say what is </a:t>
            </a:r>
            <a:r>
              <a:rPr lang="en-US" sz="2100" dirty="0">
                <a:solidFill>
                  <a:srgbClr val="AE1800"/>
                </a:solidFill>
                <a:latin typeface="Arial" pitchFamily="34" charset="0"/>
                <a:ea typeface="Arial" pitchFamily="34" charset="-122"/>
                <a:cs typeface="Arial" pitchFamily="34" charset="-120"/>
              </a:rPr>
              <a:t>inside </a:t>
            </a:r>
            <a:r>
              <a:rPr lang="en-US" sz="2100" dirty="0">
                <a:solidFill>
                  <a:srgbClr val="211D1D">
                    <a:alpha val="55000"/>
                  </a:srgbClr>
                </a:solidFill>
                <a:latin typeface="Arial" pitchFamily="34" charset="0"/>
                <a:ea typeface="Arial" pitchFamily="34" charset="-122"/>
                <a:cs typeface="Arial" pitchFamily="34" charset="-120"/>
              </a:rPr>
              <a:t>the container — so the editor knows </a:t>
            </a:r>
            <a:r>
              <a:rPr lang="en-US" sz="1875" dirty="0">
                <a:solidFill>
                  <a:srgbClr val="211D1D">
                    <a:alpha val="55000"/>
                  </a:srgbClr>
                </a:solidFill>
                <a:latin typeface="Courier New" pitchFamily="34" charset="0"/>
                <a:ea typeface="Courier New" pitchFamily="34" charset="-122"/>
                <a:cs typeface="Courier New" pitchFamily="34" charset="-120"/>
              </a:rPr>
              <a:t>a.name </a:t>
            </a:r>
            <a:r>
              <a:rPr lang="en-US" sz="2100" dirty="0">
                <a:solidFill>
                  <a:srgbClr val="211D1D">
                    <a:alpha val="55000"/>
                  </a:srgbClr>
                </a:solidFill>
                <a:latin typeface="Arial" pitchFamily="34" charset="0"/>
                <a:ea typeface="Arial" pitchFamily="34" charset="-122"/>
                <a:cs typeface="Arial" pitchFamily="34" charset="-120"/>
              </a:rPr>
              <a:t>exists and flags </a:t>
            </a:r>
            <a:r>
              <a:rPr lang="en-US" sz="1875" dirty="0">
                <a:solidFill>
                  <a:srgbClr val="211D1D">
                    <a:alpha val="55000"/>
                  </a:srgbClr>
                </a:solidFill>
                <a:latin typeface="Courier New" pitchFamily="34" charset="0"/>
                <a:ea typeface="Courier New" pitchFamily="34" charset="-122"/>
                <a:cs typeface="Courier New" pitchFamily="34" charset="-120"/>
              </a:rPr>
              <a:t>a.naem </a:t>
            </a:r>
            <a:r>
              <a:rPr lang="en-US" sz="2100" dirty="0">
                <a:solidFill>
                  <a:srgbClr val="211D1D">
                    <a:alpha val="55000"/>
                  </a:srgbClr>
                </a:solidFill>
                <a:latin typeface="Arial" pitchFamily="34" charset="0"/>
                <a:ea typeface="Arial" pitchFamily="34" charset="-122"/>
                <a:cs typeface="Arial" pitchFamily="34" charset="-120"/>
              </a:rPr>
              <a:t>before you run.</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 · DEEP DIVE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Reading the annotations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Enum</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1890" dirty="0">
                <a:solidFill>
                  <a:srgbClr val="201E1D"/>
                </a:solidFill>
                <a:latin typeface="Courier New" pitchFamily="34" charset="0"/>
                <a:ea typeface="Courier New" pitchFamily="34" charset="-122"/>
                <a:cs typeface="Courier New" pitchFamily="34" charset="-120"/>
              </a:rPr>
              <a:t>LoanPurpose(str, Enum) </a:t>
            </a:r>
            <a:r>
              <a:rPr lang="en-US" sz="2100" dirty="0">
                <a:solidFill>
                  <a:srgbClr val="201E1D"/>
                </a:solidFill>
                <a:latin typeface="Arial" pitchFamily="34" charset="0"/>
                <a:ea typeface="Arial" pitchFamily="34" charset="-122"/>
                <a:cs typeface="Arial" pitchFamily="34" charset="-120"/>
              </a:rPr>
              <a:t>fixes the allowed values. It is also a </a:t>
            </a:r>
            <a:r>
              <a:rPr lang="en-US" sz="1890" dirty="0">
                <a:solidFill>
                  <a:srgbClr val="201E1D"/>
                </a:solidFill>
                <a:latin typeface="Courier New" pitchFamily="34" charset="0"/>
                <a:ea typeface="Courier New" pitchFamily="34" charset="-122"/>
                <a:cs typeface="Courier New" pitchFamily="34" charset="-120"/>
              </a:rPr>
              <a:t>str </a:t>
            </a:r>
            <a:r>
              <a:rPr lang="en-US" sz="2100" dirty="0">
                <a:solidFill>
                  <a:srgbClr val="201E1D"/>
                </a:solidFill>
                <a:latin typeface="Arial" pitchFamily="34" charset="0"/>
                <a:ea typeface="Arial" pitchFamily="34" charset="-122"/>
                <a:cs typeface="Arial" pitchFamily="34" charset="-120"/>
              </a:rPr>
              <a:t>, so it serialises cleanly to JSON later.</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dataclass</a:t>
            </a:r>
            <a:endParaRPr lang="en-US" sz="2550" dirty="0"/>
          </a:p>
        </p:txBody>
      </p:sp>
      <p:sp>
        <p:nvSpPr>
          <p:cNvPr id="9" name="Text 7"/>
          <p:cNvSpPr/>
          <p:nvPr/>
        </p:nvSpPr>
        <p:spPr>
          <a:xfrm>
            <a:off x="66294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1890" dirty="0">
                <a:solidFill>
                  <a:srgbClr val="201E1D"/>
                </a:solidFill>
                <a:latin typeface="Courier New" pitchFamily="34" charset="0"/>
                <a:ea typeface="Courier New" pitchFamily="34" charset="-122"/>
                <a:cs typeface="Courier New" pitchFamily="34" charset="-120"/>
              </a:rPr>
              <a:t>@dataclass </a:t>
            </a:r>
            <a:r>
              <a:rPr lang="en-US" sz="2100" dirty="0">
                <a:solidFill>
                  <a:srgbClr val="201E1D"/>
                </a:solidFill>
                <a:latin typeface="Arial" pitchFamily="34" charset="0"/>
                <a:ea typeface="Arial" pitchFamily="34" charset="-122"/>
                <a:cs typeface="Arial" pitchFamily="34" charset="-120"/>
              </a:rPr>
              <a:t>generates </a:t>
            </a:r>
            <a:r>
              <a:rPr lang="en-US" sz="1890" dirty="0">
                <a:solidFill>
                  <a:srgbClr val="201E1D"/>
                </a:solidFill>
                <a:latin typeface="Courier New" pitchFamily="34" charset="0"/>
                <a:ea typeface="Courier New" pitchFamily="34" charset="-122"/>
                <a:cs typeface="Courier New" pitchFamily="34" charset="-120"/>
              </a:rPr>
              <a:t>__init__</a:t>
            </a:r>
            <a:r>
              <a:rPr lang="en-US" sz="2100" dirty="0">
                <a:solidFill>
                  <a:srgbClr val="201E1D"/>
                </a:solidFill>
                <a:latin typeface="Arial" pitchFamily="34" charset="0"/>
                <a:ea typeface="Arial" pitchFamily="34" charset="-122"/>
                <a:cs typeface="Arial" pitchFamily="34" charset="-120"/>
              </a:rPr>
              <a:t>, </a:t>
            </a:r>
            <a:r>
              <a:rPr lang="en-US" sz="1890" dirty="0">
                <a:solidFill>
                  <a:srgbClr val="201E1D"/>
                </a:solidFill>
                <a:latin typeface="Courier New" pitchFamily="34" charset="0"/>
                <a:ea typeface="Courier New" pitchFamily="34" charset="-122"/>
                <a:cs typeface="Courier New" pitchFamily="34" charset="-120"/>
              </a:rPr>
              <a:t>__repr__ </a:t>
            </a:r>
            <a:r>
              <a:rPr lang="en-US" sz="2100" dirty="0">
                <a:solidFill>
                  <a:srgbClr val="201E1D"/>
                </a:solidFill>
                <a:latin typeface="Arial" pitchFamily="34" charset="0"/>
                <a:ea typeface="Arial" pitchFamily="34" charset="-122"/>
                <a:cs typeface="Arial" pitchFamily="34" charset="-120"/>
              </a:rPr>
              <a:t>and equality from the fields — a class with no boilerplate to maintain.</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Generics</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1890" dirty="0">
                <a:solidFill>
                  <a:srgbClr val="201E1D"/>
                </a:solidFill>
                <a:latin typeface="Courier New" pitchFamily="34" charset="0"/>
                <a:ea typeface="Courier New" pitchFamily="34" charset="-122"/>
                <a:cs typeface="Courier New" pitchFamily="34" charset="-120"/>
              </a:rPr>
              <a:t>list[Applicant]</a:t>
            </a:r>
            <a:r>
              <a:rPr lang="en-US" sz="2100" dirty="0">
                <a:solidFill>
                  <a:srgbClr val="201E1D"/>
                </a:solidFill>
                <a:latin typeface="Arial" pitchFamily="34" charset="0"/>
                <a:ea typeface="Arial" pitchFamily="34" charset="-122"/>
                <a:cs typeface="Arial" pitchFamily="34" charset="-120"/>
              </a:rPr>
              <a:t>, </a:t>
            </a:r>
            <a:r>
              <a:rPr lang="en-US" sz="1890" dirty="0">
                <a:solidFill>
                  <a:srgbClr val="201E1D"/>
                </a:solidFill>
                <a:latin typeface="Courier New" pitchFamily="34" charset="0"/>
                <a:ea typeface="Courier New" pitchFamily="34" charset="-122"/>
                <a:cs typeface="Courier New" pitchFamily="34" charset="-120"/>
              </a:rPr>
              <a:t>dict[str, float] </a:t>
            </a:r>
            <a:r>
              <a:rPr lang="en-US" sz="2100" dirty="0">
                <a:solidFill>
                  <a:srgbClr val="201E1D"/>
                </a:solidFill>
                <a:latin typeface="Arial" pitchFamily="34" charset="0"/>
                <a:ea typeface="Arial" pitchFamily="34" charset="-122"/>
                <a:cs typeface="Arial" pitchFamily="34" charset="-120"/>
              </a:rPr>
              <a:t>— the brackets name what is inside, which is what unlocks autocomplete and checking.</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 · DEEP DIVE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Types your editor enforces</a:t>
            </a:r>
            <a:endParaRPr lang="en-US" sz="4800" dirty="0"/>
          </a:p>
        </p:txBody>
      </p:sp>
      <p:sp>
        <p:nvSpPr>
          <p:cNvPr id="4" name="Text 2"/>
          <p:cNvSpPr/>
          <p:nvPr/>
        </p:nvSpPr>
        <p:spPr>
          <a:xfrm>
            <a:off x="1143000" y="3143176"/>
            <a:ext cx="12914396" cy="390525"/>
          </a:xfrm>
          <a:prstGeom prst="rect">
            <a:avLst/>
          </a:prstGeom>
          <a:noFill/>
          <a:ln/>
        </p:spPr>
        <p:txBody>
          <a:bodyPr wrap="square" lIns="0" tIns="0" rIns="0" bIns="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Hover any variable — the inferred type is shown; you never guess what a function returns</a:t>
            </a:r>
            <a:endParaRPr lang="en-US" sz="2550" dirty="0"/>
          </a:p>
        </p:txBody>
      </p:sp>
      <p:sp>
        <p:nvSpPr>
          <p:cNvPr id="5" name="Text 3"/>
          <p:cNvSpPr/>
          <p:nvPr/>
        </p:nvSpPr>
        <p:spPr>
          <a:xfrm>
            <a:off x="1143000" y="3567038"/>
            <a:ext cx="13735050" cy="8096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Teach through the editor, not the slide: hover, then pass a str where a float is expected and watch the squiggle appear.</a:t>
            </a:r>
            <a:endParaRPr lang="en-US" sz="2100" dirty="0"/>
          </a:p>
        </p:txBody>
      </p:sp>
      <p:sp>
        <p:nvSpPr>
          <p:cNvPr id="6" name="Text 4"/>
          <p:cNvSpPr/>
          <p:nvPr/>
        </p:nvSpPr>
        <p:spPr>
          <a:xfrm>
            <a:off x="1143000" y="4802163"/>
            <a:ext cx="13735050" cy="7174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Rename a dataclass field and every usage lights up — the type graph is you refactor safety net</a:t>
            </a:r>
            <a:endParaRPr lang="en-US" sz="2550" dirty="0"/>
          </a:p>
        </p:txBody>
      </p:sp>
      <p:sp>
        <p:nvSpPr>
          <p:cNvPr id="7" name="Text 5"/>
          <p:cNvSpPr/>
          <p:nvPr/>
        </p:nvSpPr>
        <p:spPr>
          <a:xfrm>
            <a:off x="1143000" y="5881464"/>
            <a:ext cx="2452836" cy="390525"/>
          </a:xfrm>
          <a:prstGeom prst="rect">
            <a:avLst/>
          </a:prstGeom>
          <a:noFill/>
          <a:ln/>
        </p:spPr>
        <p:txBody>
          <a:bodyPr wrap="square" lIns="0" tIns="0" rIns="0" bIns="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Optional stretch:</a:t>
            </a:r>
            <a:endParaRPr lang="en-US" sz="2550" dirty="0"/>
          </a:p>
        </p:txBody>
      </p:sp>
      <p:sp>
        <p:nvSpPr>
          <p:cNvPr id="8" name="Text 6"/>
          <p:cNvSpPr/>
          <p:nvPr/>
        </p:nvSpPr>
        <p:spPr>
          <a:xfrm>
            <a:off x="3587353" y="5871939"/>
            <a:ext cx="6431548" cy="419100"/>
          </a:xfrm>
          <a:prstGeom prst="rect">
            <a:avLst/>
          </a:prstGeom>
          <a:noFill/>
          <a:ln/>
        </p:spPr>
        <p:txBody>
          <a:bodyPr wrap="square" lIns="25400" tIns="25400" rIns="25400" bIns="25400" rtlCol="0" anchor="t">
            <a:normAutofit/>
          </a:bodyPr>
          <a:lstStyle/>
          <a:p>
            <a:pPr marL="0" indent="0" algn="l">
              <a:lnSpc>
                <a:spcPct val="139130"/>
              </a:lnSpc>
              <a:buNone/>
            </a:pPr>
            <a:r>
              <a:rPr lang="en-US" sz="2295" kern="0" spc="-23" dirty="0">
                <a:solidFill>
                  <a:srgbClr val="201E1D"/>
                </a:solidFill>
                <a:latin typeface="Courier New" pitchFamily="34" charset="0"/>
                <a:ea typeface="Courier New" pitchFamily="34" charset="-122"/>
                <a:cs typeface="Courier New" pitchFamily="34" charset="-120"/>
              </a:rPr>
              <a:t>pip install mypy &amp;&amp; mypy models.py</a:t>
            </a:r>
            <a:endParaRPr lang="en-US" sz="2295" dirty="0"/>
          </a:p>
        </p:txBody>
      </p:sp>
      <p:sp>
        <p:nvSpPr>
          <p:cNvPr id="9" name="Text 7"/>
          <p:cNvSpPr/>
          <p:nvPr/>
        </p:nvSpPr>
        <p:spPr>
          <a:xfrm>
            <a:off x="9459972" y="5983703"/>
            <a:ext cx="5106033" cy="390525"/>
          </a:xfrm>
          <a:prstGeom prst="rect">
            <a:avLst/>
          </a:prstGeom>
          <a:noFill/>
          <a:ln/>
        </p:spPr>
        <p:txBody>
          <a:bodyPr wrap="square" lIns="0" tIns="0" rIns="0" bIns="0" rtlCol="0" anchor="t">
            <a:normAutofit fontScale="92500" lnSpcReduction="10000"/>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 break one call, read the error</a:t>
            </a:r>
            <a:endParaRPr lang="en-US" sz="2550" dirty="0"/>
          </a:p>
        </p:txBody>
      </p:sp>
      <p:sp>
        <p:nvSpPr>
          <p:cNvPr id="10" name="Text 8"/>
          <p:cNvSpPr/>
          <p:nvPr/>
        </p:nvSpPr>
        <p:spPr>
          <a:xfrm>
            <a:off x="1143000" y="6350340"/>
            <a:ext cx="13735050" cy="809625"/>
          </a:xfrm>
          <a:prstGeom prst="rect">
            <a:avLst/>
          </a:prstGeom>
          <a:noFill/>
          <a:ln/>
        </p:spPr>
        <p:txBody>
          <a:bodyPr wrap="square" lIns="25400" tIns="25400" rIns="25400" bIns="25400" rtlCol="0" anchor="t">
            <a:normAutofit fontScale="92500"/>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mypy checks the whole file without running it. Skip it if the room is behind — the editor already shows the same signal inline.</a:t>
            </a:r>
            <a:endParaRPr lang="en-US" sz="2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 · EXPERIENCED STRETCH</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dataclass or Pydantic?</a:t>
            </a:r>
            <a:endParaRPr lang="en-US" sz="4800" dirty="0"/>
          </a:p>
        </p:txBody>
      </p:sp>
      <p:sp>
        <p:nvSpPr>
          <p:cNvPr id="4" name="Shape 2"/>
          <p:cNvSpPr/>
          <p:nvPr/>
        </p:nvSpPr>
        <p:spPr>
          <a:xfrm>
            <a:off x="1143000" y="3190875"/>
            <a:ext cx="77724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854964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dataclass — internal data</a:t>
            </a:r>
            <a:endParaRPr lang="en-US" sz="2550" dirty="0"/>
          </a:p>
        </p:txBody>
      </p:sp>
      <p:sp>
        <p:nvSpPr>
          <p:cNvPr id="6" name="Text 4"/>
          <p:cNvSpPr/>
          <p:nvPr/>
        </p:nvSpPr>
        <p:spPr>
          <a:xfrm>
            <a:off x="1143000" y="3931741"/>
            <a:ext cx="8005572"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dataclass annotates fields but does </a:t>
            </a:r>
            <a:r>
              <a:rPr lang="en-US" sz="2100" dirty="0">
                <a:solidFill>
                  <a:srgbClr val="AE1800"/>
                </a:solidFill>
                <a:latin typeface="Arial" pitchFamily="34" charset="0"/>
                <a:ea typeface="Arial" pitchFamily="34" charset="-122"/>
                <a:cs typeface="Arial" pitchFamily="34" charset="-120"/>
              </a:rPr>
              <a:t>not validate </a:t>
            </a:r>
            <a:r>
              <a:rPr lang="en-US" sz="2100" dirty="0">
                <a:solidFill>
                  <a:srgbClr val="201E1D"/>
                </a:solidFill>
                <a:latin typeface="Arial" pitchFamily="34" charset="0"/>
                <a:ea typeface="Arial" pitchFamily="34" charset="-122"/>
                <a:cs typeface="Arial" pitchFamily="34" charset="-120"/>
              </a:rPr>
              <a:t>them at runtime: pass a string for </a:t>
            </a:r>
            <a:r>
              <a:rPr lang="en-US" sz="1890" dirty="0">
                <a:solidFill>
                  <a:srgbClr val="201E1D"/>
                </a:solidFill>
                <a:latin typeface="Courier New" pitchFamily="34" charset="0"/>
                <a:ea typeface="Courier New" pitchFamily="34" charset="-122"/>
                <a:cs typeface="Courier New" pitchFamily="34" charset="-120"/>
              </a:rPr>
              <a:t>monthly_income </a:t>
            </a:r>
            <a:r>
              <a:rPr lang="en-US" sz="2100" dirty="0">
                <a:solidFill>
                  <a:srgbClr val="201E1D"/>
                </a:solidFill>
                <a:latin typeface="Arial" pitchFamily="34" charset="0"/>
                <a:ea typeface="Arial" pitchFamily="34" charset="-122"/>
                <a:cs typeface="Arial" pitchFamily="34" charset="-120"/>
              </a:rPr>
              <a:t>and it is stored as-is. Perfect for trusted, in-process data.</a:t>
            </a:r>
            <a:endParaRPr lang="en-US" sz="2100" dirty="0"/>
          </a:p>
        </p:txBody>
      </p:sp>
      <p:sp>
        <p:nvSpPr>
          <p:cNvPr id="7" name="Shape 5"/>
          <p:cNvSpPr/>
          <p:nvPr/>
        </p:nvSpPr>
        <p:spPr>
          <a:xfrm>
            <a:off x="9372600" y="3190875"/>
            <a:ext cx="7772400" cy="19050"/>
          </a:xfrm>
          <a:prstGeom prst="rect">
            <a:avLst/>
          </a:prstGeom>
          <a:solidFill>
            <a:srgbClr val="201E1E">
              <a:alpha val="40000"/>
            </a:srgbClr>
          </a:solidFill>
          <a:ln/>
        </p:spPr>
        <p:txBody>
          <a:bodyPr/>
          <a:lstStyle/>
          <a:p>
            <a:endParaRPr lang="en-US"/>
          </a:p>
        </p:txBody>
      </p:sp>
      <p:sp>
        <p:nvSpPr>
          <p:cNvPr id="8" name="Text 6"/>
          <p:cNvSpPr/>
          <p:nvPr/>
        </p:nvSpPr>
        <p:spPr>
          <a:xfrm>
            <a:off x="9372600" y="3425577"/>
            <a:ext cx="854964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Pydantic — data from outside</a:t>
            </a:r>
            <a:endParaRPr lang="en-US" sz="2550" dirty="0"/>
          </a:p>
        </p:txBody>
      </p:sp>
      <p:sp>
        <p:nvSpPr>
          <p:cNvPr id="9" name="Text 7"/>
          <p:cNvSpPr/>
          <p:nvPr/>
        </p:nvSpPr>
        <p:spPr>
          <a:xfrm>
            <a:off x="9372600" y="3931741"/>
            <a:ext cx="8005572"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Pydantic model </a:t>
            </a:r>
            <a:r>
              <a:rPr lang="en-US" sz="2100" dirty="0">
                <a:solidFill>
                  <a:srgbClr val="AE1800"/>
                </a:solidFill>
                <a:latin typeface="Arial" pitchFamily="34" charset="0"/>
                <a:ea typeface="Arial" pitchFamily="34" charset="-122"/>
                <a:cs typeface="Arial" pitchFamily="34" charset="-120"/>
              </a:rPr>
              <a:t>enforces </a:t>
            </a:r>
            <a:r>
              <a:rPr lang="en-US" sz="2100" dirty="0">
                <a:solidFill>
                  <a:srgbClr val="201E1D"/>
                </a:solidFill>
                <a:latin typeface="Arial" pitchFamily="34" charset="0"/>
                <a:ea typeface="Arial" pitchFamily="34" charset="-122"/>
                <a:cs typeface="Arial" pitchFamily="34" charset="-120"/>
              </a:rPr>
              <a:t>the types at the boundary — parsing, coercing and rejecting bad input. That is exactly what an API needs, and where we go next.</a:t>
            </a:r>
            <a:endParaRPr lang="en-US" sz="2100" dirty="0"/>
          </a:p>
        </p:txBody>
      </p:sp>
      <p:sp>
        <p:nvSpPr>
          <p:cNvPr id="10" name="Text 8"/>
          <p:cNvSpPr/>
          <p:nvPr/>
        </p:nvSpPr>
        <p:spPr>
          <a:xfrm>
            <a:off x="1143000" y="5321647"/>
            <a:ext cx="16361495"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Rule of thumb: dataclass for data you already trust, Pydantic for data crossing a boundary — a request body, a config file, a database row.</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 · COMMON MISTAKES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type hints mislead</a:t>
            </a:r>
            <a:endParaRPr lang="en-US" sz="4800" dirty="0"/>
          </a:p>
        </p:txBody>
      </p:sp>
      <p:sp>
        <p:nvSpPr>
          <p:cNvPr id="4" name="Shape 2"/>
          <p:cNvSpPr/>
          <p:nvPr/>
        </p:nvSpPr>
        <p:spPr>
          <a:xfrm>
            <a:off x="1143000" y="3200400"/>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466978"/>
            <a:ext cx="16002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751734"/>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7" name="Text 5"/>
          <p:cNvSpPr/>
          <p:nvPr/>
        </p:nvSpPr>
        <p:spPr>
          <a:xfrm>
            <a:off x="1143000" y="4244132"/>
            <a:ext cx="5270519"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Assuming hints are enforced at runtime — a</a:t>
            </a:r>
            <a:endParaRPr lang="en-US" sz="2100" dirty="0"/>
          </a:p>
        </p:txBody>
      </p:sp>
      <p:sp>
        <p:nvSpPr>
          <p:cNvPr id="8" name="Text 6"/>
          <p:cNvSpPr/>
          <p:nvPr/>
        </p:nvSpPr>
        <p:spPr>
          <a:xfrm>
            <a:off x="6413519" y="4209209"/>
            <a:ext cx="1622898" cy="594611"/>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dataclass</a:t>
            </a:r>
            <a:endParaRPr lang="en-US" sz="1890" dirty="0"/>
          </a:p>
        </p:txBody>
      </p:sp>
      <p:sp>
        <p:nvSpPr>
          <p:cNvPr id="9" name="Text 7"/>
          <p:cNvSpPr/>
          <p:nvPr/>
        </p:nvSpPr>
        <p:spPr>
          <a:xfrm>
            <a:off x="1143000" y="4566849"/>
            <a:ext cx="7082672"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will happily hold the wrong type.</a:t>
            </a:r>
            <a:endParaRPr lang="en-US" sz="2100" dirty="0"/>
          </a:p>
        </p:txBody>
      </p:sp>
      <p:sp>
        <p:nvSpPr>
          <p:cNvPr id="10" name="Text 8"/>
          <p:cNvSpPr/>
          <p:nvPr/>
        </p:nvSpPr>
        <p:spPr>
          <a:xfrm>
            <a:off x="9448800" y="3751734"/>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11" name="Text 9"/>
          <p:cNvSpPr/>
          <p:nvPr/>
        </p:nvSpPr>
        <p:spPr>
          <a:xfrm>
            <a:off x="9448800" y="4244132"/>
            <a:ext cx="7732174"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Hints guide the editor and mypy; use Pydantic when you actually need the value checked.</a:t>
            </a:r>
            <a:endParaRPr lang="en-US" sz="2100" dirty="0"/>
          </a:p>
        </p:txBody>
      </p:sp>
      <p:sp>
        <p:nvSpPr>
          <p:cNvPr id="12" name="Shape 10"/>
          <p:cNvSpPr/>
          <p:nvPr/>
        </p:nvSpPr>
        <p:spPr>
          <a:xfrm>
            <a:off x="1143000" y="7733556"/>
            <a:ext cx="16002000" cy="19050"/>
          </a:xfrm>
          <a:prstGeom prst="rect">
            <a:avLst/>
          </a:prstGeom>
          <a:solidFill>
            <a:srgbClr val="201E1E">
              <a:alpha val="40000"/>
            </a:srgbClr>
          </a:solidFill>
          <a:ln/>
        </p:spPr>
        <p:txBody>
          <a:bodyPr/>
          <a:lstStyle/>
          <a:p>
            <a:endParaRPr lang="en-US"/>
          </a:p>
        </p:txBody>
      </p:sp>
      <p:sp>
        <p:nvSpPr>
          <p:cNvPr id="13" name="Text 11"/>
          <p:cNvSpPr/>
          <p:nvPr/>
        </p:nvSpPr>
        <p:spPr>
          <a:xfrm>
            <a:off x="1143000" y="6018312"/>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14" name="Text 12"/>
          <p:cNvSpPr/>
          <p:nvPr/>
        </p:nvSpPr>
        <p:spPr>
          <a:xfrm>
            <a:off x="1143000" y="6510710"/>
            <a:ext cx="1349797"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Using bare</a:t>
            </a:r>
            <a:endParaRPr lang="en-US" sz="2100" dirty="0"/>
          </a:p>
        </p:txBody>
      </p:sp>
      <p:sp>
        <p:nvSpPr>
          <p:cNvPr id="15" name="Text 13"/>
          <p:cNvSpPr/>
          <p:nvPr/>
        </p:nvSpPr>
        <p:spPr>
          <a:xfrm>
            <a:off x="2472407" y="6501185"/>
            <a:ext cx="642714"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list</a:t>
            </a:r>
            <a:endParaRPr lang="en-US" sz="1890" dirty="0"/>
          </a:p>
        </p:txBody>
      </p:sp>
      <p:sp>
        <p:nvSpPr>
          <p:cNvPr id="16" name="Text 14"/>
          <p:cNvSpPr/>
          <p:nvPr/>
        </p:nvSpPr>
        <p:spPr>
          <a:xfrm>
            <a:off x="3094658" y="6510710"/>
            <a:ext cx="311274"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or</a:t>
            </a:r>
            <a:endParaRPr lang="en-US" sz="2100" dirty="0"/>
          </a:p>
        </p:txBody>
      </p:sp>
      <p:sp>
        <p:nvSpPr>
          <p:cNvPr id="17" name="Text 15"/>
          <p:cNvSpPr/>
          <p:nvPr/>
        </p:nvSpPr>
        <p:spPr>
          <a:xfrm>
            <a:off x="3385542" y="6501185"/>
            <a:ext cx="642714"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dict</a:t>
            </a:r>
            <a:endParaRPr lang="en-US" sz="1890" dirty="0"/>
          </a:p>
        </p:txBody>
      </p:sp>
      <p:sp>
        <p:nvSpPr>
          <p:cNvPr id="18" name="Text 16"/>
          <p:cNvSpPr/>
          <p:nvPr/>
        </p:nvSpPr>
        <p:spPr>
          <a:xfrm>
            <a:off x="1107653" y="6846987"/>
            <a:ext cx="7117776"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 losing the element type and all the autocomplete with it.</a:t>
            </a:r>
            <a:endParaRPr lang="en-US" sz="2100" dirty="0"/>
          </a:p>
        </p:txBody>
      </p:sp>
      <p:sp>
        <p:nvSpPr>
          <p:cNvPr id="19" name="Text 17"/>
          <p:cNvSpPr/>
          <p:nvPr/>
        </p:nvSpPr>
        <p:spPr>
          <a:xfrm>
            <a:off x="9448800" y="6018312"/>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20" name="Text 18"/>
          <p:cNvSpPr/>
          <p:nvPr/>
        </p:nvSpPr>
        <p:spPr>
          <a:xfrm>
            <a:off x="9448800" y="6510710"/>
            <a:ext cx="2617324"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Always parameterise:</a:t>
            </a:r>
            <a:endParaRPr lang="en-US" sz="2100" dirty="0"/>
          </a:p>
        </p:txBody>
      </p:sp>
      <p:sp>
        <p:nvSpPr>
          <p:cNvPr id="21" name="Text 19"/>
          <p:cNvSpPr/>
          <p:nvPr/>
        </p:nvSpPr>
        <p:spPr>
          <a:xfrm>
            <a:off x="12045702" y="6501185"/>
            <a:ext cx="2336728"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list[Applicant]</a:t>
            </a:r>
            <a:endParaRPr lang="en-US" sz="1890" dirty="0"/>
          </a:p>
        </p:txBody>
      </p:sp>
      <p:sp>
        <p:nvSpPr>
          <p:cNvPr id="22" name="Text 20"/>
          <p:cNvSpPr/>
          <p:nvPr/>
        </p:nvSpPr>
        <p:spPr>
          <a:xfrm>
            <a:off x="14170000" y="6510710"/>
            <a:ext cx="150093"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t>
            </a:r>
            <a:endParaRPr lang="en-US" sz="2100" dirty="0"/>
          </a:p>
        </p:txBody>
      </p:sp>
      <p:sp>
        <p:nvSpPr>
          <p:cNvPr id="23" name="Text 21"/>
          <p:cNvSpPr/>
          <p:nvPr/>
        </p:nvSpPr>
        <p:spPr>
          <a:xfrm>
            <a:off x="14299704" y="6501185"/>
            <a:ext cx="2492499"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dict[str, float]</a:t>
            </a:r>
            <a:endParaRPr lang="en-US" sz="1890" dirty="0"/>
          </a:p>
        </p:txBody>
      </p:sp>
      <p:sp>
        <p:nvSpPr>
          <p:cNvPr id="24" name="Text 22"/>
          <p:cNvSpPr/>
          <p:nvPr/>
        </p:nvSpPr>
        <p:spPr>
          <a:xfrm>
            <a:off x="16565612" y="6510710"/>
            <a:ext cx="150093"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t>
            </a:r>
            <a:endParaRPr lang="en-US" sz="2100" dirty="0"/>
          </a:p>
        </p:txBody>
      </p:sp>
      <p:sp>
        <p:nvSpPr>
          <p:cNvPr id="25" name="Shape 23"/>
          <p:cNvSpPr/>
          <p:nvPr/>
        </p:nvSpPr>
        <p:spPr>
          <a:xfrm>
            <a:off x="1143000" y="10000134"/>
            <a:ext cx="16002000" cy="19050"/>
          </a:xfrm>
          <a:prstGeom prst="rect">
            <a:avLst/>
          </a:prstGeom>
          <a:solidFill>
            <a:srgbClr val="201E1E">
              <a:alpha val="40000"/>
            </a:srgbClr>
          </a:solidFill>
          <a:ln/>
        </p:spPr>
        <p:txBody>
          <a:bodyPr/>
          <a:lstStyle/>
          <a:p>
            <a:endParaRPr lang="en-US"/>
          </a:p>
        </p:txBody>
      </p:sp>
      <p:sp>
        <p:nvSpPr>
          <p:cNvPr id="26" name="Text 24"/>
          <p:cNvSpPr/>
          <p:nvPr/>
        </p:nvSpPr>
        <p:spPr>
          <a:xfrm>
            <a:off x="1143000" y="8284890"/>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27" name="Text 25"/>
          <p:cNvSpPr/>
          <p:nvPr/>
        </p:nvSpPr>
        <p:spPr>
          <a:xfrm>
            <a:off x="1143000" y="8777288"/>
            <a:ext cx="1569913"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Reaching for</a:t>
            </a:r>
            <a:endParaRPr lang="en-US" sz="2100" dirty="0"/>
          </a:p>
        </p:txBody>
      </p:sp>
      <p:sp>
        <p:nvSpPr>
          <p:cNvPr id="28" name="Text 26"/>
          <p:cNvSpPr/>
          <p:nvPr/>
        </p:nvSpPr>
        <p:spPr>
          <a:xfrm>
            <a:off x="2692524" y="8767763"/>
            <a:ext cx="1209154"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Optional</a:t>
            </a:r>
            <a:endParaRPr lang="en-US" sz="1890" dirty="0"/>
          </a:p>
        </p:txBody>
      </p:sp>
      <p:sp>
        <p:nvSpPr>
          <p:cNvPr id="29" name="Text 27"/>
          <p:cNvSpPr/>
          <p:nvPr/>
        </p:nvSpPr>
        <p:spPr>
          <a:xfrm>
            <a:off x="3881214" y="8777288"/>
            <a:ext cx="1863030"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everywhere, so</a:t>
            </a:r>
            <a:endParaRPr lang="en-US" sz="2100" dirty="0"/>
          </a:p>
        </p:txBody>
      </p:sp>
      <p:sp>
        <p:nvSpPr>
          <p:cNvPr id="30" name="Text 28"/>
          <p:cNvSpPr/>
          <p:nvPr/>
        </p:nvSpPr>
        <p:spPr>
          <a:xfrm>
            <a:off x="5723781" y="8767763"/>
            <a:ext cx="642714"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None</a:t>
            </a:r>
            <a:endParaRPr lang="en-US" sz="1890" dirty="0"/>
          </a:p>
        </p:txBody>
      </p:sp>
      <p:sp>
        <p:nvSpPr>
          <p:cNvPr id="31" name="Text 29"/>
          <p:cNvSpPr/>
          <p:nvPr/>
        </p:nvSpPr>
        <p:spPr>
          <a:xfrm>
            <a:off x="1143000" y="9150027"/>
            <a:ext cx="7239260"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leaks and every caller must guard.</a:t>
            </a:r>
            <a:endParaRPr lang="en-US" sz="2100" dirty="0"/>
          </a:p>
        </p:txBody>
      </p:sp>
      <p:sp>
        <p:nvSpPr>
          <p:cNvPr id="32" name="Text 30"/>
          <p:cNvSpPr/>
          <p:nvPr/>
        </p:nvSpPr>
        <p:spPr>
          <a:xfrm>
            <a:off x="9448800" y="8284890"/>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33" name="Text 31"/>
          <p:cNvSpPr/>
          <p:nvPr/>
        </p:nvSpPr>
        <p:spPr>
          <a:xfrm>
            <a:off x="9448800" y="8777288"/>
            <a:ext cx="788045"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Prefer</a:t>
            </a:r>
            <a:endParaRPr lang="en-US" sz="2100" dirty="0"/>
          </a:p>
        </p:txBody>
      </p:sp>
      <p:sp>
        <p:nvSpPr>
          <p:cNvPr id="34" name="Text 32"/>
          <p:cNvSpPr/>
          <p:nvPr/>
        </p:nvSpPr>
        <p:spPr>
          <a:xfrm>
            <a:off x="10216455" y="8767763"/>
            <a:ext cx="1869415"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float | None</a:t>
            </a:r>
            <a:endParaRPr lang="en-US" sz="1890" dirty="0"/>
          </a:p>
        </p:txBody>
      </p:sp>
      <p:sp>
        <p:nvSpPr>
          <p:cNvPr id="35" name="Text 33"/>
          <p:cNvSpPr/>
          <p:nvPr/>
        </p:nvSpPr>
        <p:spPr>
          <a:xfrm>
            <a:off x="9448800" y="9126214"/>
            <a:ext cx="7101833"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only where absence is real; otherwise require the value.</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02 · TYPED PYTHON · INTERVIEW</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In an interview: Python &amp; typing</a:t>
            </a:r>
            <a:endParaRPr lang="en-US" sz="4800" dirty="0"/>
          </a:p>
        </p:txBody>
      </p:sp>
      <p:sp>
        <p:nvSpPr>
          <p:cNvPr id="4" name="Shape 2"/>
          <p:cNvSpPr/>
          <p:nvPr/>
        </p:nvSpPr>
        <p:spPr>
          <a:xfrm>
            <a:off x="1143000" y="2971800"/>
            <a:ext cx="14859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197897"/>
            <a:ext cx="14859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454524"/>
            <a:ext cx="647700" cy="1317799"/>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Q1</a:t>
            </a:r>
            <a:endParaRPr lang="en-US" sz="1800" dirty="0"/>
          </a:p>
        </p:txBody>
      </p:sp>
      <p:sp>
        <p:nvSpPr>
          <p:cNvPr id="7" name="Text 5"/>
          <p:cNvSpPr/>
          <p:nvPr/>
        </p:nvSpPr>
        <p:spPr>
          <a:xfrm>
            <a:off x="1981200" y="3454524"/>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What does a virtual environment actually isolate?</a:t>
            </a:r>
            <a:endParaRPr lang="en-US" sz="2550" dirty="0"/>
          </a:p>
        </p:txBody>
      </p:sp>
      <p:sp>
        <p:nvSpPr>
          <p:cNvPr id="8" name="Text 6"/>
          <p:cNvSpPr/>
          <p:nvPr/>
        </p:nvSpPr>
        <p:spPr>
          <a:xfrm>
            <a:off x="1981200" y="3819823"/>
            <a:ext cx="14441424"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Per-project Python and installed packages — not system settings. Activation only re-points </a:t>
            </a:r>
            <a:r>
              <a:rPr lang="en-US" sz="1890" dirty="0">
                <a:solidFill>
                  <a:srgbClr val="201F1D">
                    <a:alpha val="62000"/>
                  </a:srgbClr>
                </a:solidFill>
                <a:latin typeface="Courier New" pitchFamily="34" charset="0"/>
                <a:ea typeface="Courier New" pitchFamily="34" charset="-122"/>
                <a:cs typeface="Courier New" pitchFamily="34" charset="-120"/>
              </a:rPr>
              <a:t>python </a:t>
            </a:r>
            <a:r>
              <a:rPr lang="en-US" sz="2100" dirty="0">
                <a:solidFill>
                  <a:srgbClr val="201F1D">
                    <a:alpha val="62000"/>
                  </a:srgbClr>
                </a:solidFill>
                <a:latin typeface="Arial" pitchFamily="34" charset="0"/>
                <a:ea typeface="Arial" pitchFamily="34" charset="-122"/>
                <a:cs typeface="Arial" pitchFamily="34" charset="-120"/>
              </a:rPr>
              <a:t>/ </a:t>
            </a:r>
            <a:r>
              <a:rPr lang="en-US" sz="1890" dirty="0">
                <a:solidFill>
                  <a:srgbClr val="201F1D">
                    <a:alpha val="62000"/>
                  </a:srgbClr>
                </a:solidFill>
                <a:latin typeface="Courier New" pitchFamily="34" charset="0"/>
                <a:ea typeface="Courier New" pitchFamily="34" charset="-122"/>
                <a:cs typeface="Courier New" pitchFamily="34" charset="-120"/>
              </a:rPr>
              <a:t>pip </a:t>
            </a:r>
            <a:r>
              <a:rPr lang="en-US" sz="2100" dirty="0">
                <a:solidFill>
                  <a:srgbClr val="201F1D">
                    <a:alpha val="62000"/>
                  </a:srgbClr>
                </a:solidFill>
                <a:latin typeface="Arial" pitchFamily="34" charset="0"/>
                <a:ea typeface="Arial" pitchFamily="34" charset="-122"/>
                <a:cs typeface="Arial" pitchFamily="34" charset="-120"/>
              </a:rPr>
              <a:t>for the current shell.</a:t>
            </a:r>
            <a:endParaRPr lang="en-US" sz="2100" dirty="0"/>
          </a:p>
        </p:txBody>
      </p:sp>
      <p:sp>
        <p:nvSpPr>
          <p:cNvPr id="9" name="Shape 7"/>
          <p:cNvSpPr/>
          <p:nvPr/>
        </p:nvSpPr>
        <p:spPr>
          <a:xfrm>
            <a:off x="1143000" y="7423993"/>
            <a:ext cx="14859000" cy="19050"/>
          </a:xfrm>
          <a:prstGeom prst="rect">
            <a:avLst/>
          </a:prstGeom>
          <a:solidFill>
            <a:srgbClr val="201E1E">
              <a:alpha val="40000"/>
            </a:srgbClr>
          </a:solidFill>
          <a:ln/>
        </p:spPr>
        <p:txBody>
          <a:bodyPr/>
          <a:lstStyle/>
          <a:p>
            <a:endParaRPr lang="en-US"/>
          </a:p>
        </p:txBody>
      </p:sp>
      <p:sp>
        <p:nvSpPr>
          <p:cNvPr id="10" name="Text 8"/>
          <p:cNvSpPr/>
          <p:nvPr/>
        </p:nvSpPr>
        <p:spPr>
          <a:xfrm>
            <a:off x="1143000" y="5680621"/>
            <a:ext cx="647700" cy="1317799"/>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Q2</a:t>
            </a:r>
            <a:endParaRPr lang="en-US" sz="1800" dirty="0"/>
          </a:p>
        </p:txBody>
      </p:sp>
      <p:sp>
        <p:nvSpPr>
          <p:cNvPr id="11" name="Text 9"/>
          <p:cNvSpPr/>
          <p:nvPr/>
        </p:nvSpPr>
        <p:spPr>
          <a:xfrm>
            <a:off x="1981200" y="5680621"/>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Do Python type hints change runtime behaviour?</a:t>
            </a:r>
            <a:endParaRPr lang="en-US" sz="2550" dirty="0"/>
          </a:p>
        </p:txBody>
      </p:sp>
      <p:sp>
        <p:nvSpPr>
          <p:cNvPr id="12" name="Text 10"/>
          <p:cNvSpPr/>
          <p:nvPr/>
        </p:nvSpPr>
        <p:spPr>
          <a:xfrm>
            <a:off x="1981200" y="6045919"/>
            <a:ext cx="14441424"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No — they are ignored at runtime unless a tool (mypy, or Pydantic) reads them. They document and enable checking, not enforcement by the interpreter.</a:t>
            </a:r>
            <a:endParaRPr lang="en-US" sz="2100" dirty="0"/>
          </a:p>
        </p:txBody>
      </p:sp>
      <p:sp>
        <p:nvSpPr>
          <p:cNvPr id="13" name="Shape 11"/>
          <p:cNvSpPr/>
          <p:nvPr/>
        </p:nvSpPr>
        <p:spPr>
          <a:xfrm>
            <a:off x="1143000" y="9192890"/>
            <a:ext cx="148590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7906717"/>
            <a:ext cx="647700" cy="860599"/>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Q3</a:t>
            </a:r>
            <a:endParaRPr lang="en-US" sz="1800" dirty="0"/>
          </a:p>
        </p:txBody>
      </p:sp>
      <p:sp>
        <p:nvSpPr>
          <p:cNvPr id="15" name="Text 13"/>
          <p:cNvSpPr/>
          <p:nvPr/>
        </p:nvSpPr>
        <p:spPr>
          <a:xfrm>
            <a:off x="1981200" y="7906717"/>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dataclass versus Pydantic model — when each?</a:t>
            </a:r>
            <a:endParaRPr lang="en-US" sz="2550" dirty="0"/>
          </a:p>
        </p:txBody>
      </p:sp>
      <p:sp>
        <p:nvSpPr>
          <p:cNvPr id="16" name="Text 14"/>
          <p:cNvSpPr/>
          <p:nvPr/>
        </p:nvSpPr>
        <p:spPr>
          <a:xfrm>
            <a:off x="1981200" y="8272016"/>
            <a:ext cx="14441424" cy="4953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dataclass for trusted in-process data; Pydantic when data crosses a boundary and must be parsed, coerced or rejected.</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3223915"/>
            <a:ext cx="2921176" cy="2266950"/>
          </a:xfrm>
          <a:prstGeom prst="rect">
            <a:avLst/>
          </a:prstGeom>
          <a:noFill/>
          <a:ln/>
        </p:spPr>
        <p:txBody>
          <a:bodyPr wrap="square" lIns="25400" tIns="25400" rIns="25400" bIns="25400" rtlCol="0" anchor="t">
            <a:normAutofit/>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03</a:t>
            </a:r>
            <a:endParaRPr lang="en-US" sz="19500" dirty="0"/>
          </a:p>
        </p:txBody>
      </p:sp>
      <p:sp>
        <p:nvSpPr>
          <p:cNvPr id="3" name="Text 1"/>
          <p:cNvSpPr/>
          <p:nvPr/>
        </p:nvSpPr>
        <p:spPr>
          <a:xfrm>
            <a:off x="1107653" y="5833765"/>
            <a:ext cx="7992695"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FastAPI: routes &amp; validation</a:t>
            </a:r>
            <a:endParaRPr lang="en-US" sz="4800" dirty="0"/>
          </a:p>
        </p:txBody>
      </p:sp>
      <p:sp>
        <p:nvSpPr>
          <p:cNvPr id="4" name="Text 2"/>
          <p:cNvSpPr/>
          <p:nvPr/>
        </p:nvSpPr>
        <p:spPr>
          <a:xfrm>
            <a:off x="1143000" y="6651427"/>
            <a:ext cx="7003308" cy="221084"/>
          </a:xfrm>
          <a:prstGeom prst="rect">
            <a:avLst/>
          </a:prstGeom>
          <a:noFill/>
          <a:ln/>
        </p:spPr>
        <p:txBody>
          <a:bodyPr wrap="square" lIns="25400" tIns="25400" rIns="25400" bIns="25400" rtlCol="0" anchor="t">
            <a:normAutofit/>
          </a:bodyPr>
          <a:lstStyle/>
          <a:p>
            <a:pPr marL="0" indent="0" algn="l">
              <a:lnSpc>
                <a:spcPct val="133538"/>
              </a:lnSpc>
              <a:buNone/>
            </a:pPr>
            <a:r>
              <a:rPr lang="en-US" sz="2100" kern="0" spc="126" dirty="0">
                <a:solidFill>
                  <a:srgbClr val="F3F2F2"/>
                </a:solidFill>
                <a:latin typeface="Arial" pitchFamily="34" charset="0"/>
                <a:ea typeface="Arial" pitchFamily="34" charset="-122"/>
                <a:cs typeface="Arial" pitchFamily="34" charset="-120"/>
              </a:rPr>
              <a:t>0:40 – 1:20 · 40 MINUTES · LIVE-CODE ALONG</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 · WHY IT MATTERS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FastAPI</a:t>
            </a:r>
            <a:endParaRPr lang="en-US" sz="4800" dirty="0"/>
          </a:p>
        </p:txBody>
      </p:sp>
      <p:sp>
        <p:nvSpPr>
          <p:cNvPr id="4" name="Text 2"/>
          <p:cNvSpPr/>
          <p:nvPr/>
        </p:nvSpPr>
        <p:spPr>
          <a:xfrm>
            <a:off x="1143000" y="3074194"/>
            <a:ext cx="9646650" cy="1581596"/>
          </a:xfrm>
          <a:prstGeom prst="rect">
            <a:avLst/>
          </a:prstGeom>
          <a:noFill/>
          <a:ln/>
        </p:spPr>
        <p:txBody>
          <a:bodyPr wrap="square" lIns="25400" tIns="25400" rIns="25400" bIns="25400" rtlCol="0" anchor="t">
            <a:normAutofit/>
          </a:bodyPr>
          <a:lstStyle/>
          <a:p>
            <a:pPr marL="0" indent="0" algn="l">
              <a:lnSpc>
                <a:spcPct val="104874"/>
              </a:lnSpc>
              <a:buNone/>
            </a:pPr>
            <a:r>
              <a:rPr lang="en-US" sz="3900" b="1" kern="0" spc="-58" dirty="0">
                <a:solidFill>
                  <a:srgbClr val="201E1D"/>
                </a:solidFill>
                <a:latin typeface="Arial" pitchFamily="34" charset="0"/>
                <a:ea typeface="Arial" pitchFamily="34" charset="-122"/>
                <a:cs typeface="Arial" pitchFamily="34" charset="-120"/>
              </a:rPr>
              <a:t>Write a typed function; get validation, JSON, and interactive docs </a:t>
            </a:r>
            <a:r>
              <a:rPr lang="en-US" sz="3900" b="1" kern="0" spc="-58" dirty="0">
                <a:solidFill>
                  <a:srgbClr val="AE1800"/>
                </a:solidFill>
                <a:latin typeface="Arial" pitchFamily="34" charset="0"/>
                <a:ea typeface="Arial" pitchFamily="34" charset="-122"/>
                <a:cs typeface="Arial" pitchFamily="34" charset="-120"/>
              </a:rPr>
              <a:t>for free </a:t>
            </a:r>
            <a:r>
              <a:rPr lang="en-US" sz="3900" b="1" kern="0" spc="-58" dirty="0">
                <a:solidFill>
                  <a:srgbClr val="201E1D"/>
                </a:solidFill>
                <a:latin typeface="Arial" pitchFamily="34" charset="0"/>
                <a:ea typeface="Arial" pitchFamily="34" charset="-122"/>
                <a:cs typeface="Arial" pitchFamily="34" charset="-120"/>
              </a:rPr>
              <a:t>. The type hints do the work twice.</a:t>
            </a:r>
            <a:endParaRPr lang="en-US" sz="3900" dirty="0"/>
          </a:p>
        </p:txBody>
      </p:sp>
      <p:sp>
        <p:nvSpPr>
          <p:cNvPr id="5" name="Text 3"/>
          <p:cNvSpPr/>
          <p:nvPr/>
        </p:nvSpPr>
        <p:spPr>
          <a:xfrm>
            <a:off x="1143000" y="5367412"/>
            <a:ext cx="16482060"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FastAPI reads the same annotations you just learned to parse requests, serialise responses, and generate an OpenAPI schema. Less glue code than Flask, and the frontend team can build against your docs without reading a line of your source — which is exactly what the Next.js page does at the checkpoint.</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1320411"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main.py</a:t>
            </a:r>
            <a:endParaRPr lang="en-US" sz="2250" dirty="0"/>
          </a:p>
        </p:txBody>
      </p:sp>
      <p:sp>
        <p:nvSpPr>
          <p:cNvPr id="5" name="Text 3"/>
          <p:cNvSpPr/>
          <p:nvPr/>
        </p:nvSpPr>
        <p:spPr>
          <a:xfrm>
            <a:off x="2838673" y="1894136"/>
            <a:ext cx="510467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the smallest possible service</a:t>
            </a:r>
            <a:endParaRPr lang="en-US" sz="2100" dirty="0"/>
          </a:p>
        </p:txBody>
      </p:sp>
      <p:sp>
        <p:nvSpPr>
          <p:cNvPr id="6" name="Shape 4"/>
          <p:cNvSpPr/>
          <p:nvPr/>
        </p:nvSpPr>
        <p:spPr>
          <a:xfrm>
            <a:off x="1143000" y="2723852"/>
            <a:ext cx="16002000" cy="3181350"/>
          </a:xfrm>
          <a:prstGeom prst="rect">
            <a:avLst/>
          </a:prstGeom>
          <a:solidFill>
            <a:srgbClr val="EAE9E9"/>
          </a:solidFill>
          <a:ln/>
        </p:spPr>
        <p:txBody>
          <a:bodyPr/>
          <a:lstStyle/>
          <a:p>
            <a:endParaRPr lang="en-US"/>
          </a:p>
        </p:txBody>
      </p:sp>
      <p:sp>
        <p:nvSpPr>
          <p:cNvPr id="7" name="Text 5"/>
          <p:cNvSpPr/>
          <p:nvPr/>
        </p:nvSpPr>
        <p:spPr>
          <a:xfrm>
            <a:off x="1562100" y="3047702"/>
            <a:ext cx="15643860" cy="2571750"/>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01E1D"/>
                </a:solidFill>
                <a:highlight>
                  <a:srgbClr val="EAE9E9"/>
                </a:highlight>
                <a:latin typeface="Courier New" pitchFamily="34" charset="0"/>
                <a:ea typeface="Courier New" pitchFamily="34" charset="-122"/>
                <a:cs typeface="Courier New" pitchFamily="34" charset="-120"/>
              </a:rPr>
              <a:t>from fastapi import FastAPI</a:t>
            </a:r>
            <a:endParaRPr lang="en-US" sz="2025" dirty="0"/>
          </a:p>
          <a:p>
            <a:pPr marL="0" indent="0" algn="l">
              <a:lnSpc>
                <a:spcPct val="124590"/>
              </a:lnSpc>
              <a:buNone/>
            </a:pPr>
            <a:endParaRPr lang="en-US" sz="2025" dirty="0"/>
          </a:p>
          <a:p>
            <a:pPr marL="0" indent="0" algn="l">
              <a:lnSpc>
                <a:spcPct val="124590"/>
              </a:lnSpc>
              <a:buNone/>
            </a:pPr>
            <a:r>
              <a:rPr lang="en-US" sz="2025" dirty="0">
                <a:solidFill>
                  <a:srgbClr val="201E1D"/>
                </a:solidFill>
                <a:highlight>
                  <a:srgbClr val="EAE9E9"/>
                </a:highlight>
                <a:latin typeface="Courier New" pitchFamily="34" charset="0"/>
                <a:ea typeface="Courier New" pitchFamily="34" charset="-122"/>
                <a:cs typeface="Courier New" pitchFamily="34" charset="-120"/>
              </a:rPr>
              <a:t>app = FastAPI(title="Loan Intake Service") </a:t>
            </a:r>
            <a:endParaRPr lang="en-US" sz="2025" dirty="0"/>
          </a:p>
          <a:p>
            <a:pPr marL="0" indent="0" algn="l">
              <a:lnSpc>
                <a:spcPct val="124590"/>
              </a:lnSpc>
              <a:buNone/>
            </a:pPr>
            <a:r>
              <a:rPr lang="en-US" sz="2025" dirty="0">
                <a:solidFill>
                  <a:srgbClr val="AE1800"/>
                </a:solidFill>
                <a:latin typeface="Courier New" pitchFamily="34" charset="0"/>
                <a:ea typeface="Courier New" pitchFamily="34" charset="-122"/>
                <a:cs typeface="Courier New" pitchFamily="34" charset="-120"/>
              </a:rPr>
              <a:t>@app.get("/health") </a:t>
            </a:r>
            <a:r>
              <a:rPr lang="en-US" sz="2025" dirty="0">
                <a:solidFill>
                  <a:srgbClr val="201E1D"/>
                </a:solidFill>
                <a:highlight>
                  <a:srgbClr val="EAE9E9"/>
                </a:highlight>
                <a:latin typeface="Courier New" pitchFamily="34" charset="0"/>
                <a:ea typeface="Courier New" pitchFamily="34" charset="-122"/>
                <a:cs typeface="Courier New" pitchFamily="34" charset="-120"/>
              </a:rPr>
              <a:t>def health() -&gt; dict[str, str]:</a:t>
            </a:r>
            <a:endParaRPr lang="en-US" sz="2025" dirty="0"/>
          </a:p>
          <a:p>
            <a:pPr marL="0" indent="0" algn="l">
              <a:lnSpc>
                <a:spcPct val="124590"/>
              </a:lnSpc>
              <a:buNone/>
            </a:pPr>
            <a:r>
              <a:rPr lang="en-US" sz="2025" dirty="0">
                <a:solidFill>
                  <a:srgbClr val="201E1D"/>
                </a:solidFill>
                <a:highlight>
                  <a:srgbClr val="EAE9E9"/>
                </a:highlight>
                <a:latin typeface="Courier New" pitchFamily="34" charset="0"/>
                <a:ea typeface="Courier New" pitchFamily="34" charset="-122"/>
                <a:cs typeface="Courier New" pitchFamily="34" charset="-120"/>
              </a:rPr>
              <a:t>    return {"status": "ok"}</a:t>
            </a:r>
            <a:endParaRPr lang="en-US" sz="2025" dirty="0"/>
          </a:p>
        </p:txBody>
      </p:sp>
      <p:sp>
        <p:nvSpPr>
          <p:cNvPr id="8" name="Text 6"/>
          <p:cNvSpPr/>
          <p:nvPr/>
        </p:nvSpPr>
        <p:spPr>
          <a:xfrm>
            <a:off x="1143000" y="6197724"/>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Run it with </a:t>
            </a:r>
            <a:r>
              <a:rPr lang="en-US" sz="1875" dirty="0">
                <a:solidFill>
                  <a:srgbClr val="211D1D">
                    <a:alpha val="55000"/>
                  </a:srgbClr>
                </a:solidFill>
                <a:latin typeface="Courier New" pitchFamily="34" charset="0"/>
                <a:ea typeface="Courier New" pitchFamily="34" charset="-122"/>
                <a:cs typeface="Courier New" pitchFamily="34" charset="-120"/>
              </a:rPr>
              <a:t>uvicorn main:app --reload </a:t>
            </a:r>
            <a:r>
              <a:rPr lang="en-US" sz="2100" dirty="0">
                <a:solidFill>
                  <a:srgbClr val="211D1D">
                    <a:alpha val="55000"/>
                  </a:srgbClr>
                </a:solidFill>
                <a:latin typeface="Arial" pitchFamily="34" charset="0"/>
                <a:ea typeface="Arial" pitchFamily="34" charset="-122"/>
                <a:cs typeface="Arial" pitchFamily="34" charset="-120"/>
              </a:rPr>
              <a:t>— </a:t>
            </a:r>
            <a:r>
              <a:rPr lang="en-US" sz="2100" dirty="0">
                <a:solidFill>
                  <a:srgbClr val="AE1800"/>
                </a:solidFill>
                <a:latin typeface="Arial" pitchFamily="34" charset="0"/>
                <a:ea typeface="Arial" pitchFamily="34" charset="-122"/>
                <a:cs typeface="Arial" pitchFamily="34" charset="-120"/>
              </a:rPr>
              <a:t>--reload </a:t>
            </a:r>
            <a:r>
              <a:rPr lang="en-US" sz="2100" dirty="0">
                <a:solidFill>
                  <a:srgbClr val="211D1D">
                    <a:alpha val="55000"/>
                  </a:srgbClr>
                </a:solidFill>
                <a:latin typeface="Arial" pitchFamily="34" charset="0"/>
                <a:ea typeface="Arial" pitchFamily="34" charset="-122"/>
                <a:cs typeface="Arial" pitchFamily="34" charset="-120"/>
              </a:rPr>
              <a:t>restarts on every save. A route is just a decorated function; the decorator names the HTTP method and path.</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 · THE MOMENT</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Interactive docs, generated</a:t>
            </a:r>
            <a:endParaRPr lang="en-US" sz="4800" dirty="0"/>
          </a:p>
        </p:txBody>
      </p:sp>
      <p:sp>
        <p:nvSpPr>
          <p:cNvPr id="4" name="Text 2"/>
          <p:cNvSpPr/>
          <p:nvPr/>
        </p:nvSpPr>
        <p:spPr>
          <a:xfrm>
            <a:off x="1143000" y="3143176"/>
            <a:ext cx="874588" cy="390525"/>
          </a:xfrm>
          <a:prstGeom prst="rect">
            <a:avLst/>
          </a:prstGeom>
          <a:noFill/>
          <a:ln/>
        </p:spPr>
        <p:txBody>
          <a:bodyPr wrap="square" lIns="0" tIns="0" rIns="0" bIns="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Open</a:t>
            </a:r>
            <a:endParaRPr lang="en-US" sz="2550" dirty="0"/>
          </a:p>
        </p:txBody>
      </p:sp>
      <p:sp>
        <p:nvSpPr>
          <p:cNvPr id="5" name="Text 3"/>
          <p:cNvSpPr/>
          <p:nvPr/>
        </p:nvSpPr>
        <p:spPr>
          <a:xfrm>
            <a:off x="2009180" y="3133651"/>
            <a:ext cx="4918204" cy="419100"/>
          </a:xfrm>
          <a:prstGeom prst="rect">
            <a:avLst/>
          </a:prstGeom>
          <a:noFill/>
          <a:ln/>
        </p:spPr>
        <p:txBody>
          <a:bodyPr wrap="square" lIns="25400" tIns="25400" rIns="25400" bIns="25400" rtlCol="0" anchor="t">
            <a:normAutofit/>
          </a:bodyPr>
          <a:lstStyle/>
          <a:p>
            <a:pPr marL="0" indent="0" algn="l">
              <a:lnSpc>
                <a:spcPct val="139130"/>
              </a:lnSpc>
              <a:buNone/>
            </a:pPr>
            <a:r>
              <a:rPr lang="en-US" sz="2295" kern="0" spc="-23" dirty="0">
                <a:solidFill>
                  <a:srgbClr val="201E1D"/>
                </a:solidFill>
                <a:latin typeface="Courier New" pitchFamily="34" charset="0"/>
                <a:ea typeface="Courier New" pitchFamily="34" charset="-122"/>
                <a:cs typeface="Courier New" pitchFamily="34" charset="-120"/>
              </a:rPr>
              <a:t>http://localhost:8000/docs</a:t>
            </a:r>
            <a:endParaRPr lang="en-US" sz="2295" dirty="0"/>
          </a:p>
        </p:txBody>
      </p:sp>
      <p:sp>
        <p:nvSpPr>
          <p:cNvPr id="6" name="Text 4"/>
          <p:cNvSpPr/>
          <p:nvPr/>
        </p:nvSpPr>
        <p:spPr>
          <a:xfrm>
            <a:off x="6547991" y="3143176"/>
            <a:ext cx="7988327" cy="390525"/>
          </a:xfrm>
          <a:prstGeom prst="rect">
            <a:avLst/>
          </a:prstGeom>
          <a:noFill/>
          <a:ln/>
        </p:spPr>
        <p:txBody>
          <a:bodyPr wrap="square" lIns="0" tIns="0" rIns="0" bIns="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 a full Swagger UI is already there, with no extra code</a:t>
            </a:r>
            <a:endParaRPr lang="en-US" sz="2550" dirty="0"/>
          </a:p>
        </p:txBody>
      </p:sp>
      <p:sp>
        <p:nvSpPr>
          <p:cNvPr id="7" name="Text 5"/>
          <p:cNvSpPr/>
          <p:nvPr/>
        </p:nvSpPr>
        <p:spPr>
          <a:xfrm>
            <a:off x="1143000" y="3571801"/>
            <a:ext cx="14668500" cy="3524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Pause here. Swagger UI appearing for free is the moment FastAPI sells itself.</a:t>
            </a:r>
            <a:endParaRPr lang="en-US" sz="2100" dirty="0"/>
          </a:p>
        </p:txBody>
      </p:sp>
      <p:sp>
        <p:nvSpPr>
          <p:cNvPr id="8" name="Text 6"/>
          <p:cNvSpPr/>
          <p:nvPr/>
        </p:nvSpPr>
        <p:spPr>
          <a:xfrm>
            <a:off x="1143000" y="4349725"/>
            <a:ext cx="14668500" cy="2602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Every route, parameter and schema was generated from the type hints you just wrote</a:t>
            </a:r>
            <a:endParaRPr lang="en-US" sz="2550" dirty="0"/>
          </a:p>
        </p:txBody>
      </p:sp>
      <p:sp>
        <p:nvSpPr>
          <p:cNvPr id="9" name="Text 7"/>
          <p:cNvSpPr/>
          <p:nvPr/>
        </p:nvSpPr>
        <p:spPr>
          <a:xfrm>
            <a:off x="1143000" y="5035451"/>
            <a:ext cx="13735050" cy="7174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You can call the API from this page — it is how the frontend team explores your service before writing any client</a:t>
            </a:r>
            <a:endParaRPr lang="en-US" sz="2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 · WHY IT MATTERS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The Pydantic model is the contract</a:t>
            </a:r>
            <a:endParaRPr lang="en-US" sz="4800" dirty="0"/>
          </a:p>
        </p:txBody>
      </p:sp>
      <p:sp>
        <p:nvSpPr>
          <p:cNvPr id="4" name="Shape 2"/>
          <p:cNvSpPr/>
          <p:nvPr/>
        </p:nvSpPr>
        <p:spPr>
          <a:xfrm>
            <a:off x="1143000" y="3190875"/>
            <a:ext cx="77724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854964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One definition, three jobs</a:t>
            </a:r>
            <a:endParaRPr lang="en-US" sz="2550" dirty="0"/>
          </a:p>
        </p:txBody>
      </p:sp>
      <p:sp>
        <p:nvSpPr>
          <p:cNvPr id="6" name="Text 4"/>
          <p:cNvSpPr/>
          <p:nvPr/>
        </p:nvSpPr>
        <p:spPr>
          <a:xfrm>
            <a:off x="1143000" y="3931741"/>
            <a:ext cx="8005572"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a:t>
            </a:r>
            <a:r>
              <a:rPr lang="en-US" sz="1890" dirty="0">
                <a:solidFill>
                  <a:srgbClr val="201E1D"/>
                </a:solidFill>
                <a:latin typeface="Courier New" pitchFamily="34" charset="0"/>
                <a:ea typeface="Courier New" pitchFamily="34" charset="-122"/>
                <a:cs typeface="Courier New" pitchFamily="34" charset="-120"/>
              </a:rPr>
              <a:t>BaseModel </a:t>
            </a:r>
            <a:r>
              <a:rPr lang="en-US" sz="2100" dirty="0">
                <a:solidFill>
                  <a:srgbClr val="201E1D"/>
                </a:solidFill>
                <a:latin typeface="Arial" pitchFamily="34" charset="0"/>
                <a:ea typeface="Arial" pitchFamily="34" charset="-122"/>
                <a:cs typeface="Arial" pitchFamily="34" charset="-120"/>
              </a:rPr>
              <a:t>parses the incoming JSON, validates every field, and describes the shape in </a:t>
            </a:r>
            <a:r>
              <a:rPr lang="en-US" sz="1890" dirty="0">
                <a:solidFill>
                  <a:srgbClr val="201E1D"/>
                </a:solidFill>
                <a:latin typeface="Courier New" pitchFamily="34" charset="0"/>
                <a:ea typeface="Courier New" pitchFamily="34" charset="-122"/>
                <a:cs typeface="Courier New" pitchFamily="34" charset="-120"/>
              </a:rPr>
              <a:t>/docs </a:t>
            </a:r>
            <a:r>
              <a:rPr lang="en-US" sz="2100" dirty="0">
                <a:solidFill>
                  <a:srgbClr val="201E1D"/>
                </a:solidFill>
                <a:latin typeface="Arial" pitchFamily="34" charset="0"/>
                <a:ea typeface="Arial" pitchFamily="34" charset="-122"/>
                <a:cs typeface="Arial" pitchFamily="34" charset="-120"/>
              </a:rPr>
              <a:t>— from a single class.</a:t>
            </a:r>
            <a:endParaRPr lang="en-US" sz="2100" dirty="0"/>
          </a:p>
        </p:txBody>
      </p:sp>
      <p:sp>
        <p:nvSpPr>
          <p:cNvPr id="7" name="Shape 5"/>
          <p:cNvSpPr/>
          <p:nvPr/>
        </p:nvSpPr>
        <p:spPr>
          <a:xfrm>
            <a:off x="9372600" y="3190875"/>
            <a:ext cx="7772400" cy="19050"/>
          </a:xfrm>
          <a:prstGeom prst="rect">
            <a:avLst/>
          </a:prstGeom>
          <a:solidFill>
            <a:srgbClr val="201E1E">
              <a:alpha val="40000"/>
            </a:srgbClr>
          </a:solidFill>
          <a:ln/>
        </p:spPr>
        <p:txBody>
          <a:bodyPr/>
          <a:lstStyle/>
          <a:p>
            <a:endParaRPr lang="en-US"/>
          </a:p>
        </p:txBody>
      </p:sp>
      <p:sp>
        <p:nvSpPr>
          <p:cNvPr id="8" name="Text 6"/>
          <p:cNvSpPr/>
          <p:nvPr/>
        </p:nvSpPr>
        <p:spPr>
          <a:xfrm>
            <a:off x="9372600" y="3425577"/>
            <a:ext cx="854964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The boundary made explicit</a:t>
            </a:r>
            <a:endParaRPr lang="en-US" sz="2550" dirty="0"/>
          </a:p>
        </p:txBody>
      </p:sp>
      <p:sp>
        <p:nvSpPr>
          <p:cNvPr id="9" name="Text 7"/>
          <p:cNvSpPr/>
          <p:nvPr/>
        </p:nvSpPr>
        <p:spPr>
          <a:xfrm>
            <a:off x="9372600" y="3931741"/>
            <a:ext cx="8005572"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Bad input is rejected before your function runs. Your handler only ever sees data that already matches the types — the contract the frontend depends on.</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1320411"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main.py</a:t>
            </a:r>
            <a:endParaRPr lang="en-US" sz="2250" dirty="0"/>
          </a:p>
        </p:txBody>
      </p:sp>
      <p:sp>
        <p:nvSpPr>
          <p:cNvPr id="5" name="Text 3"/>
          <p:cNvSpPr/>
          <p:nvPr/>
        </p:nvSpPr>
        <p:spPr>
          <a:xfrm>
            <a:off x="2838673" y="1894136"/>
            <a:ext cx="4400550"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request &amp; response models</a:t>
            </a:r>
            <a:endParaRPr lang="en-US" sz="2100" dirty="0"/>
          </a:p>
        </p:txBody>
      </p:sp>
      <p:sp>
        <p:nvSpPr>
          <p:cNvPr id="6" name="Shape 4"/>
          <p:cNvSpPr/>
          <p:nvPr/>
        </p:nvSpPr>
        <p:spPr>
          <a:xfrm>
            <a:off x="1143000" y="2732187"/>
            <a:ext cx="16002000" cy="4495800"/>
          </a:xfrm>
          <a:prstGeom prst="rect">
            <a:avLst/>
          </a:prstGeom>
          <a:solidFill>
            <a:srgbClr val="EAE9E9"/>
          </a:solidFill>
          <a:ln/>
        </p:spPr>
        <p:txBody>
          <a:bodyPr/>
          <a:lstStyle/>
          <a:p>
            <a:endParaRPr lang="en-US"/>
          </a:p>
        </p:txBody>
      </p:sp>
      <p:sp>
        <p:nvSpPr>
          <p:cNvPr id="7" name="Text 5"/>
          <p:cNvSpPr/>
          <p:nvPr/>
        </p:nvSpPr>
        <p:spPr>
          <a:xfrm>
            <a:off x="1524000" y="2921613"/>
            <a:ext cx="5933588" cy="1252538"/>
          </a:xfrm>
          <a:prstGeom prst="rect">
            <a:avLst/>
          </a:prstGeom>
          <a:noFill/>
          <a:ln/>
        </p:spPr>
        <p:txBody>
          <a:bodyPr wrap="none" lIns="0" tIns="0" rIns="0" bIns="0" rtlCol="0" anchor="t">
            <a:normAutofit lnSpcReduction="10000"/>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from fastapi import FastAPI, HTTPException</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from pydantic import BaseModel, Field</a:t>
            </a:r>
            <a:endParaRPr lang="en-US" sz="1800" dirty="0"/>
          </a:p>
          <a:p>
            <a:pPr marL="0" indent="0" algn="l">
              <a:lnSpc>
                <a:spcPct val="118519"/>
              </a:lnSpc>
              <a:buNone/>
            </a:pP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class ApplicationIn(BaseModel):</a:t>
            </a:r>
            <a:endParaRPr lang="en-US" sz="1800" dirty="0"/>
          </a:p>
        </p:txBody>
      </p:sp>
      <p:sp>
        <p:nvSpPr>
          <p:cNvPr id="8" name="Shape 6"/>
          <p:cNvSpPr/>
          <p:nvPr/>
        </p:nvSpPr>
        <p:spPr>
          <a:xfrm>
            <a:off x="1143000" y="4218087"/>
            <a:ext cx="16002000" cy="914400"/>
          </a:xfrm>
          <a:prstGeom prst="rect">
            <a:avLst/>
          </a:prstGeom>
          <a:solidFill>
            <a:srgbClr val="FFF2EF"/>
          </a:solidFill>
          <a:ln/>
        </p:spPr>
        <p:txBody>
          <a:bodyPr/>
          <a:lstStyle/>
          <a:p>
            <a:endParaRPr lang="en-US"/>
          </a:p>
        </p:txBody>
      </p:sp>
      <p:sp>
        <p:nvSpPr>
          <p:cNvPr id="9" name="Text 7"/>
          <p:cNvSpPr/>
          <p:nvPr/>
        </p:nvSpPr>
        <p:spPr>
          <a:xfrm>
            <a:off x="1524000" y="4218087"/>
            <a:ext cx="15720060" cy="952500"/>
          </a:xfrm>
          <a:prstGeom prst="rect">
            <a:avLst/>
          </a:prstGeom>
          <a:noFill/>
          <a:ln/>
        </p:spPr>
        <p:txBody>
          <a:bodyPr wrap="none" lIns="25400" tIns="25400" rIns="25400" bIns="2540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applicant_name: str = Field(min_length=2, max_length=100)</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monthly_income: float = Field(gt=0)</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amount_requested: float = Field(gt=0, le=10_00_000)  # ₹10 lakh cap</a:t>
            </a:r>
            <a:endParaRPr lang="en-US" sz="1800" dirty="0"/>
          </a:p>
        </p:txBody>
      </p:sp>
      <p:sp>
        <p:nvSpPr>
          <p:cNvPr id="10" name="Text 8"/>
          <p:cNvSpPr/>
          <p:nvPr/>
        </p:nvSpPr>
        <p:spPr>
          <a:xfrm>
            <a:off x="1524000" y="5437287"/>
            <a:ext cx="5085954" cy="1557338"/>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purpose: str</a:t>
            </a:r>
            <a:endParaRPr lang="en-US" sz="1800" dirty="0"/>
          </a:p>
          <a:p>
            <a:pPr marL="0" indent="0" algn="l">
              <a:lnSpc>
                <a:spcPct val="118519"/>
              </a:lnSpc>
              <a:buNone/>
            </a:pP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class ApplicationOut(ApplicationIn):</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id: int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status: str = "received"</a:t>
            </a:r>
            <a:endParaRPr lang="en-US" sz="1800" dirty="0"/>
          </a:p>
        </p:txBody>
      </p:sp>
      <p:sp>
        <p:nvSpPr>
          <p:cNvPr id="11" name="Text 9"/>
          <p:cNvSpPr/>
          <p:nvPr/>
        </p:nvSpPr>
        <p:spPr>
          <a:xfrm>
            <a:off x="1143000" y="7520508"/>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1875" dirty="0">
                <a:solidFill>
                  <a:srgbClr val="211D1D">
                    <a:alpha val="55000"/>
                  </a:srgbClr>
                </a:solidFill>
                <a:latin typeface="Courier New" pitchFamily="34" charset="0"/>
                <a:ea typeface="Courier New" pitchFamily="34" charset="-122"/>
                <a:cs typeface="Courier New" pitchFamily="34" charset="-120"/>
              </a:rPr>
              <a:t>Field(...) </a:t>
            </a:r>
            <a:r>
              <a:rPr lang="en-US" sz="2100" dirty="0">
                <a:solidFill>
                  <a:srgbClr val="211D1D">
                    <a:alpha val="55000"/>
                  </a:srgbClr>
                </a:solidFill>
                <a:latin typeface="Arial" pitchFamily="34" charset="0"/>
                <a:ea typeface="Arial" pitchFamily="34" charset="-122"/>
                <a:cs typeface="Arial" pitchFamily="34" charset="-120"/>
              </a:rPr>
              <a:t>attaches the constraints. </a:t>
            </a:r>
            <a:r>
              <a:rPr lang="en-US" sz="1875" dirty="0">
                <a:solidFill>
                  <a:srgbClr val="211D1D">
                    <a:alpha val="55000"/>
                  </a:srgbClr>
                </a:solidFill>
                <a:latin typeface="Courier New" pitchFamily="34" charset="0"/>
                <a:ea typeface="Courier New" pitchFamily="34" charset="-122"/>
                <a:cs typeface="Courier New" pitchFamily="34" charset="-120"/>
              </a:rPr>
              <a:t>ApplicationOut </a:t>
            </a:r>
            <a:r>
              <a:rPr lang="en-US" sz="2100" dirty="0">
                <a:solidFill>
                  <a:srgbClr val="211D1D">
                    <a:alpha val="55000"/>
                  </a:srgbClr>
                </a:solidFill>
                <a:latin typeface="Arial" pitchFamily="34" charset="0"/>
                <a:ea typeface="Arial" pitchFamily="34" charset="-122"/>
                <a:cs typeface="Arial" pitchFamily="34" charset="-120"/>
              </a:rPr>
              <a:t>inherits every input field and adds the two the server assigns — so the response schema is written once.</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1320411"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main.py</a:t>
            </a:r>
            <a:endParaRPr lang="en-US" sz="2250" dirty="0"/>
          </a:p>
        </p:txBody>
      </p:sp>
      <p:sp>
        <p:nvSpPr>
          <p:cNvPr id="5" name="Text 3"/>
          <p:cNvSpPr/>
          <p:nvPr/>
        </p:nvSpPr>
        <p:spPr>
          <a:xfrm>
            <a:off x="2838673" y="1894136"/>
            <a:ext cx="545673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three routes, in memory for now</a:t>
            </a:r>
            <a:endParaRPr lang="en-US" sz="2100" dirty="0"/>
          </a:p>
        </p:txBody>
      </p:sp>
      <p:sp>
        <p:nvSpPr>
          <p:cNvPr id="6" name="Shape 4"/>
          <p:cNvSpPr/>
          <p:nvPr/>
        </p:nvSpPr>
        <p:spPr>
          <a:xfrm>
            <a:off x="1143000" y="2732187"/>
            <a:ext cx="16002000" cy="5410200"/>
          </a:xfrm>
          <a:prstGeom prst="rect">
            <a:avLst/>
          </a:prstGeom>
          <a:solidFill>
            <a:srgbClr val="EAE9E9"/>
          </a:solidFill>
          <a:ln/>
        </p:spPr>
        <p:txBody>
          <a:bodyPr/>
          <a:lstStyle/>
          <a:p>
            <a:endParaRPr lang="en-US"/>
          </a:p>
        </p:txBody>
      </p:sp>
      <p:sp>
        <p:nvSpPr>
          <p:cNvPr id="7" name="Text 5"/>
          <p:cNvSpPr/>
          <p:nvPr/>
        </p:nvSpPr>
        <p:spPr>
          <a:xfrm>
            <a:off x="1524000" y="2998887"/>
            <a:ext cx="15720060" cy="4914900"/>
          </a:xfrm>
          <a:prstGeom prst="rect">
            <a:avLst/>
          </a:prstGeom>
          <a:noFill/>
          <a:ln/>
        </p:spPr>
        <p:txBody>
          <a:bodyPr wrap="none" lIns="25400" tIns="25400" rIns="25400" bIns="25400" rtlCol="0" anchor="t">
            <a:normAutofit/>
          </a:bodyPr>
          <a:lstStyle/>
          <a:p>
            <a:pPr marL="0" indent="0" algn="l">
              <a:lnSpc>
                <a:spcPct val="118519"/>
              </a:lnSpc>
              <a:buNone/>
            </a:pPr>
            <a:r>
              <a:rPr lang="en-US" sz="1800" dirty="0">
                <a:solidFill>
                  <a:srgbClr val="AE1800"/>
                </a:solidFill>
                <a:latin typeface="Courier New" pitchFamily="34" charset="0"/>
                <a:ea typeface="Courier New" pitchFamily="34" charset="-122"/>
                <a:cs typeface="Courier New" pitchFamily="34" charset="-120"/>
              </a:rPr>
              <a:t>@app.post("/applications", response_model=ApplicationOut, status_code=201) </a:t>
            </a:r>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def create_application(payload: ApplicationIn) -&gt; ApplicationOut:</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record = ApplicationOut(id=len(DB) + 1, **payload.model_dump())</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DB.append(record)</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return record </a:t>
            </a:r>
            <a:endParaRPr lang="en-US" sz="1800" dirty="0"/>
          </a:p>
          <a:p>
            <a:pPr marL="0" indent="0" algn="l">
              <a:lnSpc>
                <a:spcPct val="118519"/>
              </a:lnSpc>
              <a:buNone/>
            </a:pPr>
            <a:r>
              <a:rPr lang="en-US" sz="1800" dirty="0">
                <a:solidFill>
                  <a:srgbClr val="AE1800"/>
                </a:solidFill>
                <a:latin typeface="Courier New" pitchFamily="34" charset="0"/>
                <a:ea typeface="Courier New" pitchFamily="34" charset="-122"/>
                <a:cs typeface="Courier New" pitchFamily="34" charset="-120"/>
              </a:rPr>
              <a:t>@app.get("/applications", response_model=list[ApplicationOut]) </a:t>
            </a:r>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def list_applications() -&gt; list[ApplicationOut]:</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return DB </a:t>
            </a:r>
            <a:endParaRPr lang="en-US" sz="1800" dirty="0"/>
          </a:p>
          <a:p>
            <a:pPr marL="0" indent="0" algn="l">
              <a:lnSpc>
                <a:spcPct val="118519"/>
              </a:lnSpc>
              <a:buNone/>
            </a:pPr>
            <a:r>
              <a:rPr lang="en-US" sz="1800" dirty="0">
                <a:solidFill>
                  <a:srgbClr val="AE1800"/>
                </a:solidFill>
                <a:latin typeface="Courier New" pitchFamily="34" charset="0"/>
                <a:ea typeface="Courier New" pitchFamily="34" charset="-122"/>
                <a:cs typeface="Courier New" pitchFamily="34" charset="-120"/>
              </a:rPr>
              <a:t>@app.get("/applications/{app_id}", response_model=ApplicationOut) </a:t>
            </a:r>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def get_application(app_id: int) -&gt; ApplicationOut:</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for r in DB:</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if r.id == app_id:</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return r</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raise HTTPException(status_code=404, detail="Application not found")</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 · DEEP DIVE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What the constraints buy</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Length</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1890" dirty="0">
                <a:solidFill>
                  <a:srgbClr val="201E1D"/>
                </a:solidFill>
                <a:latin typeface="Courier New" pitchFamily="34" charset="0"/>
                <a:ea typeface="Courier New" pitchFamily="34" charset="-122"/>
                <a:cs typeface="Courier New" pitchFamily="34" charset="-120"/>
              </a:rPr>
              <a:t>min_length=2, max_length=100 </a:t>
            </a:r>
            <a:r>
              <a:rPr lang="en-US" sz="2100" dirty="0">
                <a:solidFill>
                  <a:srgbClr val="201E1D"/>
                </a:solidFill>
                <a:latin typeface="Arial" pitchFamily="34" charset="0"/>
                <a:ea typeface="Arial" pitchFamily="34" charset="-122"/>
                <a:cs typeface="Arial" pitchFamily="34" charset="-120"/>
              </a:rPr>
              <a:t>on </a:t>
            </a:r>
            <a:r>
              <a:rPr lang="en-US" sz="1890" dirty="0">
                <a:solidFill>
                  <a:srgbClr val="201E1D"/>
                </a:solidFill>
                <a:latin typeface="Courier New" pitchFamily="34" charset="0"/>
                <a:ea typeface="Courier New" pitchFamily="34" charset="-122"/>
                <a:cs typeface="Courier New" pitchFamily="34" charset="-120"/>
              </a:rPr>
              <a:t>applicant_name </a:t>
            </a:r>
            <a:r>
              <a:rPr lang="en-US" sz="2100" dirty="0">
                <a:solidFill>
                  <a:srgbClr val="201E1D"/>
                </a:solidFill>
                <a:latin typeface="Arial" pitchFamily="34" charset="0"/>
                <a:ea typeface="Arial" pitchFamily="34" charset="-122"/>
                <a:cs typeface="Arial" pitchFamily="34" charset="-120"/>
              </a:rPr>
              <a:t>rejects empty and absurd strings at the door.</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Bounds</a:t>
            </a:r>
            <a:endParaRPr lang="en-US" sz="2550" dirty="0"/>
          </a:p>
        </p:txBody>
      </p:sp>
      <p:sp>
        <p:nvSpPr>
          <p:cNvPr id="9" name="Text 7"/>
          <p:cNvSpPr/>
          <p:nvPr/>
        </p:nvSpPr>
        <p:spPr>
          <a:xfrm>
            <a:off x="66294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1890" dirty="0">
                <a:solidFill>
                  <a:srgbClr val="201E1D"/>
                </a:solidFill>
                <a:latin typeface="Courier New" pitchFamily="34" charset="0"/>
                <a:ea typeface="Courier New" pitchFamily="34" charset="-122"/>
                <a:cs typeface="Courier New" pitchFamily="34" charset="-120"/>
              </a:rPr>
              <a:t>gt=0 </a:t>
            </a:r>
            <a:r>
              <a:rPr lang="en-US" sz="2100" dirty="0">
                <a:solidFill>
                  <a:srgbClr val="201E1D"/>
                </a:solidFill>
                <a:latin typeface="Arial" pitchFamily="34" charset="0"/>
                <a:ea typeface="Arial" pitchFamily="34" charset="-122"/>
                <a:cs typeface="Arial" pitchFamily="34" charset="-120"/>
              </a:rPr>
              <a:t>means strictly positive income and amount. A zero or negative value never reaches your logic.</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Ceiling</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1890" dirty="0">
                <a:solidFill>
                  <a:srgbClr val="201E1D"/>
                </a:solidFill>
                <a:latin typeface="Courier New" pitchFamily="34" charset="0"/>
                <a:ea typeface="Courier New" pitchFamily="34" charset="-122"/>
                <a:cs typeface="Courier New" pitchFamily="34" charset="-120"/>
              </a:rPr>
              <a:t>le=10_00_000 </a:t>
            </a:r>
            <a:r>
              <a:rPr lang="en-US" sz="2100" dirty="0">
                <a:solidFill>
                  <a:srgbClr val="201E1D"/>
                </a:solidFill>
                <a:latin typeface="Arial" pitchFamily="34" charset="0"/>
                <a:ea typeface="Arial" pitchFamily="34" charset="-122"/>
                <a:cs typeface="Arial" pitchFamily="34" charset="-120"/>
              </a:rPr>
              <a:t>caps the request at ₹10 lakh — a business rule expressed as a type, not an </a:t>
            </a:r>
            <a:r>
              <a:rPr lang="en-US" sz="1890" dirty="0">
                <a:solidFill>
                  <a:srgbClr val="201E1D"/>
                </a:solidFill>
                <a:latin typeface="Courier New" pitchFamily="34" charset="0"/>
                <a:ea typeface="Courier New" pitchFamily="34" charset="-122"/>
                <a:cs typeface="Courier New" pitchFamily="34" charset="-120"/>
              </a:rPr>
              <a:t>if</a:t>
            </a:r>
            <a:r>
              <a:rPr lang="en-US" sz="2100" dirty="0">
                <a:solidFill>
                  <a:srgbClr val="201E1D"/>
                </a:solidFill>
                <a:latin typeface="Arial" pitchFamily="34" charset="0"/>
                <a:ea typeface="Arial" pitchFamily="34" charset="-122"/>
                <a:cs typeface="Arial" pitchFamily="34" charset="-120"/>
              </a:rPr>
              <a:t>.</a:t>
            </a:r>
            <a:endParaRPr lang="en-US" sz="2100" dirty="0"/>
          </a:p>
        </p:txBody>
      </p:sp>
      <p:sp>
        <p:nvSpPr>
          <p:cNvPr id="13" name="Text 11"/>
          <p:cNvSpPr/>
          <p:nvPr/>
        </p:nvSpPr>
        <p:spPr>
          <a:xfrm>
            <a:off x="1143000" y="5321647"/>
            <a:ext cx="17473441" cy="2210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You wrote zero validation code. Each constraint becomes a precise, structured error and a line in the OpenAPI schema.</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Demonstrate it from /docs</a:t>
            </a:r>
            <a:endParaRPr lang="en-US" sz="4800" dirty="0"/>
          </a:p>
        </p:txBody>
      </p:sp>
      <p:sp>
        <p:nvSpPr>
          <p:cNvPr id="4" name="Shape 2"/>
          <p:cNvSpPr/>
          <p:nvPr/>
        </p:nvSpPr>
        <p:spPr>
          <a:xfrm>
            <a:off x="1143000" y="4095676"/>
            <a:ext cx="762000" cy="19050"/>
          </a:xfrm>
          <a:prstGeom prst="rect">
            <a:avLst/>
          </a:prstGeom>
          <a:solidFill>
            <a:srgbClr val="201E1E">
              <a:alpha val="40000"/>
            </a:srgbClr>
          </a:solidFill>
          <a:ln/>
        </p:spPr>
        <p:txBody>
          <a:bodyPr/>
          <a:lstStyle/>
          <a:p>
            <a:endParaRPr lang="en-US"/>
          </a:p>
        </p:txBody>
      </p:sp>
      <p:sp>
        <p:nvSpPr>
          <p:cNvPr id="5" name="Text 3"/>
          <p:cNvSpPr/>
          <p:nvPr/>
        </p:nvSpPr>
        <p:spPr>
          <a:xfrm>
            <a:off x="1143000" y="3575726"/>
            <a:ext cx="609600" cy="192249"/>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a:t>
            </a:r>
            <a:endParaRPr lang="en-US" sz="1800" dirty="0"/>
          </a:p>
        </p:txBody>
      </p:sp>
      <p:sp>
        <p:nvSpPr>
          <p:cNvPr id="6" name="Shape 4"/>
          <p:cNvSpPr/>
          <p:nvPr/>
        </p:nvSpPr>
        <p:spPr>
          <a:xfrm>
            <a:off x="1905000" y="4095676"/>
            <a:ext cx="10287000" cy="19050"/>
          </a:xfrm>
          <a:prstGeom prst="rect">
            <a:avLst/>
          </a:prstGeom>
          <a:solidFill>
            <a:srgbClr val="201E1E">
              <a:alpha val="40000"/>
            </a:srgbClr>
          </a:solidFill>
          <a:ln/>
        </p:spPr>
        <p:txBody>
          <a:bodyPr/>
          <a:lstStyle/>
          <a:p>
            <a:endParaRPr lang="en-US"/>
          </a:p>
        </p:txBody>
      </p:sp>
      <p:sp>
        <p:nvSpPr>
          <p:cNvPr id="7" name="Text 5"/>
          <p:cNvSpPr/>
          <p:nvPr/>
        </p:nvSpPr>
        <p:spPr>
          <a:xfrm>
            <a:off x="2133600" y="3575726"/>
            <a:ext cx="10138410" cy="192249"/>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SEND THIS</a:t>
            </a:r>
            <a:endParaRPr lang="en-US" sz="1800" dirty="0"/>
          </a:p>
        </p:txBody>
      </p:sp>
      <p:sp>
        <p:nvSpPr>
          <p:cNvPr id="8" name="Shape 6"/>
          <p:cNvSpPr/>
          <p:nvPr/>
        </p:nvSpPr>
        <p:spPr>
          <a:xfrm>
            <a:off x="12192000" y="4095676"/>
            <a:ext cx="4953000" cy="19050"/>
          </a:xfrm>
          <a:prstGeom prst="rect">
            <a:avLst/>
          </a:prstGeom>
          <a:solidFill>
            <a:srgbClr val="201E1E">
              <a:alpha val="40000"/>
            </a:srgbClr>
          </a:solidFill>
          <a:ln/>
        </p:spPr>
        <p:txBody>
          <a:bodyPr/>
          <a:lstStyle/>
          <a:p>
            <a:endParaRPr lang="en-US"/>
          </a:p>
        </p:txBody>
      </p:sp>
      <p:sp>
        <p:nvSpPr>
          <p:cNvPr id="9" name="Text 7"/>
          <p:cNvSpPr/>
          <p:nvPr/>
        </p:nvSpPr>
        <p:spPr>
          <a:xfrm>
            <a:off x="12420600" y="3575726"/>
            <a:ext cx="4872990" cy="192249"/>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GET BACK</a:t>
            </a:r>
            <a:endParaRPr lang="en-US" sz="1800" dirty="0"/>
          </a:p>
        </p:txBody>
      </p:sp>
      <p:sp>
        <p:nvSpPr>
          <p:cNvPr id="10" name="Shape 8"/>
          <p:cNvSpPr/>
          <p:nvPr/>
        </p:nvSpPr>
        <p:spPr>
          <a:xfrm>
            <a:off x="1143000" y="5024363"/>
            <a:ext cx="762000" cy="9525"/>
          </a:xfrm>
          <a:prstGeom prst="rect">
            <a:avLst/>
          </a:prstGeom>
          <a:solidFill>
            <a:srgbClr val="201E1E">
              <a:alpha val="40000"/>
            </a:srgbClr>
          </a:solidFill>
          <a:ln/>
        </p:spPr>
        <p:txBody>
          <a:bodyPr/>
          <a:lstStyle/>
          <a:p>
            <a:endParaRPr lang="en-US"/>
          </a:p>
        </p:txBody>
      </p:sp>
      <p:sp>
        <p:nvSpPr>
          <p:cNvPr id="11" name="Text 9"/>
          <p:cNvSpPr/>
          <p:nvPr/>
        </p:nvSpPr>
        <p:spPr>
          <a:xfrm>
            <a:off x="1143000" y="4480247"/>
            <a:ext cx="609600" cy="216694"/>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1</a:t>
            </a:r>
            <a:endParaRPr lang="en-US" sz="1875" dirty="0"/>
          </a:p>
        </p:txBody>
      </p:sp>
      <p:sp>
        <p:nvSpPr>
          <p:cNvPr id="12" name="Shape 10"/>
          <p:cNvSpPr/>
          <p:nvPr/>
        </p:nvSpPr>
        <p:spPr>
          <a:xfrm>
            <a:off x="1905000" y="5024363"/>
            <a:ext cx="10287000" cy="9525"/>
          </a:xfrm>
          <a:prstGeom prst="rect">
            <a:avLst/>
          </a:prstGeom>
          <a:solidFill>
            <a:srgbClr val="201E1E">
              <a:alpha val="40000"/>
            </a:srgbClr>
          </a:solidFill>
          <a:ln/>
        </p:spPr>
        <p:txBody>
          <a:bodyPr/>
          <a:lstStyle/>
          <a:p>
            <a:endParaRPr lang="en-US"/>
          </a:p>
        </p:txBody>
      </p:sp>
      <p:sp>
        <p:nvSpPr>
          <p:cNvPr id="13" name="Text 11"/>
          <p:cNvSpPr/>
          <p:nvPr/>
        </p:nvSpPr>
        <p:spPr>
          <a:xfrm>
            <a:off x="2133600" y="4472418"/>
            <a:ext cx="10138410" cy="23235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A valid application</a:t>
            </a:r>
            <a:endParaRPr lang="en-US" sz="2175" dirty="0"/>
          </a:p>
        </p:txBody>
      </p:sp>
      <p:sp>
        <p:nvSpPr>
          <p:cNvPr id="14" name="Shape 12"/>
          <p:cNvSpPr/>
          <p:nvPr/>
        </p:nvSpPr>
        <p:spPr>
          <a:xfrm>
            <a:off x="12192000" y="5024363"/>
            <a:ext cx="4953000" cy="9525"/>
          </a:xfrm>
          <a:prstGeom prst="rect">
            <a:avLst/>
          </a:prstGeom>
          <a:solidFill>
            <a:srgbClr val="201E1E">
              <a:alpha val="40000"/>
            </a:srgbClr>
          </a:solidFill>
          <a:ln/>
        </p:spPr>
        <p:txBody>
          <a:bodyPr/>
          <a:lstStyle/>
          <a:p>
            <a:endParaRPr lang="en-US"/>
          </a:p>
        </p:txBody>
      </p:sp>
      <p:sp>
        <p:nvSpPr>
          <p:cNvPr id="15" name="Text 13"/>
          <p:cNvSpPr/>
          <p:nvPr/>
        </p:nvSpPr>
        <p:spPr>
          <a:xfrm>
            <a:off x="12420600" y="4472418"/>
            <a:ext cx="4872990" cy="232353"/>
          </a:xfrm>
          <a:prstGeom prst="rect">
            <a:avLst/>
          </a:prstGeom>
          <a:noFill/>
          <a:ln/>
        </p:spPr>
        <p:txBody>
          <a:bodyPr wrap="square" lIns="25400" tIns="25400" rIns="25400" bIns="25400" rtlCol="0" anchor="ctr">
            <a:normAutofit/>
          </a:bodyPr>
          <a:lstStyle/>
          <a:p>
            <a:pPr marL="0" indent="0" algn="l">
              <a:lnSpc>
                <a:spcPct val="134179"/>
              </a:lnSpc>
              <a:buNone/>
            </a:pPr>
            <a:r>
              <a:rPr lang="en-US" sz="1875" dirty="0">
                <a:solidFill>
                  <a:srgbClr val="AE1800"/>
                </a:solidFill>
                <a:latin typeface="Courier New" pitchFamily="34" charset="0"/>
                <a:ea typeface="Courier New" pitchFamily="34" charset="-122"/>
                <a:cs typeface="Courier New" pitchFamily="34" charset="-120"/>
              </a:rPr>
              <a:t>201 </a:t>
            </a:r>
            <a:r>
              <a:rPr lang="en-US" sz="2175" dirty="0">
                <a:solidFill>
                  <a:srgbClr val="201E1D"/>
                </a:solidFill>
                <a:latin typeface="Arial" pitchFamily="34" charset="0"/>
                <a:ea typeface="Arial" pitchFamily="34" charset="-122"/>
                <a:cs typeface="Arial" pitchFamily="34" charset="-120"/>
              </a:rPr>
              <a:t>— echoed with </a:t>
            </a:r>
            <a:r>
              <a:rPr lang="en-US" sz="1958" dirty="0">
                <a:solidFill>
                  <a:srgbClr val="201E1D"/>
                </a:solidFill>
                <a:latin typeface="Courier New" pitchFamily="34" charset="0"/>
                <a:ea typeface="Courier New" pitchFamily="34" charset="-122"/>
                <a:cs typeface="Courier New" pitchFamily="34" charset="-120"/>
              </a:rPr>
              <a:t>id </a:t>
            </a:r>
            <a:r>
              <a:rPr lang="en-US" sz="2175" dirty="0">
                <a:solidFill>
                  <a:srgbClr val="201E1D"/>
                </a:solidFill>
                <a:latin typeface="Arial" pitchFamily="34" charset="0"/>
                <a:ea typeface="Arial" pitchFamily="34" charset="-122"/>
                <a:cs typeface="Arial" pitchFamily="34" charset="-120"/>
              </a:rPr>
              <a:t>and </a:t>
            </a:r>
            <a:r>
              <a:rPr lang="en-US" sz="1958" dirty="0">
                <a:solidFill>
                  <a:srgbClr val="201E1D"/>
                </a:solidFill>
                <a:latin typeface="Courier New" pitchFamily="34" charset="0"/>
                <a:ea typeface="Courier New" pitchFamily="34" charset="-122"/>
                <a:cs typeface="Courier New" pitchFamily="34" charset="-120"/>
              </a:rPr>
              <a:t>status</a:t>
            </a:r>
            <a:endParaRPr lang="en-US" sz="2175" dirty="0"/>
          </a:p>
        </p:txBody>
      </p:sp>
      <p:sp>
        <p:nvSpPr>
          <p:cNvPr id="16" name="Shape 14"/>
          <p:cNvSpPr/>
          <p:nvPr/>
        </p:nvSpPr>
        <p:spPr>
          <a:xfrm>
            <a:off x="1143000" y="5938763"/>
            <a:ext cx="762000" cy="9525"/>
          </a:xfrm>
          <a:prstGeom prst="rect">
            <a:avLst/>
          </a:prstGeom>
          <a:solidFill>
            <a:srgbClr val="201E1E">
              <a:alpha val="40000"/>
            </a:srgbClr>
          </a:solidFill>
          <a:ln/>
        </p:spPr>
        <p:txBody>
          <a:bodyPr/>
          <a:lstStyle/>
          <a:p>
            <a:endParaRPr lang="en-US"/>
          </a:p>
        </p:txBody>
      </p:sp>
      <p:sp>
        <p:nvSpPr>
          <p:cNvPr id="17" name="Text 15"/>
          <p:cNvSpPr/>
          <p:nvPr/>
        </p:nvSpPr>
        <p:spPr>
          <a:xfrm>
            <a:off x="1143000" y="5399410"/>
            <a:ext cx="609600" cy="211931"/>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2</a:t>
            </a:r>
            <a:endParaRPr lang="en-US" sz="1875" dirty="0"/>
          </a:p>
        </p:txBody>
      </p:sp>
      <p:sp>
        <p:nvSpPr>
          <p:cNvPr id="18" name="Shape 16"/>
          <p:cNvSpPr/>
          <p:nvPr/>
        </p:nvSpPr>
        <p:spPr>
          <a:xfrm>
            <a:off x="1905000" y="5938763"/>
            <a:ext cx="10287000" cy="9525"/>
          </a:xfrm>
          <a:prstGeom prst="rect">
            <a:avLst/>
          </a:prstGeom>
          <a:solidFill>
            <a:srgbClr val="201E1E">
              <a:alpha val="40000"/>
            </a:srgbClr>
          </a:solidFill>
          <a:ln/>
        </p:spPr>
        <p:txBody>
          <a:bodyPr/>
          <a:lstStyle/>
          <a:p>
            <a:endParaRPr lang="en-US"/>
          </a:p>
        </p:txBody>
      </p:sp>
      <p:sp>
        <p:nvSpPr>
          <p:cNvPr id="19" name="Text 17"/>
          <p:cNvSpPr/>
          <p:nvPr/>
        </p:nvSpPr>
        <p:spPr>
          <a:xfrm>
            <a:off x="2133600" y="5333405"/>
            <a:ext cx="2904232" cy="366713"/>
          </a:xfrm>
          <a:prstGeom prst="rect">
            <a:avLst/>
          </a:prstGeom>
          <a:noFill/>
          <a:ln/>
        </p:spPr>
        <p:txBody>
          <a:bodyPr wrap="square" lIns="25400" tIns="25400" rIns="25400" bIns="25400" rtlCol="0" anchor="t">
            <a:normAutofit/>
          </a:bodyPr>
          <a:lstStyle/>
          <a:p>
            <a:pPr marL="0" indent="0" algn="l">
              <a:lnSpc>
                <a:spcPct val="137136"/>
              </a:lnSpc>
              <a:buNone/>
            </a:pPr>
            <a:r>
              <a:rPr lang="en-US" sz="1958" kern="0" spc="-20" dirty="0">
                <a:solidFill>
                  <a:srgbClr val="201E1D"/>
                </a:solidFill>
                <a:latin typeface="Courier New" pitchFamily="34" charset="0"/>
                <a:ea typeface="Courier New" pitchFamily="34" charset="-122"/>
                <a:cs typeface="Courier New" pitchFamily="34" charset="-120"/>
              </a:rPr>
              <a:t>monthly_income: -5</a:t>
            </a:r>
            <a:endParaRPr lang="en-US" sz="1958" dirty="0"/>
          </a:p>
        </p:txBody>
      </p:sp>
      <p:sp>
        <p:nvSpPr>
          <p:cNvPr id="20" name="Shape 18"/>
          <p:cNvSpPr/>
          <p:nvPr/>
        </p:nvSpPr>
        <p:spPr>
          <a:xfrm>
            <a:off x="12192000" y="5938763"/>
            <a:ext cx="4953000" cy="9525"/>
          </a:xfrm>
          <a:prstGeom prst="rect">
            <a:avLst/>
          </a:prstGeom>
          <a:solidFill>
            <a:srgbClr val="201E1E">
              <a:alpha val="40000"/>
            </a:srgbClr>
          </a:solidFill>
          <a:ln/>
        </p:spPr>
        <p:txBody>
          <a:bodyPr/>
          <a:lstStyle/>
          <a:p>
            <a:endParaRPr lang="en-US"/>
          </a:p>
        </p:txBody>
      </p:sp>
      <p:sp>
        <p:nvSpPr>
          <p:cNvPr id="21" name="Text 19"/>
          <p:cNvSpPr/>
          <p:nvPr/>
        </p:nvSpPr>
        <p:spPr>
          <a:xfrm>
            <a:off x="12420600" y="5391580"/>
            <a:ext cx="4872990" cy="227590"/>
          </a:xfrm>
          <a:prstGeom prst="rect">
            <a:avLst/>
          </a:prstGeom>
          <a:noFill/>
          <a:ln/>
        </p:spPr>
        <p:txBody>
          <a:bodyPr wrap="square" lIns="25400" tIns="25400" rIns="25400" bIns="25400" rtlCol="0" anchor="ctr">
            <a:normAutofit/>
          </a:bodyPr>
          <a:lstStyle/>
          <a:p>
            <a:pPr marL="0" indent="0" algn="l">
              <a:lnSpc>
                <a:spcPct val="134179"/>
              </a:lnSpc>
              <a:buNone/>
            </a:pPr>
            <a:r>
              <a:rPr lang="en-US" sz="1875" dirty="0">
                <a:solidFill>
                  <a:srgbClr val="AE1800"/>
                </a:solidFill>
                <a:latin typeface="Courier New" pitchFamily="34" charset="0"/>
                <a:ea typeface="Courier New" pitchFamily="34" charset="-122"/>
                <a:cs typeface="Courier New" pitchFamily="34" charset="-120"/>
              </a:rPr>
              <a:t>422 </a:t>
            </a:r>
            <a:r>
              <a:rPr lang="en-US" sz="2175" dirty="0">
                <a:solidFill>
                  <a:srgbClr val="201E1D"/>
                </a:solidFill>
                <a:latin typeface="Arial" pitchFamily="34" charset="0"/>
                <a:ea typeface="Arial" pitchFamily="34" charset="-122"/>
                <a:cs typeface="Arial" pitchFamily="34" charset="-120"/>
              </a:rPr>
              <a:t>— precise, structured field error</a:t>
            </a:r>
            <a:endParaRPr lang="en-US" sz="2175" dirty="0"/>
          </a:p>
        </p:txBody>
      </p:sp>
      <p:sp>
        <p:nvSpPr>
          <p:cNvPr id="22" name="Shape 20"/>
          <p:cNvSpPr/>
          <p:nvPr/>
        </p:nvSpPr>
        <p:spPr>
          <a:xfrm>
            <a:off x="1143000" y="6853163"/>
            <a:ext cx="762000" cy="9525"/>
          </a:xfrm>
          <a:prstGeom prst="rect">
            <a:avLst/>
          </a:prstGeom>
          <a:solidFill>
            <a:srgbClr val="201E1E">
              <a:alpha val="40000"/>
            </a:srgbClr>
          </a:solidFill>
          <a:ln/>
        </p:spPr>
        <p:txBody>
          <a:bodyPr/>
          <a:lstStyle/>
          <a:p>
            <a:endParaRPr lang="en-US"/>
          </a:p>
        </p:txBody>
      </p:sp>
      <p:sp>
        <p:nvSpPr>
          <p:cNvPr id="23" name="Text 21"/>
          <p:cNvSpPr/>
          <p:nvPr/>
        </p:nvSpPr>
        <p:spPr>
          <a:xfrm>
            <a:off x="1143000" y="6313810"/>
            <a:ext cx="609600" cy="211931"/>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3</a:t>
            </a:r>
            <a:endParaRPr lang="en-US" sz="1875" dirty="0"/>
          </a:p>
        </p:txBody>
      </p:sp>
      <p:sp>
        <p:nvSpPr>
          <p:cNvPr id="24" name="Shape 22"/>
          <p:cNvSpPr/>
          <p:nvPr/>
        </p:nvSpPr>
        <p:spPr>
          <a:xfrm>
            <a:off x="1905000" y="6853163"/>
            <a:ext cx="10287000" cy="9525"/>
          </a:xfrm>
          <a:prstGeom prst="rect">
            <a:avLst/>
          </a:prstGeom>
          <a:solidFill>
            <a:srgbClr val="201E1E">
              <a:alpha val="40000"/>
            </a:srgbClr>
          </a:solidFill>
          <a:ln/>
        </p:spPr>
        <p:txBody>
          <a:bodyPr/>
          <a:lstStyle/>
          <a:p>
            <a:endParaRPr lang="en-US"/>
          </a:p>
        </p:txBody>
      </p:sp>
      <p:sp>
        <p:nvSpPr>
          <p:cNvPr id="25" name="Text 23"/>
          <p:cNvSpPr/>
          <p:nvPr/>
        </p:nvSpPr>
        <p:spPr>
          <a:xfrm>
            <a:off x="2133600" y="6247805"/>
            <a:ext cx="4033592" cy="366713"/>
          </a:xfrm>
          <a:prstGeom prst="rect">
            <a:avLst/>
          </a:prstGeom>
          <a:noFill/>
          <a:ln/>
        </p:spPr>
        <p:txBody>
          <a:bodyPr wrap="square" lIns="25400" tIns="25400" rIns="25400" bIns="25400" rtlCol="0" anchor="t">
            <a:normAutofit/>
          </a:bodyPr>
          <a:lstStyle/>
          <a:p>
            <a:pPr marL="0" indent="0" algn="l">
              <a:lnSpc>
                <a:spcPct val="137136"/>
              </a:lnSpc>
              <a:buNone/>
            </a:pPr>
            <a:r>
              <a:rPr lang="en-US" sz="1958" kern="0" spc="-20" dirty="0">
                <a:solidFill>
                  <a:srgbClr val="201E1D"/>
                </a:solidFill>
                <a:latin typeface="Courier New" pitchFamily="34" charset="0"/>
                <a:ea typeface="Courier New" pitchFamily="34" charset="-122"/>
                <a:cs typeface="Courier New" pitchFamily="34" charset="-120"/>
              </a:rPr>
              <a:t>amount_requested: 5000000</a:t>
            </a:r>
            <a:endParaRPr lang="en-US" sz="1958" dirty="0"/>
          </a:p>
        </p:txBody>
      </p:sp>
      <p:sp>
        <p:nvSpPr>
          <p:cNvPr id="26" name="Shape 24"/>
          <p:cNvSpPr/>
          <p:nvPr/>
        </p:nvSpPr>
        <p:spPr>
          <a:xfrm>
            <a:off x="12192000" y="6853163"/>
            <a:ext cx="4953000" cy="9525"/>
          </a:xfrm>
          <a:prstGeom prst="rect">
            <a:avLst/>
          </a:prstGeom>
          <a:solidFill>
            <a:srgbClr val="201E1E">
              <a:alpha val="40000"/>
            </a:srgbClr>
          </a:solidFill>
          <a:ln/>
        </p:spPr>
        <p:txBody>
          <a:bodyPr/>
          <a:lstStyle/>
          <a:p>
            <a:endParaRPr lang="en-US"/>
          </a:p>
        </p:txBody>
      </p:sp>
      <p:sp>
        <p:nvSpPr>
          <p:cNvPr id="27" name="Text 25"/>
          <p:cNvSpPr/>
          <p:nvPr/>
        </p:nvSpPr>
        <p:spPr>
          <a:xfrm>
            <a:off x="12420600" y="6305980"/>
            <a:ext cx="4872990" cy="227590"/>
          </a:xfrm>
          <a:prstGeom prst="rect">
            <a:avLst/>
          </a:prstGeom>
          <a:noFill/>
          <a:ln/>
        </p:spPr>
        <p:txBody>
          <a:bodyPr wrap="square" lIns="25400" tIns="25400" rIns="25400" bIns="25400" rtlCol="0" anchor="ctr">
            <a:normAutofit/>
          </a:bodyPr>
          <a:lstStyle/>
          <a:p>
            <a:pPr marL="0" indent="0" algn="l">
              <a:lnSpc>
                <a:spcPct val="134179"/>
              </a:lnSpc>
              <a:buNone/>
            </a:pPr>
            <a:r>
              <a:rPr lang="en-US" sz="1875" dirty="0">
                <a:solidFill>
                  <a:srgbClr val="AE1800"/>
                </a:solidFill>
                <a:latin typeface="Courier New" pitchFamily="34" charset="0"/>
                <a:ea typeface="Courier New" pitchFamily="34" charset="-122"/>
                <a:cs typeface="Courier New" pitchFamily="34" charset="-120"/>
              </a:rPr>
              <a:t>422 </a:t>
            </a:r>
            <a:r>
              <a:rPr lang="en-US" sz="2175" dirty="0">
                <a:solidFill>
                  <a:srgbClr val="201E1D"/>
                </a:solidFill>
                <a:latin typeface="Arial" pitchFamily="34" charset="0"/>
                <a:ea typeface="Arial" pitchFamily="34" charset="-122"/>
                <a:cs typeface="Arial" pitchFamily="34" charset="-120"/>
              </a:rPr>
              <a:t>— from the </a:t>
            </a:r>
            <a:r>
              <a:rPr lang="en-US" sz="1958" dirty="0">
                <a:solidFill>
                  <a:srgbClr val="201E1D"/>
                </a:solidFill>
                <a:latin typeface="Courier New" pitchFamily="34" charset="0"/>
                <a:ea typeface="Courier New" pitchFamily="34" charset="-122"/>
                <a:cs typeface="Courier New" pitchFamily="34" charset="-120"/>
              </a:rPr>
              <a:t>le </a:t>
            </a:r>
            <a:r>
              <a:rPr lang="en-US" sz="2175" dirty="0">
                <a:solidFill>
                  <a:srgbClr val="201E1D"/>
                </a:solidFill>
                <a:latin typeface="Arial" pitchFamily="34" charset="0"/>
                <a:ea typeface="Arial" pitchFamily="34" charset="-122"/>
                <a:cs typeface="Arial" pitchFamily="34" charset="-120"/>
              </a:rPr>
              <a:t>cap</a:t>
            </a:r>
            <a:endParaRPr lang="en-US" sz="2175" dirty="0"/>
          </a:p>
        </p:txBody>
      </p:sp>
      <p:sp>
        <p:nvSpPr>
          <p:cNvPr id="28" name="Shape 26"/>
          <p:cNvSpPr/>
          <p:nvPr/>
        </p:nvSpPr>
        <p:spPr>
          <a:xfrm>
            <a:off x="1143000" y="7767563"/>
            <a:ext cx="762000" cy="9525"/>
          </a:xfrm>
          <a:prstGeom prst="rect">
            <a:avLst/>
          </a:prstGeom>
          <a:solidFill>
            <a:srgbClr val="201E1E">
              <a:alpha val="40000"/>
            </a:srgbClr>
          </a:solidFill>
          <a:ln/>
        </p:spPr>
        <p:txBody>
          <a:bodyPr/>
          <a:lstStyle/>
          <a:p>
            <a:endParaRPr lang="en-US"/>
          </a:p>
        </p:txBody>
      </p:sp>
      <p:sp>
        <p:nvSpPr>
          <p:cNvPr id="29" name="Text 27"/>
          <p:cNvSpPr/>
          <p:nvPr/>
        </p:nvSpPr>
        <p:spPr>
          <a:xfrm>
            <a:off x="1143000" y="7228210"/>
            <a:ext cx="609600" cy="211931"/>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4</a:t>
            </a:r>
            <a:endParaRPr lang="en-US" sz="1875" dirty="0"/>
          </a:p>
        </p:txBody>
      </p:sp>
      <p:sp>
        <p:nvSpPr>
          <p:cNvPr id="30" name="Shape 28"/>
          <p:cNvSpPr/>
          <p:nvPr/>
        </p:nvSpPr>
        <p:spPr>
          <a:xfrm>
            <a:off x="1905000" y="7767563"/>
            <a:ext cx="10287000" cy="9525"/>
          </a:xfrm>
          <a:prstGeom prst="rect">
            <a:avLst/>
          </a:prstGeom>
          <a:solidFill>
            <a:srgbClr val="201E1E">
              <a:alpha val="40000"/>
            </a:srgbClr>
          </a:solidFill>
          <a:ln/>
        </p:spPr>
        <p:txBody>
          <a:bodyPr/>
          <a:lstStyle/>
          <a:p>
            <a:endParaRPr lang="en-US"/>
          </a:p>
        </p:txBody>
      </p:sp>
      <p:sp>
        <p:nvSpPr>
          <p:cNvPr id="31" name="Text 29"/>
          <p:cNvSpPr/>
          <p:nvPr/>
        </p:nvSpPr>
        <p:spPr>
          <a:xfrm>
            <a:off x="2133600" y="7220380"/>
            <a:ext cx="10138410" cy="227590"/>
          </a:xfrm>
          <a:prstGeom prst="rect">
            <a:avLst/>
          </a:prstGeom>
          <a:noFill/>
          <a:ln/>
        </p:spPr>
        <p:txBody>
          <a:bodyPr wrap="square" lIns="25400" tIns="25400" rIns="25400" bIns="25400" rtlCol="0" anchor="ctr">
            <a:normAutofit/>
          </a:bodyPr>
          <a:lstStyle/>
          <a:p>
            <a:pPr marL="0" indent="0" algn="l">
              <a:lnSpc>
                <a:spcPct val="134179"/>
              </a:lnSpc>
              <a:buNone/>
            </a:pPr>
            <a:r>
              <a:rPr lang="en-US" sz="1958" dirty="0">
                <a:solidFill>
                  <a:srgbClr val="201E1D"/>
                </a:solidFill>
                <a:latin typeface="Courier New" pitchFamily="34" charset="0"/>
                <a:ea typeface="Courier New" pitchFamily="34" charset="-122"/>
                <a:cs typeface="Courier New" pitchFamily="34" charset="-120"/>
              </a:rPr>
              <a:t>GET </a:t>
            </a:r>
            <a:r>
              <a:rPr lang="en-US" sz="2175" dirty="0">
                <a:solidFill>
                  <a:srgbClr val="201E1D"/>
                </a:solidFill>
                <a:latin typeface="Arial" pitchFamily="34" charset="0"/>
                <a:ea typeface="Arial" pitchFamily="34" charset="-122"/>
                <a:cs typeface="Arial" pitchFamily="34" charset="-120"/>
              </a:rPr>
              <a:t>a missing id</a:t>
            </a:r>
            <a:endParaRPr lang="en-US" sz="2175" dirty="0"/>
          </a:p>
        </p:txBody>
      </p:sp>
      <p:sp>
        <p:nvSpPr>
          <p:cNvPr id="32" name="Shape 30"/>
          <p:cNvSpPr/>
          <p:nvPr/>
        </p:nvSpPr>
        <p:spPr>
          <a:xfrm>
            <a:off x="12192000" y="7767563"/>
            <a:ext cx="4953000" cy="9525"/>
          </a:xfrm>
          <a:prstGeom prst="rect">
            <a:avLst/>
          </a:prstGeom>
          <a:solidFill>
            <a:srgbClr val="201E1E">
              <a:alpha val="40000"/>
            </a:srgbClr>
          </a:solidFill>
          <a:ln/>
        </p:spPr>
        <p:txBody>
          <a:bodyPr/>
          <a:lstStyle/>
          <a:p>
            <a:endParaRPr lang="en-US"/>
          </a:p>
        </p:txBody>
      </p:sp>
      <p:sp>
        <p:nvSpPr>
          <p:cNvPr id="33" name="Text 31"/>
          <p:cNvSpPr/>
          <p:nvPr/>
        </p:nvSpPr>
        <p:spPr>
          <a:xfrm>
            <a:off x="12420600" y="7220380"/>
            <a:ext cx="4872990" cy="227590"/>
          </a:xfrm>
          <a:prstGeom prst="rect">
            <a:avLst/>
          </a:prstGeom>
          <a:noFill/>
          <a:ln/>
        </p:spPr>
        <p:txBody>
          <a:bodyPr wrap="square" lIns="25400" tIns="25400" rIns="25400" bIns="25400" rtlCol="0" anchor="ctr">
            <a:normAutofit/>
          </a:bodyPr>
          <a:lstStyle/>
          <a:p>
            <a:pPr marL="0" indent="0" algn="l">
              <a:lnSpc>
                <a:spcPct val="134179"/>
              </a:lnSpc>
              <a:buNone/>
            </a:pPr>
            <a:r>
              <a:rPr lang="en-US" sz="1875" dirty="0">
                <a:solidFill>
                  <a:srgbClr val="AE1800"/>
                </a:solidFill>
                <a:latin typeface="Courier New" pitchFamily="34" charset="0"/>
                <a:ea typeface="Courier New" pitchFamily="34" charset="-122"/>
                <a:cs typeface="Courier New" pitchFamily="34" charset="-120"/>
              </a:rPr>
              <a:t>404 </a:t>
            </a:r>
            <a:r>
              <a:rPr lang="en-US" sz="2175" dirty="0">
                <a:solidFill>
                  <a:srgbClr val="201E1D"/>
                </a:solidFill>
                <a:latin typeface="Arial" pitchFamily="34" charset="0"/>
                <a:ea typeface="Arial" pitchFamily="34" charset="-122"/>
                <a:cs typeface="Arial" pitchFamily="34" charset="-120"/>
              </a:rPr>
              <a:t>— via </a:t>
            </a:r>
            <a:r>
              <a:rPr lang="en-US" sz="1958" dirty="0">
                <a:solidFill>
                  <a:srgbClr val="201E1D"/>
                </a:solidFill>
                <a:latin typeface="Courier New" pitchFamily="34" charset="0"/>
                <a:ea typeface="Courier New" pitchFamily="34" charset="-122"/>
                <a:cs typeface="Courier New" pitchFamily="34" charset="-120"/>
              </a:rPr>
              <a:t>HTTPException</a:t>
            </a:r>
            <a:endParaRPr lang="en-US" sz="2175" dirty="0"/>
          </a:p>
        </p:txBody>
      </p:sp>
      <p:sp>
        <p:nvSpPr>
          <p:cNvPr id="34" name="Text 32"/>
          <p:cNvSpPr/>
          <p:nvPr/>
        </p:nvSpPr>
        <p:spPr>
          <a:xfrm>
            <a:off x="1143000" y="8074372"/>
            <a:ext cx="16801326" cy="2210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Read the 422 body aloud — field, constraint, message. That JSON is the contract the frontend codes against.</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 · DEEP DIVE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422 and 404 come from</a:t>
            </a:r>
            <a:endParaRPr lang="en-US" sz="48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743200"/>
            <a:ext cx="16002000" cy="3810000"/>
          </a:xfrm>
          <a:prstGeom prst="rect">
            <a:avLst/>
          </a:prstGeom>
        </p:spPr>
      </p:pic>
      <p:sp>
        <p:nvSpPr>
          <p:cNvPr id="5" name="Text 2"/>
          <p:cNvSpPr/>
          <p:nvPr/>
        </p:nvSpPr>
        <p:spPr>
          <a:xfrm>
            <a:off x="1143000" y="7304187"/>
            <a:ext cx="12922827" cy="658639"/>
          </a:xfrm>
          <a:prstGeom prst="rect">
            <a:avLst/>
          </a:prstGeom>
          <a:noFill/>
          <a:ln/>
        </p:spPr>
        <p:txBody>
          <a:bodyPr wrap="square" lIns="25400" tIns="25400" rIns="25400" bIns="25400" rtlCol="0" anchor="t">
            <a:normAutofit/>
          </a:bodyPr>
          <a:lstStyle/>
          <a:p>
            <a:pPr marL="0" indent="0" algn="l">
              <a:lnSpc>
                <a:spcPct val="165517"/>
              </a:lnSpc>
              <a:buNone/>
            </a:pPr>
            <a:r>
              <a:rPr lang="en-US" sz="1875" dirty="0">
                <a:solidFill>
                  <a:srgbClr val="211D1D">
                    <a:alpha val="55000"/>
                  </a:srgbClr>
                </a:solidFill>
                <a:latin typeface="Arial" pitchFamily="34" charset="0"/>
                <a:ea typeface="Arial" pitchFamily="34" charset="-122"/>
                <a:cs typeface="Arial" pitchFamily="34" charset="-120"/>
              </a:rPr>
              <a:t>422 is Pydantic rejecting the shape before your function is ever called; 404 is your own logic saying the record is not there. Different layers, different causes.</a:t>
            </a:r>
            <a:endParaRPr lang="en-US" sz="187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 · DEEP DIVE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response_model guards the way out</a:t>
            </a:r>
            <a:endParaRPr lang="en-US" sz="4800" dirty="0"/>
          </a:p>
        </p:txBody>
      </p:sp>
      <p:sp>
        <p:nvSpPr>
          <p:cNvPr id="4" name="Text 2"/>
          <p:cNvSpPr/>
          <p:nvPr/>
        </p:nvSpPr>
        <p:spPr>
          <a:xfrm>
            <a:off x="1143000" y="3143176"/>
            <a:ext cx="12657784" cy="390525"/>
          </a:xfrm>
          <a:prstGeom prst="rect">
            <a:avLst/>
          </a:prstGeom>
          <a:noFill/>
          <a:ln/>
        </p:spPr>
        <p:txBody>
          <a:bodyPr wrap="square" lIns="0" tIns="0" rIns="0" bIns="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It validates and filters the response — nothing leaves that is not declared in the schema</a:t>
            </a:r>
            <a:endParaRPr lang="en-US" sz="2550" dirty="0"/>
          </a:p>
        </p:txBody>
      </p:sp>
      <p:sp>
        <p:nvSpPr>
          <p:cNvPr id="5" name="Text 3"/>
          <p:cNvSpPr/>
          <p:nvPr/>
        </p:nvSpPr>
        <p:spPr>
          <a:xfrm>
            <a:off x="1143000" y="3567038"/>
            <a:ext cx="14668500" cy="3524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Return an object with an internal field and it is stripped before the client sees it.</a:t>
            </a:r>
            <a:endParaRPr lang="en-US" sz="2100" dirty="0"/>
          </a:p>
        </p:txBody>
      </p:sp>
      <p:sp>
        <p:nvSpPr>
          <p:cNvPr id="6" name="Text 4"/>
          <p:cNvSpPr/>
          <p:nvPr/>
        </p:nvSpPr>
        <p:spPr>
          <a:xfrm>
            <a:off x="1143000" y="4344963"/>
            <a:ext cx="13735050" cy="722188"/>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The output shape is documented in </a:t>
            </a:r>
            <a:r>
              <a:rPr lang="en-US" sz="2295" dirty="0">
                <a:solidFill>
                  <a:srgbClr val="201E1D"/>
                </a:solidFill>
                <a:latin typeface="Courier New" pitchFamily="34" charset="0"/>
                <a:ea typeface="Courier New" pitchFamily="34" charset="-122"/>
                <a:cs typeface="Courier New" pitchFamily="34" charset="-120"/>
              </a:rPr>
              <a:t>/docs </a:t>
            </a:r>
            <a:r>
              <a:rPr lang="en-US" sz="2550" dirty="0">
                <a:solidFill>
                  <a:srgbClr val="201E1D"/>
                </a:solidFill>
                <a:latin typeface="Arial" pitchFamily="34" charset="0"/>
                <a:ea typeface="Arial" pitchFamily="34" charset="-122"/>
                <a:cs typeface="Arial" pitchFamily="34" charset="-120"/>
              </a:rPr>
              <a:t>too, so consumers know exactly what to expect back</a:t>
            </a:r>
            <a:endParaRPr lang="en-US" sz="2550" dirty="0"/>
          </a:p>
        </p:txBody>
      </p:sp>
      <p:sp>
        <p:nvSpPr>
          <p:cNvPr id="7" name="Text 5"/>
          <p:cNvSpPr/>
          <p:nvPr/>
        </p:nvSpPr>
        <p:spPr>
          <a:xfrm>
            <a:off x="1143000" y="5492651"/>
            <a:ext cx="14668500" cy="2602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Input and output can differ — </a:t>
            </a:r>
            <a:r>
              <a:rPr lang="en-US" sz="2295" dirty="0">
                <a:solidFill>
                  <a:srgbClr val="201E1D"/>
                </a:solidFill>
                <a:latin typeface="Courier New" pitchFamily="34" charset="0"/>
                <a:ea typeface="Courier New" pitchFamily="34" charset="-122"/>
                <a:cs typeface="Courier New" pitchFamily="34" charset="-120"/>
              </a:rPr>
              <a:t>ApplicationOut </a:t>
            </a:r>
            <a:r>
              <a:rPr lang="en-US" sz="2550" dirty="0">
                <a:solidFill>
                  <a:srgbClr val="201E1D"/>
                </a:solidFill>
                <a:latin typeface="Arial" pitchFamily="34" charset="0"/>
                <a:ea typeface="Arial" pitchFamily="34" charset="-122"/>
                <a:cs typeface="Arial" pitchFamily="34" charset="-120"/>
              </a:rPr>
              <a:t>adds </a:t>
            </a:r>
            <a:r>
              <a:rPr lang="en-US" sz="2295" dirty="0">
                <a:solidFill>
                  <a:srgbClr val="201E1D"/>
                </a:solidFill>
                <a:latin typeface="Courier New" pitchFamily="34" charset="0"/>
                <a:ea typeface="Courier New" pitchFamily="34" charset="-122"/>
                <a:cs typeface="Courier New" pitchFamily="34" charset="-120"/>
              </a:rPr>
              <a:t>id </a:t>
            </a:r>
            <a:r>
              <a:rPr lang="en-US" sz="2550" dirty="0">
                <a:solidFill>
                  <a:srgbClr val="201E1D"/>
                </a:solidFill>
                <a:latin typeface="Arial" pitchFamily="34" charset="0"/>
                <a:ea typeface="Arial" pitchFamily="34" charset="-122"/>
                <a:cs typeface="Arial" pitchFamily="34" charset="-120"/>
              </a:rPr>
              <a:t>and </a:t>
            </a:r>
            <a:r>
              <a:rPr lang="en-US" sz="2295" dirty="0">
                <a:solidFill>
                  <a:srgbClr val="201E1D"/>
                </a:solidFill>
                <a:latin typeface="Courier New" pitchFamily="34" charset="0"/>
                <a:ea typeface="Courier New" pitchFamily="34" charset="-122"/>
                <a:cs typeface="Courier New" pitchFamily="34" charset="-120"/>
              </a:rPr>
              <a:t>status </a:t>
            </a:r>
            <a:r>
              <a:rPr lang="en-US" sz="2550" dirty="0">
                <a:solidFill>
                  <a:srgbClr val="201E1D"/>
                </a:solidFill>
                <a:latin typeface="Arial" pitchFamily="34" charset="0"/>
                <a:ea typeface="Arial" pitchFamily="34" charset="-122"/>
                <a:cs typeface="Arial" pitchFamily="34" charset="-120"/>
              </a:rPr>
              <a:t>the request never sent</a:t>
            </a:r>
            <a:endParaRPr lang="en-US" sz="2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 · DEEP DIVE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Path, query and body — all inferred</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Path</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name in the route — </a:t>
            </a:r>
            <a:r>
              <a:rPr lang="en-US" sz="1890" dirty="0">
                <a:solidFill>
                  <a:srgbClr val="201E1D"/>
                </a:solidFill>
                <a:latin typeface="Courier New" pitchFamily="34" charset="0"/>
                <a:ea typeface="Courier New" pitchFamily="34" charset="-122"/>
                <a:cs typeface="Courier New" pitchFamily="34" charset="-120"/>
              </a:rPr>
              <a:t>/applications/{app_id} </a:t>
            </a:r>
            <a:r>
              <a:rPr lang="en-US" sz="2100" dirty="0">
                <a:solidFill>
                  <a:srgbClr val="201E1D"/>
                </a:solidFill>
                <a:latin typeface="Arial" pitchFamily="34" charset="0"/>
                <a:ea typeface="Arial" pitchFamily="34" charset="-122"/>
                <a:cs typeface="Arial" pitchFamily="34" charset="-120"/>
              </a:rPr>
              <a:t>— becomes a typed function argument, coerced to </a:t>
            </a:r>
            <a:r>
              <a:rPr lang="en-US" sz="1890" dirty="0">
                <a:solidFill>
                  <a:srgbClr val="201E1D"/>
                </a:solidFill>
                <a:latin typeface="Courier New" pitchFamily="34" charset="0"/>
                <a:ea typeface="Courier New" pitchFamily="34" charset="-122"/>
                <a:cs typeface="Courier New" pitchFamily="34" charset="-120"/>
              </a:rPr>
              <a:t>int</a:t>
            </a:r>
            <a:r>
              <a:rPr lang="en-US" sz="2100" dirty="0">
                <a:solidFill>
                  <a:srgbClr val="201E1D"/>
                </a:solidFill>
                <a:latin typeface="Arial" pitchFamily="34" charset="0"/>
                <a:ea typeface="Arial" pitchFamily="34" charset="-122"/>
                <a:cs typeface="Arial" pitchFamily="34" charset="-120"/>
              </a:rPr>
              <a:t>.</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Query</a:t>
            </a:r>
            <a:endParaRPr lang="en-US" sz="2550" dirty="0"/>
          </a:p>
        </p:txBody>
      </p:sp>
      <p:sp>
        <p:nvSpPr>
          <p:cNvPr id="9" name="Text 7"/>
          <p:cNvSpPr/>
          <p:nvPr/>
        </p:nvSpPr>
        <p:spPr>
          <a:xfrm>
            <a:off x="66294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plain argument with a default — </a:t>
            </a:r>
            <a:r>
              <a:rPr lang="en-US" sz="1890" dirty="0">
                <a:solidFill>
                  <a:srgbClr val="201E1D"/>
                </a:solidFill>
                <a:latin typeface="Courier New" pitchFamily="34" charset="0"/>
                <a:ea typeface="Courier New" pitchFamily="34" charset="-122"/>
                <a:cs typeface="Courier New" pitchFamily="34" charset="-120"/>
              </a:rPr>
              <a:t>purpose: str | None = None </a:t>
            </a:r>
            <a:r>
              <a:rPr lang="en-US" sz="2100" dirty="0">
                <a:solidFill>
                  <a:srgbClr val="201E1D"/>
                </a:solidFill>
                <a:latin typeface="Arial" pitchFamily="34" charset="0"/>
                <a:ea typeface="Arial" pitchFamily="34" charset="-122"/>
                <a:cs typeface="Arial" pitchFamily="34" charset="-120"/>
              </a:rPr>
              <a:t>— is read from the query string.</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Body</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 Pydantic-typed argument — </a:t>
            </a:r>
            <a:r>
              <a:rPr lang="en-US" sz="1890" dirty="0">
                <a:solidFill>
                  <a:srgbClr val="201E1D"/>
                </a:solidFill>
                <a:latin typeface="Courier New" pitchFamily="34" charset="0"/>
                <a:ea typeface="Courier New" pitchFamily="34" charset="-122"/>
                <a:cs typeface="Courier New" pitchFamily="34" charset="-120"/>
              </a:rPr>
              <a:t>payload: ApplicationIn </a:t>
            </a:r>
            <a:r>
              <a:rPr lang="en-US" sz="2100" dirty="0">
                <a:solidFill>
                  <a:srgbClr val="201E1D"/>
                </a:solidFill>
                <a:latin typeface="Arial" pitchFamily="34" charset="0"/>
                <a:ea typeface="Arial" pitchFamily="34" charset="-122"/>
                <a:cs typeface="Arial" pitchFamily="34" charset="-120"/>
              </a:rPr>
              <a:t>— is parsed from the JSON body and validated.</a:t>
            </a:r>
            <a:endParaRPr lang="en-US" sz="2100" dirty="0"/>
          </a:p>
        </p:txBody>
      </p:sp>
      <p:sp>
        <p:nvSpPr>
          <p:cNvPr id="13" name="Text 11"/>
          <p:cNvSpPr/>
          <p:nvPr/>
        </p:nvSpPr>
        <p:spPr>
          <a:xfrm>
            <a:off x="1143000" y="5321647"/>
            <a:ext cx="17473441" cy="2210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FastAPI decides which is which from the signature alone — the source of the parameter is inferred from its type.</a:t>
            </a:r>
            <a:endParaRPr lang="en-US" sz="2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 · COMMON MISTAKES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FastAPI &amp; Pydantic trip people</a:t>
            </a:r>
            <a:endParaRPr lang="en-US" sz="4800" dirty="0"/>
          </a:p>
        </p:txBody>
      </p:sp>
      <p:sp>
        <p:nvSpPr>
          <p:cNvPr id="4" name="Shape 2"/>
          <p:cNvSpPr/>
          <p:nvPr/>
        </p:nvSpPr>
        <p:spPr>
          <a:xfrm>
            <a:off x="1143000" y="3200400"/>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466978"/>
            <a:ext cx="16002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751734"/>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7" name="Text 5"/>
          <p:cNvSpPr/>
          <p:nvPr/>
        </p:nvSpPr>
        <p:spPr>
          <a:xfrm>
            <a:off x="1143000" y="4244132"/>
            <a:ext cx="4968302"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Validating by hand inside the handler with</a:t>
            </a:r>
            <a:endParaRPr lang="en-US" sz="2100" dirty="0"/>
          </a:p>
        </p:txBody>
      </p:sp>
      <p:sp>
        <p:nvSpPr>
          <p:cNvPr id="8" name="Text 6"/>
          <p:cNvSpPr/>
          <p:nvPr/>
        </p:nvSpPr>
        <p:spPr>
          <a:xfrm>
            <a:off x="6022330" y="4234607"/>
            <a:ext cx="359494"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if</a:t>
            </a:r>
            <a:endParaRPr lang="en-US" sz="1890" dirty="0"/>
          </a:p>
        </p:txBody>
      </p:sp>
      <p:sp>
        <p:nvSpPr>
          <p:cNvPr id="9" name="Text 7"/>
          <p:cNvSpPr/>
          <p:nvPr/>
        </p:nvSpPr>
        <p:spPr>
          <a:xfrm>
            <a:off x="1143000" y="4540510"/>
            <a:ext cx="7721597"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checks and manual error responses.</a:t>
            </a:r>
            <a:endParaRPr lang="en-US" sz="2100" dirty="0"/>
          </a:p>
        </p:txBody>
      </p:sp>
      <p:sp>
        <p:nvSpPr>
          <p:cNvPr id="10" name="Text 8"/>
          <p:cNvSpPr/>
          <p:nvPr/>
        </p:nvSpPr>
        <p:spPr>
          <a:xfrm>
            <a:off x="9448800" y="3751734"/>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11" name="Text 9"/>
          <p:cNvSpPr/>
          <p:nvPr/>
        </p:nvSpPr>
        <p:spPr>
          <a:xfrm>
            <a:off x="9448800" y="4244132"/>
            <a:ext cx="4012367"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Put constraints on the model with</a:t>
            </a:r>
            <a:endParaRPr lang="en-US" sz="2100" dirty="0"/>
          </a:p>
        </p:txBody>
      </p:sp>
      <p:sp>
        <p:nvSpPr>
          <p:cNvPr id="12" name="Text 10"/>
          <p:cNvSpPr/>
          <p:nvPr/>
        </p:nvSpPr>
        <p:spPr>
          <a:xfrm>
            <a:off x="13400112" y="4234607"/>
            <a:ext cx="784324"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Field</a:t>
            </a:r>
            <a:endParaRPr lang="en-US" sz="1890" dirty="0"/>
          </a:p>
        </p:txBody>
      </p:sp>
      <p:sp>
        <p:nvSpPr>
          <p:cNvPr id="13" name="Text 11"/>
          <p:cNvSpPr/>
          <p:nvPr/>
        </p:nvSpPr>
        <p:spPr>
          <a:xfrm>
            <a:off x="9423405" y="4580409"/>
            <a:ext cx="7577195"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 let Pydantic return the 422 for you.</a:t>
            </a:r>
            <a:endParaRPr lang="en-US" sz="2100" dirty="0"/>
          </a:p>
        </p:txBody>
      </p:sp>
      <p:sp>
        <p:nvSpPr>
          <p:cNvPr id="14" name="Shape 12"/>
          <p:cNvSpPr/>
          <p:nvPr/>
        </p:nvSpPr>
        <p:spPr>
          <a:xfrm>
            <a:off x="1143000" y="7733556"/>
            <a:ext cx="16002000" cy="19050"/>
          </a:xfrm>
          <a:prstGeom prst="rect">
            <a:avLst/>
          </a:prstGeom>
          <a:solidFill>
            <a:srgbClr val="201E1E">
              <a:alpha val="40000"/>
            </a:srgbClr>
          </a:solidFill>
          <a:ln/>
        </p:spPr>
        <p:txBody>
          <a:bodyPr/>
          <a:lstStyle/>
          <a:p>
            <a:endParaRPr lang="en-US"/>
          </a:p>
        </p:txBody>
      </p:sp>
      <p:sp>
        <p:nvSpPr>
          <p:cNvPr id="15" name="Text 13"/>
          <p:cNvSpPr/>
          <p:nvPr/>
        </p:nvSpPr>
        <p:spPr>
          <a:xfrm>
            <a:off x="1143000" y="6018312"/>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16" name="Text 14"/>
          <p:cNvSpPr/>
          <p:nvPr/>
        </p:nvSpPr>
        <p:spPr>
          <a:xfrm>
            <a:off x="1143000" y="6510710"/>
            <a:ext cx="1284387"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Forgetting</a:t>
            </a:r>
            <a:endParaRPr lang="en-US" sz="2100" dirty="0"/>
          </a:p>
        </p:txBody>
      </p:sp>
      <p:sp>
        <p:nvSpPr>
          <p:cNvPr id="17" name="Text 15"/>
          <p:cNvSpPr/>
          <p:nvPr/>
        </p:nvSpPr>
        <p:spPr>
          <a:xfrm>
            <a:off x="2406997" y="6501185"/>
            <a:ext cx="2336728"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status_code=201</a:t>
            </a:r>
            <a:endParaRPr lang="en-US" sz="1890" dirty="0"/>
          </a:p>
        </p:txBody>
      </p:sp>
      <p:sp>
        <p:nvSpPr>
          <p:cNvPr id="18" name="Text 16"/>
          <p:cNvSpPr/>
          <p:nvPr/>
        </p:nvSpPr>
        <p:spPr>
          <a:xfrm>
            <a:off x="1107653" y="6883449"/>
            <a:ext cx="7923637"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on create, so a new resource returns a bare 200.</a:t>
            </a:r>
            <a:endParaRPr lang="en-US" sz="2100" dirty="0"/>
          </a:p>
        </p:txBody>
      </p:sp>
      <p:sp>
        <p:nvSpPr>
          <p:cNvPr id="19" name="Text 17"/>
          <p:cNvSpPr/>
          <p:nvPr/>
        </p:nvSpPr>
        <p:spPr>
          <a:xfrm>
            <a:off x="9448800" y="6018312"/>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20" name="Text 18"/>
          <p:cNvSpPr/>
          <p:nvPr/>
        </p:nvSpPr>
        <p:spPr>
          <a:xfrm>
            <a:off x="9448800" y="6510710"/>
            <a:ext cx="6889139"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Set the status on the decorator; it also documents itself in</a:t>
            </a:r>
            <a:endParaRPr lang="en-US" sz="2100" dirty="0"/>
          </a:p>
        </p:txBody>
      </p:sp>
      <p:sp>
        <p:nvSpPr>
          <p:cNvPr id="21" name="Text 19"/>
          <p:cNvSpPr/>
          <p:nvPr/>
        </p:nvSpPr>
        <p:spPr>
          <a:xfrm>
            <a:off x="16193095" y="6501185"/>
            <a:ext cx="784324"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/docs</a:t>
            </a:r>
            <a:endParaRPr lang="en-US" sz="1890" dirty="0"/>
          </a:p>
        </p:txBody>
      </p:sp>
      <p:sp>
        <p:nvSpPr>
          <p:cNvPr id="22" name="Text 20"/>
          <p:cNvSpPr/>
          <p:nvPr/>
        </p:nvSpPr>
        <p:spPr>
          <a:xfrm>
            <a:off x="16901220" y="6510710"/>
            <a:ext cx="150093"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t>
            </a:r>
            <a:endParaRPr lang="en-US" sz="2100" dirty="0"/>
          </a:p>
        </p:txBody>
      </p:sp>
      <p:sp>
        <p:nvSpPr>
          <p:cNvPr id="23" name="Shape 21"/>
          <p:cNvSpPr/>
          <p:nvPr/>
        </p:nvSpPr>
        <p:spPr>
          <a:xfrm>
            <a:off x="1143000" y="10000134"/>
            <a:ext cx="16002000" cy="19050"/>
          </a:xfrm>
          <a:prstGeom prst="rect">
            <a:avLst/>
          </a:prstGeom>
          <a:solidFill>
            <a:srgbClr val="201E1E">
              <a:alpha val="40000"/>
            </a:srgbClr>
          </a:solidFill>
          <a:ln/>
        </p:spPr>
        <p:txBody>
          <a:bodyPr/>
          <a:lstStyle/>
          <a:p>
            <a:endParaRPr lang="en-US"/>
          </a:p>
        </p:txBody>
      </p:sp>
      <p:sp>
        <p:nvSpPr>
          <p:cNvPr id="24" name="Text 22"/>
          <p:cNvSpPr/>
          <p:nvPr/>
        </p:nvSpPr>
        <p:spPr>
          <a:xfrm>
            <a:off x="1143000" y="8284890"/>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25" name="Text 23"/>
          <p:cNvSpPr/>
          <p:nvPr/>
        </p:nvSpPr>
        <p:spPr>
          <a:xfrm>
            <a:off x="1143000" y="8777288"/>
            <a:ext cx="4361492"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Returning a dict that does not match</a:t>
            </a:r>
            <a:endParaRPr lang="en-US" sz="2100" dirty="0"/>
          </a:p>
        </p:txBody>
      </p:sp>
      <p:sp>
        <p:nvSpPr>
          <p:cNvPr id="26" name="Text 24"/>
          <p:cNvSpPr/>
          <p:nvPr/>
        </p:nvSpPr>
        <p:spPr>
          <a:xfrm>
            <a:off x="5433268" y="8767763"/>
            <a:ext cx="2180957"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response_model</a:t>
            </a:r>
            <a:endParaRPr lang="en-US" sz="1890" dirty="0"/>
          </a:p>
        </p:txBody>
      </p:sp>
      <p:sp>
        <p:nvSpPr>
          <p:cNvPr id="27" name="Text 25"/>
          <p:cNvSpPr/>
          <p:nvPr/>
        </p:nvSpPr>
        <p:spPr>
          <a:xfrm>
            <a:off x="1143000" y="9113565"/>
            <a:ext cx="7711403"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and being surprised when fields vanish.</a:t>
            </a:r>
            <a:endParaRPr lang="en-US" sz="2100" dirty="0"/>
          </a:p>
        </p:txBody>
      </p:sp>
      <p:sp>
        <p:nvSpPr>
          <p:cNvPr id="28" name="Text 26"/>
          <p:cNvSpPr/>
          <p:nvPr/>
        </p:nvSpPr>
        <p:spPr>
          <a:xfrm>
            <a:off x="9448800" y="8284890"/>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29" name="Text 27"/>
          <p:cNvSpPr/>
          <p:nvPr/>
        </p:nvSpPr>
        <p:spPr>
          <a:xfrm>
            <a:off x="9448800" y="8777288"/>
            <a:ext cx="7334149"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Return the model, or a shape that satisfies it — the schema is enforced on the way out.</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03 · FASTAPI · INTERVIEW</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In an interview: FastAPI &amp; Pydantic</a:t>
            </a:r>
            <a:endParaRPr lang="en-US" sz="4800" dirty="0"/>
          </a:p>
        </p:txBody>
      </p:sp>
      <p:sp>
        <p:nvSpPr>
          <p:cNvPr id="4" name="Shape 2"/>
          <p:cNvSpPr/>
          <p:nvPr/>
        </p:nvSpPr>
        <p:spPr>
          <a:xfrm>
            <a:off x="1143000" y="2971800"/>
            <a:ext cx="14859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197897"/>
            <a:ext cx="14859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454524"/>
            <a:ext cx="647700" cy="1317799"/>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Q1</a:t>
            </a:r>
            <a:endParaRPr lang="en-US" sz="1800" dirty="0"/>
          </a:p>
        </p:txBody>
      </p:sp>
      <p:sp>
        <p:nvSpPr>
          <p:cNvPr id="7" name="Text 5"/>
          <p:cNvSpPr/>
          <p:nvPr/>
        </p:nvSpPr>
        <p:spPr>
          <a:xfrm>
            <a:off x="1981200" y="3454524"/>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What is the difference between a 422 and a 404 here?</a:t>
            </a:r>
            <a:endParaRPr lang="en-US" sz="2550" dirty="0"/>
          </a:p>
        </p:txBody>
      </p:sp>
      <p:sp>
        <p:nvSpPr>
          <p:cNvPr id="8" name="Text 6"/>
          <p:cNvSpPr/>
          <p:nvPr/>
        </p:nvSpPr>
        <p:spPr>
          <a:xfrm>
            <a:off x="1981200" y="3819823"/>
            <a:ext cx="14441424" cy="9525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422 is Pydantic rejecting the request shape before the handler runs; 404 is the handler's own logic reporting a missing record.</a:t>
            </a:r>
            <a:endParaRPr lang="en-US" sz="2100" dirty="0"/>
          </a:p>
        </p:txBody>
      </p:sp>
      <p:sp>
        <p:nvSpPr>
          <p:cNvPr id="9" name="Shape 7"/>
          <p:cNvSpPr/>
          <p:nvPr/>
        </p:nvSpPr>
        <p:spPr>
          <a:xfrm>
            <a:off x="1143000" y="6966793"/>
            <a:ext cx="14859000" cy="19050"/>
          </a:xfrm>
          <a:prstGeom prst="rect">
            <a:avLst/>
          </a:prstGeom>
          <a:solidFill>
            <a:srgbClr val="201E1E">
              <a:alpha val="40000"/>
            </a:srgbClr>
          </a:solidFill>
          <a:ln/>
        </p:spPr>
        <p:txBody>
          <a:bodyPr/>
          <a:lstStyle/>
          <a:p>
            <a:endParaRPr lang="en-US"/>
          </a:p>
        </p:txBody>
      </p:sp>
      <p:sp>
        <p:nvSpPr>
          <p:cNvPr id="10" name="Text 8"/>
          <p:cNvSpPr/>
          <p:nvPr/>
        </p:nvSpPr>
        <p:spPr>
          <a:xfrm>
            <a:off x="1143000" y="5680621"/>
            <a:ext cx="647700" cy="860599"/>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Q2</a:t>
            </a:r>
            <a:endParaRPr lang="en-US" sz="1800" dirty="0"/>
          </a:p>
        </p:txBody>
      </p:sp>
      <p:sp>
        <p:nvSpPr>
          <p:cNvPr id="11" name="Text 9"/>
          <p:cNvSpPr/>
          <p:nvPr/>
        </p:nvSpPr>
        <p:spPr>
          <a:xfrm>
            <a:off x="1981200" y="5680621"/>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What does </a:t>
            </a:r>
            <a:r>
              <a:rPr lang="en-US" sz="2295" b="1" dirty="0">
                <a:solidFill>
                  <a:srgbClr val="201E1D"/>
                </a:solidFill>
                <a:latin typeface="Courier New" pitchFamily="34" charset="0"/>
                <a:ea typeface="Courier New" pitchFamily="34" charset="-122"/>
                <a:cs typeface="Courier New" pitchFamily="34" charset="-120"/>
              </a:rPr>
              <a:t>response_model </a:t>
            </a:r>
            <a:r>
              <a:rPr lang="en-US" sz="2550" b="1" dirty="0">
                <a:solidFill>
                  <a:srgbClr val="201E1D"/>
                </a:solidFill>
                <a:latin typeface="Arial" pitchFamily="34" charset="0"/>
                <a:ea typeface="Arial" pitchFamily="34" charset="-122"/>
                <a:cs typeface="Arial" pitchFamily="34" charset="-120"/>
              </a:rPr>
              <a:t>actually do?</a:t>
            </a:r>
            <a:endParaRPr lang="en-US" sz="2550" dirty="0"/>
          </a:p>
        </p:txBody>
      </p:sp>
      <p:sp>
        <p:nvSpPr>
          <p:cNvPr id="12" name="Text 10"/>
          <p:cNvSpPr/>
          <p:nvPr/>
        </p:nvSpPr>
        <p:spPr>
          <a:xfrm>
            <a:off x="1981200" y="6045919"/>
            <a:ext cx="14441424" cy="4953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Validates and filters the response against a schema and documents it — nothing undeclared leaks to the client.</a:t>
            </a:r>
            <a:endParaRPr lang="en-US" sz="2100" dirty="0"/>
          </a:p>
        </p:txBody>
      </p:sp>
      <p:sp>
        <p:nvSpPr>
          <p:cNvPr id="13" name="Shape 11"/>
          <p:cNvSpPr/>
          <p:nvPr/>
        </p:nvSpPr>
        <p:spPr>
          <a:xfrm>
            <a:off x="1143000" y="8735690"/>
            <a:ext cx="148590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7449517"/>
            <a:ext cx="647700" cy="860599"/>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Q3</a:t>
            </a:r>
            <a:endParaRPr lang="en-US" sz="1800" dirty="0"/>
          </a:p>
        </p:txBody>
      </p:sp>
      <p:sp>
        <p:nvSpPr>
          <p:cNvPr id="15" name="Text 13"/>
          <p:cNvSpPr/>
          <p:nvPr/>
        </p:nvSpPr>
        <p:spPr>
          <a:xfrm>
            <a:off x="1981200" y="7449517"/>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How does FastAPI know a parameter is path, query or body?</a:t>
            </a:r>
            <a:endParaRPr lang="en-US" sz="2550" dirty="0"/>
          </a:p>
        </p:txBody>
      </p:sp>
      <p:sp>
        <p:nvSpPr>
          <p:cNvPr id="16" name="Text 14"/>
          <p:cNvSpPr/>
          <p:nvPr/>
        </p:nvSpPr>
        <p:spPr>
          <a:xfrm>
            <a:off x="1981200" y="7814816"/>
            <a:ext cx="14441424" cy="4953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From the signature: names in the path are path params, Pydantic-typed args are the body, the rest are query params.</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3223915"/>
            <a:ext cx="2921176" cy="2266950"/>
          </a:xfrm>
          <a:prstGeom prst="rect">
            <a:avLst/>
          </a:prstGeom>
          <a:noFill/>
          <a:ln/>
        </p:spPr>
        <p:txBody>
          <a:bodyPr wrap="square" lIns="25400" tIns="25400" rIns="25400" bIns="25400" rtlCol="0" anchor="t">
            <a:normAutofit/>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04</a:t>
            </a:r>
            <a:endParaRPr lang="en-US" sz="19500" dirty="0"/>
          </a:p>
        </p:txBody>
      </p:sp>
      <p:sp>
        <p:nvSpPr>
          <p:cNvPr id="3" name="Text 1"/>
          <p:cNvSpPr/>
          <p:nvPr/>
        </p:nvSpPr>
        <p:spPr>
          <a:xfrm>
            <a:off x="1107653" y="5833765"/>
            <a:ext cx="6056568"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A first test with pytest</a:t>
            </a:r>
            <a:endParaRPr lang="en-US" sz="4800" dirty="0"/>
          </a:p>
        </p:txBody>
      </p:sp>
      <p:sp>
        <p:nvSpPr>
          <p:cNvPr id="4" name="Text 2"/>
          <p:cNvSpPr/>
          <p:nvPr/>
        </p:nvSpPr>
        <p:spPr>
          <a:xfrm>
            <a:off x="1107653" y="7321128"/>
            <a:ext cx="6982681" cy="221084"/>
          </a:xfrm>
          <a:prstGeom prst="rect">
            <a:avLst/>
          </a:prstGeom>
          <a:noFill/>
          <a:ln/>
        </p:spPr>
        <p:txBody>
          <a:bodyPr wrap="square" lIns="25400" tIns="25400" rIns="25400" bIns="25400" rtlCol="0" anchor="t">
            <a:normAutofit fontScale="47500" lnSpcReduction="20000"/>
          </a:bodyPr>
          <a:lstStyle/>
          <a:p>
            <a:pPr marL="0" indent="0" algn="l">
              <a:lnSpc>
                <a:spcPct val="133538"/>
              </a:lnSpc>
              <a:buNone/>
            </a:pPr>
            <a:r>
              <a:rPr lang="en-US" sz="2100" kern="0" spc="126" dirty="0">
                <a:solidFill>
                  <a:srgbClr val="F3F2F2"/>
                </a:solidFill>
                <a:latin typeface="Arial" pitchFamily="34" charset="0"/>
                <a:ea typeface="Arial" pitchFamily="34" charset="-122"/>
                <a:cs typeface="Arial" pitchFamily="34" charset="-120"/>
              </a:rPr>
              <a:t>1:20 – 1:35 · 15 MINUTES · LIVE-CODE ALONG</a:t>
            </a:r>
            <a:endParaRPr lang="en-US" sz="2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PYTEST · WHY IT MATTERS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write the test now</a:t>
            </a:r>
            <a:endParaRPr lang="en-US" sz="4800" dirty="0"/>
          </a:p>
        </p:txBody>
      </p:sp>
      <p:sp>
        <p:nvSpPr>
          <p:cNvPr id="4" name="Text 2"/>
          <p:cNvSpPr/>
          <p:nvPr/>
        </p:nvSpPr>
        <p:spPr>
          <a:xfrm>
            <a:off x="1143000" y="3074194"/>
            <a:ext cx="9646650" cy="1581596"/>
          </a:xfrm>
          <a:prstGeom prst="rect">
            <a:avLst/>
          </a:prstGeom>
          <a:noFill/>
          <a:ln/>
        </p:spPr>
        <p:txBody>
          <a:bodyPr wrap="square" lIns="25400" tIns="25400" rIns="25400" bIns="25400" rtlCol="0" anchor="t">
            <a:normAutofit/>
          </a:bodyPr>
          <a:lstStyle/>
          <a:p>
            <a:pPr marL="0" indent="0" algn="l">
              <a:lnSpc>
                <a:spcPct val="104874"/>
              </a:lnSpc>
              <a:buNone/>
            </a:pPr>
            <a:r>
              <a:rPr lang="en-US" sz="3900" b="1" kern="0" spc="-58" dirty="0">
                <a:solidFill>
                  <a:srgbClr val="201E1D"/>
                </a:solidFill>
                <a:latin typeface="Arial" pitchFamily="34" charset="0"/>
                <a:ea typeface="Arial" pitchFamily="34" charset="-122"/>
                <a:cs typeface="Arial" pitchFamily="34" charset="-120"/>
              </a:rPr>
              <a:t>Your tests protect the </a:t>
            </a:r>
            <a:r>
              <a:rPr lang="en-US" sz="3900" b="1" kern="0" spc="-58" dirty="0">
                <a:solidFill>
                  <a:srgbClr val="AE1800"/>
                </a:solidFill>
                <a:latin typeface="Arial" pitchFamily="34" charset="0"/>
                <a:ea typeface="Arial" pitchFamily="34" charset="-122"/>
                <a:cs typeface="Arial" pitchFamily="34" charset="-120"/>
              </a:rPr>
              <a:t>contract </a:t>
            </a:r>
            <a:r>
              <a:rPr lang="en-US" sz="3900" b="1" kern="0" spc="-58" dirty="0">
                <a:solidFill>
                  <a:srgbClr val="201E1D"/>
                </a:solidFill>
                <a:latin typeface="Arial" pitchFamily="34" charset="0"/>
                <a:ea typeface="Arial" pitchFamily="34" charset="-122"/>
                <a:cs typeface="Arial" pitchFamily="34" charset="-120"/>
              </a:rPr>
              <a:t>the frontend depends on. Today we build the habit — one green run — not the theory.</a:t>
            </a:r>
            <a:endParaRPr lang="en-US" sz="3900" dirty="0"/>
          </a:p>
        </p:txBody>
      </p:sp>
      <p:sp>
        <p:nvSpPr>
          <p:cNvPr id="5" name="Text 3"/>
          <p:cNvSpPr/>
          <p:nvPr/>
        </p:nvSpPr>
        <p:spPr>
          <a:xfrm>
            <a:off x="1143000" y="5367412"/>
            <a:ext cx="16482060"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A test that asserts the validation rules turns a silent regression into a red run. When the frontend codes against your 201 and 422 responses, a test is what stops a careless change from breaking their page tomorrow.</a:t>
            </a:r>
            <a:endParaRPr lang="en-US" sz="2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PYTEST</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2263549"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test_main.py</a:t>
            </a:r>
            <a:endParaRPr lang="en-US" sz="2250" dirty="0"/>
          </a:p>
        </p:txBody>
      </p:sp>
      <p:sp>
        <p:nvSpPr>
          <p:cNvPr id="5" name="Text 3"/>
          <p:cNvSpPr/>
          <p:nvPr/>
        </p:nvSpPr>
        <p:spPr>
          <a:xfrm>
            <a:off x="3696072" y="1894136"/>
            <a:ext cx="246434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the happy path</a:t>
            </a:r>
            <a:endParaRPr lang="en-US" sz="2100" dirty="0"/>
          </a:p>
        </p:txBody>
      </p:sp>
      <p:sp>
        <p:nvSpPr>
          <p:cNvPr id="6" name="Shape 4"/>
          <p:cNvSpPr/>
          <p:nvPr/>
        </p:nvSpPr>
        <p:spPr>
          <a:xfrm>
            <a:off x="1143000" y="2732187"/>
            <a:ext cx="16002000" cy="5715000"/>
          </a:xfrm>
          <a:prstGeom prst="rect">
            <a:avLst/>
          </a:prstGeom>
          <a:solidFill>
            <a:srgbClr val="EAE9E9"/>
          </a:solidFill>
          <a:ln/>
        </p:spPr>
        <p:txBody>
          <a:bodyPr/>
          <a:lstStyle/>
          <a:p>
            <a:endParaRPr lang="en-US"/>
          </a:p>
        </p:txBody>
      </p:sp>
      <p:sp>
        <p:nvSpPr>
          <p:cNvPr id="7" name="Text 5"/>
          <p:cNvSpPr/>
          <p:nvPr/>
        </p:nvSpPr>
        <p:spPr>
          <a:xfrm>
            <a:off x="1524000" y="2947371"/>
            <a:ext cx="5792328" cy="2166938"/>
          </a:xfrm>
          <a:prstGeom prst="rect">
            <a:avLst/>
          </a:prstGeom>
          <a:noFill/>
          <a:ln/>
        </p:spPr>
        <p:txBody>
          <a:bodyPr wrap="none" lIns="0" tIns="0" rIns="0" bIns="0" rtlCol="0" anchor="t">
            <a:normAutofit lnSpcReduction="10000"/>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from fastapi.testclient import TestClient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from main import app, DB</a:t>
            </a:r>
            <a:endParaRPr lang="en-US" sz="1800" dirty="0"/>
          </a:p>
          <a:p>
            <a:pPr marL="0" indent="0" algn="l">
              <a:lnSpc>
                <a:spcPct val="118519"/>
              </a:lnSpc>
              <a:buNone/>
            </a:pP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client = TestClient(app)</a:t>
            </a:r>
            <a:endParaRPr lang="en-US" sz="1800" dirty="0"/>
          </a:p>
          <a:p>
            <a:pPr marL="0" indent="0" algn="l">
              <a:lnSpc>
                <a:spcPct val="118519"/>
              </a:lnSpc>
              <a:buNone/>
            </a:pP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def setup_function():</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DB.clear()                     </a:t>
            </a:r>
            <a:endParaRPr lang="en-US" sz="1800" dirty="0"/>
          </a:p>
        </p:txBody>
      </p:sp>
      <p:sp>
        <p:nvSpPr>
          <p:cNvPr id="8" name="Text 6"/>
          <p:cNvSpPr/>
          <p:nvPr/>
        </p:nvSpPr>
        <p:spPr>
          <a:xfrm>
            <a:off x="6324600" y="4776171"/>
            <a:ext cx="2825496" cy="338138"/>
          </a:xfrm>
          <a:prstGeom prst="rect">
            <a:avLst/>
          </a:prstGeom>
          <a:noFill/>
          <a:ln/>
        </p:spPr>
        <p:txBody>
          <a:bodyPr wrap="none" lIns="25400" tIns="25400" rIns="25400" bIns="25400" rtlCol="0" anchor="t">
            <a:normAutofit fontScale="92500" lnSpcReduction="10000"/>
          </a:bodyPr>
          <a:lstStyle/>
          <a:p>
            <a:pPr marL="0" indent="0" algn="l">
              <a:lnSpc>
                <a:spcPct val="118519"/>
              </a:lnSpc>
              <a:buNone/>
            </a:pPr>
            <a:r>
              <a:rPr lang="en-US" sz="1800" dirty="0">
                <a:solidFill>
                  <a:srgbClr val="211F1C">
                    <a:alpha val="46000"/>
                  </a:srgbClr>
                </a:solidFill>
                <a:latin typeface="Courier New" pitchFamily="34" charset="0"/>
                <a:ea typeface="Courier New" pitchFamily="34" charset="-122"/>
                <a:cs typeface="Courier New" pitchFamily="34" charset="-120"/>
              </a:rPr>
              <a:t># isolate every test</a:t>
            </a:r>
            <a:endParaRPr lang="en-US" sz="1800" dirty="0"/>
          </a:p>
        </p:txBody>
      </p:sp>
      <p:sp>
        <p:nvSpPr>
          <p:cNvPr id="9" name="Text 7"/>
          <p:cNvSpPr/>
          <p:nvPr/>
        </p:nvSpPr>
        <p:spPr>
          <a:xfrm>
            <a:off x="1524000" y="5385771"/>
            <a:ext cx="10313091" cy="1252538"/>
          </a:xfrm>
          <a:prstGeom prst="rect">
            <a:avLst/>
          </a:prstGeom>
          <a:noFill/>
          <a:ln/>
        </p:spPr>
        <p:txBody>
          <a:bodyPr wrap="none" lIns="0" tIns="0" rIns="0" bIns="0" rtlCol="0" anchor="t">
            <a:normAutofit lnSpcReduction="10000"/>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def test_create_and_fetch_application():</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payload = {"applicant_name": "Asha Traders", "monthly_income": 45000,</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"amount_requested": 300000, "purpose": "working_capital"}</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created = client.post("/applications", json=payload)</a:t>
            </a:r>
            <a:endParaRPr lang="en-US" sz="1800" dirty="0"/>
          </a:p>
        </p:txBody>
      </p:sp>
      <p:sp>
        <p:nvSpPr>
          <p:cNvPr id="10" name="Shape 8"/>
          <p:cNvSpPr/>
          <p:nvPr/>
        </p:nvSpPr>
        <p:spPr>
          <a:xfrm>
            <a:off x="1143000" y="6656487"/>
            <a:ext cx="16002000" cy="609600"/>
          </a:xfrm>
          <a:prstGeom prst="rect">
            <a:avLst/>
          </a:prstGeom>
          <a:solidFill>
            <a:srgbClr val="FFF2EF"/>
          </a:solidFill>
          <a:ln/>
        </p:spPr>
        <p:txBody>
          <a:bodyPr/>
          <a:lstStyle/>
          <a:p>
            <a:endParaRPr lang="en-US"/>
          </a:p>
        </p:txBody>
      </p:sp>
      <p:sp>
        <p:nvSpPr>
          <p:cNvPr id="11" name="Text 9"/>
          <p:cNvSpPr/>
          <p:nvPr/>
        </p:nvSpPr>
        <p:spPr>
          <a:xfrm>
            <a:off x="1524000" y="6656487"/>
            <a:ext cx="15720060" cy="647700"/>
          </a:xfrm>
          <a:prstGeom prst="rect">
            <a:avLst/>
          </a:prstGeom>
          <a:noFill/>
          <a:ln/>
        </p:spPr>
        <p:txBody>
          <a:bodyPr wrap="none" lIns="25400" tIns="25400" rIns="25400" bIns="2540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assert created.status_code == 201</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assert created.json()["status"] == "received"</a:t>
            </a:r>
            <a:endParaRPr lang="en-US" sz="1800" dirty="0"/>
          </a:p>
        </p:txBody>
      </p:sp>
      <p:sp>
        <p:nvSpPr>
          <p:cNvPr id="12" name="Text 10"/>
          <p:cNvSpPr/>
          <p:nvPr/>
        </p:nvSpPr>
        <p:spPr>
          <a:xfrm>
            <a:off x="1524000" y="7570887"/>
            <a:ext cx="5650992" cy="642938"/>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listed = client.get("/applications")</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assert len(listed.json()) == 1</a:t>
            </a:r>
            <a:endParaRPr lang="en-US" sz="1800" dirty="0"/>
          </a:p>
        </p:txBody>
      </p:sp>
      <p:sp>
        <p:nvSpPr>
          <p:cNvPr id="13" name="Text 11"/>
          <p:cNvSpPr/>
          <p:nvPr/>
        </p:nvSpPr>
        <p:spPr>
          <a:xfrm>
            <a:off x="1143000" y="8739708"/>
            <a:ext cx="16801326" cy="2210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The assertions are the point — a POST returns </a:t>
            </a:r>
            <a:r>
              <a:rPr lang="en-US" sz="1875" dirty="0">
                <a:solidFill>
                  <a:srgbClr val="211D1D">
                    <a:alpha val="55000"/>
                  </a:srgbClr>
                </a:solidFill>
                <a:latin typeface="Courier New" pitchFamily="34" charset="0"/>
                <a:ea typeface="Courier New" pitchFamily="34" charset="-122"/>
                <a:cs typeface="Courier New" pitchFamily="34" charset="-120"/>
              </a:rPr>
              <a:t>201 </a:t>
            </a:r>
            <a:r>
              <a:rPr lang="en-US" sz="2100" dirty="0">
                <a:solidFill>
                  <a:srgbClr val="211D1D">
                    <a:alpha val="55000"/>
                  </a:srgbClr>
                </a:solidFill>
                <a:latin typeface="Arial" pitchFamily="34" charset="0"/>
                <a:ea typeface="Arial" pitchFamily="34" charset="-122"/>
                <a:cs typeface="Arial" pitchFamily="34" charset="-120"/>
              </a:rPr>
              <a:t>and echoes </a:t>
            </a:r>
            <a:r>
              <a:rPr lang="en-US" sz="1875" dirty="0">
                <a:solidFill>
                  <a:srgbClr val="211D1D">
                    <a:alpha val="55000"/>
                  </a:srgbClr>
                </a:solidFill>
                <a:latin typeface="Courier New" pitchFamily="34" charset="0"/>
                <a:ea typeface="Courier New" pitchFamily="34" charset="-122"/>
                <a:cs typeface="Courier New" pitchFamily="34" charset="-120"/>
              </a:rPr>
              <a:t>status: received</a:t>
            </a:r>
            <a:r>
              <a:rPr lang="en-US" sz="2100" dirty="0">
                <a:solidFill>
                  <a:srgbClr val="211D1D">
                    <a:alpha val="55000"/>
                  </a:srgbClr>
                </a:solidFill>
                <a:latin typeface="Arial" pitchFamily="34" charset="0"/>
                <a:ea typeface="Arial" pitchFamily="34" charset="-122"/>
                <a:cs typeface="Arial" pitchFamily="34" charset="-120"/>
              </a:rPr>
              <a:t>, and the list then holds exactly one row.</a:t>
            </a:r>
            <a:endParaRPr lang="en-US" sz="2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PYTEST</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2263549"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test_main.py</a:t>
            </a:r>
            <a:endParaRPr lang="en-US" sz="2250" dirty="0"/>
          </a:p>
        </p:txBody>
      </p:sp>
      <p:sp>
        <p:nvSpPr>
          <p:cNvPr id="5" name="Text 3"/>
          <p:cNvSpPr/>
          <p:nvPr/>
        </p:nvSpPr>
        <p:spPr>
          <a:xfrm>
            <a:off x="3696072" y="1894136"/>
            <a:ext cx="5280660"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assert the validation contract</a:t>
            </a:r>
            <a:endParaRPr lang="en-US" sz="2100" dirty="0"/>
          </a:p>
        </p:txBody>
      </p:sp>
      <p:sp>
        <p:nvSpPr>
          <p:cNvPr id="6" name="Shape 4"/>
          <p:cNvSpPr/>
          <p:nvPr/>
        </p:nvSpPr>
        <p:spPr>
          <a:xfrm>
            <a:off x="1143000" y="2723852"/>
            <a:ext cx="16002000" cy="2457450"/>
          </a:xfrm>
          <a:prstGeom prst="rect">
            <a:avLst/>
          </a:prstGeom>
          <a:solidFill>
            <a:srgbClr val="EAE9E9"/>
          </a:solidFill>
          <a:ln/>
        </p:spPr>
        <p:txBody>
          <a:bodyPr/>
          <a:lstStyle/>
          <a:p>
            <a:endParaRPr lang="en-US"/>
          </a:p>
        </p:txBody>
      </p:sp>
      <p:sp>
        <p:nvSpPr>
          <p:cNvPr id="7" name="Text 5"/>
          <p:cNvSpPr/>
          <p:nvPr/>
        </p:nvSpPr>
        <p:spPr>
          <a:xfrm>
            <a:off x="1562100" y="3057227"/>
            <a:ext cx="9218196" cy="146208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def test_negative_income_rejected():</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bad = {"applicant_name": "X", "monthly_income": -1,</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"amount_requested": 1000, "purpose": "vehicle"}</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response = client.post("/applications", json=bad)</a:t>
            </a:r>
            <a:endParaRPr lang="en-US" sz="2025" dirty="0"/>
          </a:p>
        </p:txBody>
      </p:sp>
      <p:sp>
        <p:nvSpPr>
          <p:cNvPr id="8" name="Shape 6"/>
          <p:cNvSpPr/>
          <p:nvPr/>
        </p:nvSpPr>
        <p:spPr>
          <a:xfrm>
            <a:off x="1143000" y="4495502"/>
            <a:ext cx="16002000" cy="361950"/>
          </a:xfrm>
          <a:prstGeom prst="rect">
            <a:avLst/>
          </a:prstGeom>
          <a:solidFill>
            <a:srgbClr val="FFF2EF"/>
          </a:solidFill>
          <a:ln/>
        </p:spPr>
        <p:txBody>
          <a:bodyPr/>
          <a:lstStyle/>
          <a:p>
            <a:endParaRPr lang="en-US"/>
          </a:p>
        </p:txBody>
      </p:sp>
      <p:sp>
        <p:nvSpPr>
          <p:cNvPr id="9" name="Text 7"/>
          <p:cNvSpPr/>
          <p:nvPr/>
        </p:nvSpPr>
        <p:spPr>
          <a:xfrm>
            <a:off x="1562100" y="4495502"/>
            <a:ext cx="15643860" cy="400050"/>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assert response.status_code == 422</a:t>
            </a:r>
            <a:endParaRPr lang="en-US" sz="2025" dirty="0"/>
          </a:p>
        </p:txBody>
      </p:sp>
      <p:sp>
        <p:nvSpPr>
          <p:cNvPr id="10" name="Text 8"/>
          <p:cNvSpPr/>
          <p:nvPr/>
        </p:nvSpPr>
        <p:spPr>
          <a:xfrm>
            <a:off x="1143000" y="5473824"/>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This test does not check the happy path — it checks that bad input is </a:t>
            </a:r>
            <a:r>
              <a:rPr lang="en-US" sz="2100" dirty="0">
                <a:solidFill>
                  <a:srgbClr val="AE1800"/>
                </a:solidFill>
                <a:latin typeface="Arial" pitchFamily="34" charset="0"/>
                <a:ea typeface="Arial" pitchFamily="34" charset="-122"/>
                <a:cs typeface="Arial" pitchFamily="34" charset="-120"/>
              </a:rPr>
              <a:t>refused </a:t>
            </a:r>
            <a:r>
              <a:rPr lang="en-US" sz="2100" dirty="0">
                <a:solidFill>
                  <a:srgbClr val="211D1D">
                    <a:alpha val="55000"/>
                  </a:srgbClr>
                </a:solidFill>
                <a:latin typeface="Arial" pitchFamily="34" charset="0"/>
                <a:ea typeface="Arial" pitchFamily="34" charset="-122"/>
                <a:cs typeface="Arial" pitchFamily="34" charset="-120"/>
              </a:rPr>
              <a:t>. It guards the exact promise the frontend relies on: negative income never becomes a stored application.</a:t>
            </a:r>
            <a:endParaRPr lang="en-US" sz="2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PYTEST</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2452144"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One green run</a:t>
            </a:r>
            <a:endParaRPr lang="en-US" sz="2250" dirty="0"/>
          </a:p>
        </p:txBody>
      </p:sp>
      <p:sp>
        <p:nvSpPr>
          <p:cNvPr id="5" name="Text 3"/>
          <p:cNvSpPr/>
          <p:nvPr/>
        </p:nvSpPr>
        <p:spPr>
          <a:xfrm>
            <a:off x="3867522" y="1894136"/>
            <a:ext cx="158423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pytest -v</a:t>
            </a:r>
            <a:endParaRPr lang="en-US" sz="2100" dirty="0"/>
          </a:p>
        </p:txBody>
      </p:sp>
      <p:sp>
        <p:nvSpPr>
          <p:cNvPr id="6" name="Shape 4"/>
          <p:cNvSpPr/>
          <p:nvPr/>
        </p:nvSpPr>
        <p:spPr>
          <a:xfrm>
            <a:off x="1143000" y="2723852"/>
            <a:ext cx="16002000" cy="2819400"/>
          </a:xfrm>
          <a:prstGeom prst="rect">
            <a:avLst/>
          </a:prstGeom>
          <a:solidFill>
            <a:srgbClr val="EAE9E9"/>
          </a:solidFill>
          <a:ln/>
        </p:spPr>
        <p:txBody>
          <a:bodyPr/>
          <a:lstStyle/>
          <a:p>
            <a:endParaRPr lang="en-US"/>
          </a:p>
        </p:txBody>
      </p:sp>
      <p:sp>
        <p:nvSpPr>
          <p:cNvPr id="7" name="Text 5"/>
          <p:cNvSpPr/>
          <p:nvPr/>
        </p:nvSpPr>
        <p:spPr>
          <a:xfrm>
            <a:off x="1562100" y="3057227"/>
            <a:ext cx="10012867" cy="146208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pytest -v</a:t>
            </a:r>
            <a:endParaRPr lang="en-US" sz="2025" dirty="0"/>
          </a:p>
          <a:p>
            <a:pPr marL="0" indent="0" algn="l">
              <a:lnSpc>
                <a:spcPct val="124590"/>
              </a:lnSpc>
              <a:buNone/>
            </a:pP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test_main.py::test_create_and_fetch_application PASSED   [ 50%]</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test_main.py::test_negative_income_rejected PASSED       [100%]</a:t>
            </a:r>
            <a:endParaRPr lang="en-US" sz="2025" dirty="0"/>
          </a:p>
        </p:txBody>
      </p:sp>
      <p:sp>
        <p:nvSpPr>
          <p:cNvPr id="8" name="Shape 6"/>
          <p:cNvSpPr/>
          <p:nvPr/>
        </p:nvSpPr>
        <p:spPr>
          <a:xfrm>
            <a:off x="1143000" y="4857452"/>
            <a:ext cx="16002000" cy="361950"/>
          </a:xfrm>
          <a:prstGeom prst="rect">
            <a:avLst/>
          </a:prstGeom>
          <a:solidFill>
            <a:srgbClr val="FFF2EF"/>
          </a:solidFill>
          <a:ln/>
        </p:spPr>
        <p:txBody>
          <a:bodyPr/>
          <a:lstStyle/>
          <a:p>
            <a:endParaRPr lang="en-US"/>
          </a:p>
        </p:txBody>
      </p:sp>
      <p:sp>
        <p:nvSpPr>
          <p:cNvPr id="9" name="Text 7"/>
          <p:cNvSpPr/>
          <p:nvPr/>
        </p:nvSpPr>
        <p:spPr>
          <a:xfrm>
            <a:off x="1562100" y="4857452"/>
            <a:ext cx="15643860" cy="400050"/>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2 passed in 0.34s  ======================</a:t>
            </a:r>
            <a:endParaRPr lang="en-US" sz="2025" dirty="0"/>
          </a:p>
        </p:txBody>
      </p:sp>
      <p:sp>
        <p:nvSpPr>
          <p:cNvPr id="10" name="Text 8"/>
          <p:cNvSpPr/>
          <p:nvPr/>
        </p:nvSpPr>
        <p:spPr>
          <a:xfrm>
            <a:off x="1143000" y="5835774"/>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No server started, no port opened, no network touched — and back in under a second. That speed is what makes running tests a reflex instead of a chore.</a:t>
            </a:r>
            <a:endParaRPr lang="en-US" sz="2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PYTEST · DEEP DIVE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How the test runs so fast</a:t>
            </a:r>
            <a:endParaRPr lang="en-US" sz="4800" dirty="0"/>
          </a:p>
        </p:txBody>
      </p:sp>
      <p:sp>
        <p:nvSpPr>
          <p:cNvPr id="4" name="Text 2"/>
          <p:cNvSpPr/>
          <p:nvPr/>
        </p:nvSpPr>
        <p:spPr>
          <a:xfrm>
            <a:off x="1143000" y="3133651"/>
            <a:ext cx="1891680" cy="419100"/>
          </a:xfrm>
          <a:prstGeom prst="rect">
            <a:avLst/>
          </a:prstGeom>
          <a:noFill/>
          <a:ln/>
        </p:spPr>
        <p:txBody>
          <a:bodyPr wrap="square" lIns="25400" tIns="25400" rIns="25400" bIns="25400" rtlCol="0" anchor="t">
            <a:normAutofit/>
          </a:bodyPr>
          <a:lstStyle/>
          <a:p>
            <a:pPr marL="0" indent="0" algn="l">
              <a:lnSpc>
                <a:spcPct val="139130"/>
              </a:lnSpc>
              <a:buNone/>
            </a:pPr>
            <a:r>
              <a:rPr lang="en-US" sz="2295" kern="0" spc="-23" dirty="0">
                <a:solidFill>
                  <a:srgbClr val="201E1D"/>
                </a:solidFill>
                <a:latin typeface="Courier New" pitchFamily="34" charset="0"/>
                <a:ea typeface="Courier New" pitchFamily="34" charset="-122"/>
                <a:cs typeface="Courier New" pitchFamily="34" charset="-120"/>
              </a:rPr>
              <a:t>TestClient</a:t>
            </a:r>
            <a:endParaRPr lang="en-US" sz="2295" dirty="0"/>
          </a:p>
        </p:txBody>
      </p:sp>
      <p:sp>
        <p:nvSpPr>
          <p:cNvPr id="5" name="Text 3"/>
          <p:cNvSpPr/>
          <p:nvPr/>
        </p:nvSpPr>
        <p:spPr>
          <a:xfrm>
            <a:off x="1143000" y="3143176"/>
            <a:ext cx="13499132" cy="852488"/>
          </a:xfrm>
          <a:prstGeom prst="rect">
            <a:avLst/>
          </a:prstGeom>
          <a:noFill/>
          <a:ln/>
        </p:spPr>
        <p:txBody>
          <a:bodyPr wrap="square" lIns="0" tIns="0" rIns="0" bIns="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drives the app in-process — it calls your routes directly, with no HTTP server and no network</a:t>
            </a:r>
            <a:endParaRPr lang="en-US" sz="2550" dirty="0"/>
          </a:p>
        </p:txBody>
      </p:sp>
      <p:sp>
        <p:nvSpPr>
          <p:cNvPr id="6" name="Text 4"/>
          <p:cNvSpPr/>
          <p:nvPr/>
        </p:nvSpPr>
        <p:spPr>
          <a:xfrm>
            <a:off x="1143000" y="4029001"/>
            <a:ext cx="14668500" cy="3524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Built on httpx; it speaks to the ASGI app object, not a socket.</a:t>
            </a:r>
            <a:endParaRPr lang="en-US" sz="2100" dirty="0"/>
          </a:p>
        </p:txBody>
      </p:sp>
      <p:sp>
        <p:nvSpPr>
          <p:cNvPr id="7" name="Text 5"/>
          <p:cNvSpPr/>
          <p:nvPr/>
        </p:nvSpPr>
        <p:spPr>
          <a:xfrm>
            <a:off x="1143000" y="4806925"/>
            <a:ext cx="13735050" cy="722188"/>
          </a:xfrm>
          <a:prstGeom prst="rect">
            <a:avLst/>
          </a:prstGeom>
          <a:noFill/>
          <a:ln/>
        </p:spPr>
        <p:txBody>
          <a:bodyPr wrap="square" lIns="25400" tIns="25400" rIns="25400" bIns="25400" rtlCol="0" anchor="t">
            <a:normAutofit/>
          </a:bodyPr>
          <a:lstStyle/>
          <a:p>
            <a:pPr marL="0" indent="0" algn="l">
              <a:lnSpc>
                <a:spcPct val="123077"/>
              </a:lnSpc>
              <a:buNone/>
            </a:pPr>
            <a:r>
              <a:rPr lang="en-US" sz="2295" dirty="0">
                <a:solidFill>
                  <a:srgbClr val="201E1D"/>
                </a:solidFill>
                <a:latin typeface="Courier New" pitchFamily="34" charset="0"/>
                <a:ea typeface="Courier New" pitchFamily="34" charset="-122"/>
                <a:cs typeface="Courier New" pitchFamily="34" charset="-120"/>
              </a:rPr>
              <a:t>setup_function </a:t>
            </a:r>
            <a:r>
              <a:rPr lang="en-US" sz="2550" dirty="0">
                <a:solidFill>
                  <a:srgbClr val="201E1D"/>
                </a:solidFill>
                <a:latin typeface="Arial" pitchFamily="34" charset="0"/>
                <a:ea typeface="Arial" pitchFamily="34" charset="-122"/>
                <a:cs typeface="Arial" pitchFamily="34" charset="-120"/>
              </a:rPr>
              <a:t>runs before each test and clears the in-memory </a:t>
            </a:r>
            <a:r>
              <a:rPr lang="en-US" sz="2295" dirty="0">
                <a:solidFill>
                  <a:srgbClr val="201E1D"/>
                </a:solidFill>
                <a:latin typeface="Courier New" pitchFamily="34" charset="0"/>
                <a:ea typeface="Courier New" pitchFamily="34" charset="-122"/>
                <a:cs typeface="Courier New" pitchFamily="34" charset="-120"/>
              </a:rPr>
              <a:t>DB </a:t>
            </a:r>
            <a:r>
              <a:rPr lang="en-US" sz="2550" dirty="0">
                <a:solidFill>
                  <a:srgbClr val="201E1D"/>
                </a:solidFill>
                <a:latin typeface="Arial" pitchFamily="34" charset="0"/>
                <a:ea typeface="Arial" pitchFamily="34" charset="-122"/>
                <a:cs typeface="Arial" pitchFamily="34" charset="-120"/>
              </a:rPr>
              <a:t>— tests never leak state into one another</a:t>
            </a:r>
            <a:endParaRPr lang="en-US" sz="2550" dirty="0"/>
          </a:p>
        </p:txBody>
      </p:sp>
      <p:sp>
        <p:nvSpPr>
          <p:cNvPr id="8" name="Text 6"/>
          <p:cNvSpPr/>
          <p:nvPr/>
        </p:nvSpPr>
        <p:spPr>
          <a:xfrm>
            <a:off x="1143000" y="5954613"/>
            <a:ext cx="13735050" cy="722188"/>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Naming (</a:t>
            </a:r>
            <a:r>
              <a:rPr lang="en-US" sz="2295" dirty="0">
                <a:solidFill>
                  <a:srgbClr val="201E1D"/>
                </a:solidFill>
                <a:latin typeface="Courier New" pitchFamily="34" charset="0"/>
                <a:ea typeface="Courier New" pitchFamily="34" charset="-122"/>
                <a:cs typeface="Courier New" pitchFamily="34" charset="-120"/>
              </a:rPr>
              <a:t>test_*</a:t>
            </a:r>
            <a:r>
              <a:rPr lang="en-US" sz="2550" dirty="0">
                <a:solidFill>
                  <a:srgbClr val="201E1D"/>
                </a:solidFill>
                <a:latin typeface="Arial" pitchFamily="34" charset="0"/>
                <a:ea typeface="Arial" pitchFamily="34" charset="-122"/>
                <a:cs typeface="Arial" pitchFamily="34" charset="-120"/>
              </a:rPr>
              <a:t>), automatic discovery and plain </a:t>
            </a:r>
            <a:r>
              <a:rPr lang="en-US" sz="2295" dirty="0">
                <a:solidFill>
                  <a:srgbClr val="201E1D"/>
                </a:solidFill>
                <a:latin typeface="Courier New" pitchFamily="34" charset="0"/>
                <a:ea typeface="Courier New" pitchFamily="34" charset="-122"/>
                <a:cs typeface="Courier New" pitchFamily="34" charset="-120"/>
              </a:rPr>
              <a:t>assert </a:t>
            </a:r>
            <a:r>
              <a:rPr lang="en-US" sz="2550" dirty="0">
                <a:solidFill>
                  <a:srgbClr val="201E1D"/>
                </a:solidFill>
                <a:latin typeface="Arial" pitchFamily="34" charset="0"/>
                <a:ea typeface="Arial" pitchFamily="34" charset="-122"/>
                <a:cs typeface="Arial" pitchFamily="34" charset="-120"/>
              </a:rPr>
              <a:t>are the entire pytest API for today — deliberately small</a:t>
            </a:r>
            <a:endParaRPr lang="en-US" sz="25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PYTEST · COMMON MISTAKES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Where first tests go wrong</a:t>
            </a:r>
            <a:endParaRPr lang="en-US" sz="4800" dirty="0"/>
          </a:p>
        </p:txBody>
      </p:sp>
      <p:sp>
        <p:nvSpPr>
          <p:cNvPr id="4" name="Shape 2"/>
          <p:cNvSpPr/>
          <p:nvPr/>
        </p:nvSpPr>
        <p:spPr>
          <a:xfrm>
            <a:off x="1143000" y="3200400"/>
            <a:ext cx="16002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466978"/>
            <a:ext cx="16002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751734"/>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7" name="Text 5"/>
          <p:cNvSpPr/>
          <p:nvPr/>
        </p:nvSpPr>
        <p:spPr>
          <a:xfrm>
            <a:off x="1143000" y="4244132"/>
            <a:ext cx="7875963"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Tests share state, so they pass alone but fail when run together — or in a different order.</a:t>
            </a:r>
            <a:endParaRPr lang="en-US" sz="2100" dirty="0"/>
          </a:p>
        </p:txBody>
      </p:sp>
      <p:sp>
        <p:nvSpPr>
          <p:cNvPr id="8" name="Text 6"/>
          <p:cNvSpPr/>
          <p:nvPr/>
        </p:nvSpPr>
        <p:spPr>
          <a:xfrm>
            <a:off x="9448800" y="3751734"/>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9" name="Text 7"/>
          <p:cNvSpPr/>
          <p:nvPr/>
        </p:nvSpPr>
        <p:spPr>
          <a:xfrm>
            <a:off x="9448800" y="4244132"/>
            <a:ext cx="1682279"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Reset state in</a:t>
            </a:r>
            <a:endParaRPr lang="en-US" sz="2100" dirty="0"/>
          </a:p>
        </p:txBody>
      </p:sp>
      <p:sp>
        <p:nvSpPr>
          <p:cNvPr id="10" name="Text 8"/>
          <p:cNvSpPr/>
          <p:nvPr/>
        </p:nvSpPr>
        <p:spPr>
          <a:xfrm>
            <a:off x="11110615" y="4234607"/>
            <a:ext cx="2180957"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setup_function</a:t>
            </a:r>
            <a:endParaRPr lang="en-US" sz="1890" dirty="0"/>
          </a:p>
        </p:txBody>
      </p:sp>
      <p:sp>
        <p:nvSpPr>
          <p:cNvPr id="11" name="Text 9"/>
          <p:cNvSpPr/>
          <p:nvPr/>
        </p:nvSpPr>
        <p:spPr>
          <a:xfrm>
            <a:off x="13149039" y="4244132"/>
            <a:ext cx="4042259"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or a fixture; each test starts clean.</a:t>
            </a:r>
            <a:endParaRPr lang="en-US" sz="2100" dirty="0"/>
          </a:p>
        </p:txBody>
      </p:sp>
      <p:sp>
        <p:nvSpPr>
          <p:cNvPr id="12" name="Shape 10"/>
          <p:cNvSpPr/>
          <p:nvPr/>
        </p:nvSpPr>
        <p:spPr>
          <a:xfrm>
            <a:off x="1143000" y="7733556"/>
            <a:ext cx="16002000" cy="19050"/>
          </a:xfrm>
          <a:prstGeom prst="rect">
            <a:avLst/>
          </a:prstGeom>
          <a:solidFill>
            <a:srgbClr val="201E1E">
              <a:alpha val="40000"/>
            </a:srgbClr>
          </a:solidFill>
          <a:ln/>
        </p:spPr>
        <p:txBody>
          <a:bodyPr/>
          <a:lstStyle/>
          <a:p>
            <a:endParaRPr lang="en-US"/>
          </a:p>
        </p:txBody>
      </p:sp>
      <p:sp>
        <p:nvSpPr>
          <p:cNvPr id="13" name="Text 11"/>
          <p:cNvSpPr/>
          <p:nvPr/>
        </p:nvSpPr>
        <p:spPr>
          <a:xfrm>
            <a:off x="1143000" y="6018312"/>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14" name="Text 12"/>
          <p:cNvSpPr/>
          <p:nvPr/>
        </p:nvSpPr>
        <p:spPr>
          <a:xfrm>
            <a:off x="1143000" y="6510710"/>
            <a:ext cx="7161388"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Only ever testing the happy path, so a broken validation rule ships unnoticed.</a:t>
            </a:r>
            <a:endParaRPr lang="en-US" sz="2100" dirty="0"/>
          </a:p>
        </p:txBody>
      </p:sp>
      <p:sp>
        <p:nvSpPr>
          <p:cNvPr id="15" name="Text 13"/>
          <p:cNvSpPr/>
          <p:nvPr/>
        </p:nvSpPr>
        <p:spPr>
          <a:xfrm>
            <a:off x="9448800" y="6018312"/>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16" name="Text 14"/>
          <p:cNvSpPr/>
          <p:nvPr/>
        </p:nvSpPr>
        <p:spPr>
          <a:xfrm>
            <a:off x="9448800" y="6510710"/>
            <a:ext cx="7499552"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Assert the failures too — a 422 on bad input is a contract worth a test.</a:t>
            </a:r>
            <a:endParaRPr lang="en-US" sz="2100" dirty="0"/>
          </a:p>
        </p:txBody>
      </p:sp>
      <p:sp>
        <p:nvSpPr>
          <p:cNvPr id="17" name="Shape 15"/>
          <p:cNvSpPr/>
          <p:nvPr/>
        </p:nvSpPr>
        <p:spPr>
          <a:xfrm>
            <a:off x="1143000" y="10000134"/>
            <a:ext cx="16002000" cy="19050"/>
          </a:xfrm>
          <a:prstGeom prst="rect">
            <a:avLst/>
          </a:prstGeom>
          <a:solidFill>
            <a:srgbClr val="201E1E">
              <a:alpha val="40000"/>
            </a:srgbClr>
          </a:solidFill>
          <a:ln/>
        </p:spPr>
        <p:txBody>
          <a:bodyPr/>
          <a:lstStyle/>
          <a:p>
            <a:endParaRPr lang="en-US"/>
          </a:p>
        </p:txBody>
      </p:sp>
      <p:sp>
        <p:nvSpPr>
          <p:cNvPr id="18" name="Text 16"/>
          <p:cNvSpPr/>
          <p:nvPr/>
        </p:nvSpPr>
        <p:spPr>
          <a:xfrm>
            <a:off x="1143000" y="8284890"/>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EC3013"/>
                </a:solidFill>
                <a:latin typeface="Arial" pitchFamily="34" charset="0"/>
                <a:ea typeface="Arial" pitchFamily="34" charset="-122"/>
                <a:cs typeface="Arial" pitchFamily="34" charset="-120"/>
              </a:rPr>
              <a:t>THE MISTAKE</a:t>
            </a:r>
            <a:endParaRPr lang="en-US" sz="1800" dirty="0"/>
          </a:p>
        </p:txBody>
      </p:sp>
      <p:sp>
        <p:nvSpPr>
          <p:cNvPr id="19" name="Text 17"/>
          <p:cNvSpPr/>
          <p:nvPr/>
        </p:nvSpPr>
        <p:spPr>
          <a:xfrm>
            <a:off x="1143000" y="8777288"/>
            <a:ext cx="7496639"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Spinning up a real server and hitting it over the network — slow and flaky.</a:t>
            </a:r>
            <a:endParaRPr lang="en-US" sz="2100" dirty="0"/>
          </a:p>
        </p:txBody>
      </p:sp>
      <p:sp>
        <p:nvSpPr>
          <p:cNvPr id="20" name="Text 18"/>
          <p:cNvSpPr/>
          <p:nvPr/>
        </p:nvSpPr>
        <p:spPr>
          <a:xfrm>
            <a:off x="9448800" y="8284890"/>
            <a:ext cx="8465820" cy="354285"/>
          </a:xfrm>
          <a:prstGeom prst="rect">
            <a:avLst/>
          </a:prstGeom>
          <a:noFill/>
          <a:ln/>
        </p:spPr>
        <p:txBody>
          <a:bodyPr wrap="square" lIns="25400" tIns="25400" rIns="25400" bIns="25400" rtlCol="0" anchor="t">
            <a:normAutofit/>
          </a:bodyPr>
          <a:lstStyle/>
          <a:p>
            <a:pPr marL="0" indent="0" algn="l">
              <a:lnSpc>
                <a:spcPct val="174545"/>
              </a:lnSpc>
              <a:buNone/>
            </a:pPr>
            <a:r>
              <a:rPr lang="en-US" sz="1800" b="1" kern="0" spc="108" dirty="0">
                <a:solidFill>
                  <a:srgbClr val="201E1E">
                    <a:alpha val="50000"/>
                  </a:srgbClr>
                </a:solidFill>
                <a:latin typeface="Arial" pitchFamily="34" charset="0"/>
                <a:ea typeface="Arial" pitchFamily="34" charset="-122"/>
                <a:cs typeface="Arial" pitchFamily="34" charset="-120"/>
              </a:rPr>
              <a:t>DO THIS</a:t>
            </a:r>
            <a:endParaRPr lang="en-US" sz="1800" dirty="0"/>
          </a:p>
        </p:txBody>
      </p:sp>
      <p:sp>
        <p:nvSpPr>
          <p:cNvPr id="21" name="Text 19"/>
          <p:cNvSpPr/>
          <p:nvPr/>
        </p:nvSpPr>
        <p:spPr>
          <a:xfrm>
            <a:off x="9448800" y="8777288"/>
            <a:ext cx="553343" cy="3286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Use</a:t>
            </a:r>
            <a:endParaRPr lang="en-US" sz="2100" dirty="0"/>
          </a:p>
        </p:txBody>
      </p:sp>
      <p:sp>
        <p:nvSpPr>
          <p:cNvPr id="22" name="Text 20"/>
          <p:cNvSpPr/>
          <p:nvPr/>
        </p:nvSpPr>
        <p:spPr>
          <a:xfrm>
            <a:off x="9981679" y="8767763"/>
            <a:ext cx="1557873" cy="352425"/>
          </a:xfrm>
          <a:prstGeom prst="rect">
            <a:avLst/>
          </a:prstGeom>
          <a:noFill/>
          <a:ln/>
        </p:spPr>
        <p:txBody>
          <a:bodyPr wrap="square" lIns="25400" tIns="25400" rIns="25400" bIns="25400" rtlCol="0" anchor="t">
            <a:normAutofit/>
          </a:bodyPr>
          <a:lstStyle/>
          <a:p>
            <a:pPr marL="0" indent="0" algn="l">
              <a:lnSpc>
                <a:spcPct val="168421"/>
              </a:lnSpc>
              <a:buNone/>
            </a:pPr>
            <a:r>
              <a:rPr lang="en-US" sz="1890" kern="0" spc="-19" dirty="0">
                <a:solidFill>
                  <a:srgbClr val="201E1D"/>
                </a:solidFill>
                <a:latin typeface="Courier New" pitchFamily="34" charset="0"/>
                <a:ea typeface="Courier New" pitchFamily="34" charset="-122"/>
                <a:cs typeface="Courier New" pitchFamily="34" charset="-120"/>
              </a:rPr>
              <a:t>TestClient</a:t>
            </a:r>
            <a:endParaRPr lang="en-US" sz="1890" dirty="0"/>
          </a:p>
        </p:txBody>
      </p:sp>
      <p:sp>
        <p:nvSpPr>
          <p:cNvPr id="23" name="Text 21"/>
          <p:cNvSpPr/>
          <p:nvPr/>
        </p:nvSpPr>
        <p:spPr>
          <a:xfrm>
            <a:off x="9448800" y="9103151"/>
            <a:ext cx="6842538" cy="785813"/>
          </a:xfrm>
          <a:prstGeom prst="rect">
            <a:avLst/>
          </a:prstGeom>
          <a:noFill/>
          <a:ln/>
        </p:spPr>
        <p:txBody>
          <a:bodyPr wrap="square" lIns="0" tIns="0" rIns="0" bIns="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in-process; save real servers for end-to-end checks.</a:t>
            </a:r>
            <a:endParaRPr lang="en-US" sz="2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04 · PYTEST · INTERVIEW</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In an interview: testing</a:t>
            </a:r>
            <a:endParaRPr lang="en-US" sz="4800" dirty="0"/>
          </a:p>
        </p:txBody>
      </p:sp>
      <p:sp>
        <p:nvSpPr>
          <p:cNvPr id="4" name="Shape 2"/>
          <p:cNvSpPr/>
          <p:nvPr/>
        </p:nvSpPr>
        <p:spPr>
          <a:xfrm>
            <a:off x="1143000" y="2971800"/>
            <a:ext cx="14859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4740697"/>
            <a:ext cx="14859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454524"/>
            <a:ext cx="647700" cy="860599"/>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Q1</a:t>
            </a:r>
            <a:endParaRPr lang="en-US" sz="1800" dirty="0"/>
          </a:p>
        </p:txBody>
      </p:sp>
      <p:sp>
        <p:nvSpPr>
          <p:cNvPr id="7" name="Text 5"/>
          <p:cNvSpPr/>
          <p:nvPr/>
        </p:nvSpPr>
        <p:spPr>
          <a:xfrm>
            <a:off x="1981200" y="3454524"/>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Why use </a:t>
            </a:r>
            <a:r>
              <a:rPr lang="en-US" sz="2295" b="1" dirty="0">
                <a:solidFill>
                  <a:srgbClr val="201E1D"/>
                </a:solidFill>
                <a:latin typeface="Courier New" pitchFamily="34" charset="0"/>
                <a:ea typeface="Courier New" pitchFamily="34" charset="-122"/>
                <a:cs typeface="Courier New" pitchFamily="34" charset="-120"/>
              </a:rPr>
              <a:t>TestClient </a:t>
            </a:r>
            <a:r>
              <a:rPr lang="en-US" sz="2550" b="1" dirty="0">
                <a:solidFill>
                  <a:srgbClr val="201E1D"/>
                </a:solidFill>
                <a:latin typeface="Arial" pitchFamily="34" charset="0"/>
                <a:ea typeface="Arial" pitchFamily="34" charset="-122"/>
                <a:cs typeface="Arial" pitchFamily="34" charset="-120"/>
              </a:rPr>
              <a:t>instead of hitting a running server?</a:t>
            </a:r>
            <a:endParaRPr lang="en-US" sz="2550" dirty="0"/>
          </a:p>
        </p:txBody>
      </p:sp>
      <p:sp>
        <p:nvSpPr>
          <p:cNvPr id="8" name="Text 6"/>
          <p:cNvSpPr/>
          <p:nvPr/>
        </p:nvSpPr>
        <p:spPr>
          <a:xfrm>
            <a:off x="1981200" y="3819823"/>
            <a:ext cx="14441424" cy="4953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It runs the app in-process — no server, no network — so tests are fast, deterministic and easy to run in CI.</a:t>
            </a:r>
            <a:endParaRPr lang="en-US" sz="2100" dirty="0"/>
          </a:p>
        </p:txBody>
      </p:sp>
      <p:sp>
        <p:nvSpPr>
          <p:cNvPr id="9" name="Shape 7"/>
          <p:cNvSpPr/>
          <p:nvPr/>
        </p:nvSpPr>
        <p:spPr>
          <a:xfrm>
            <a:off x="1143000" y="6509593"/>
            <a:ext cx="14859000" cy="19050"/>
          </a:xfrm>
          <a:prstGeom prst="rect">
            <a:avLst/>
          </a:prstGeom>
          <a:solidFill>
            <a:srgbClr val="201E1E">
              <a:alpha val="40000"/>
            </a:srgbClr>
          </a:solidFill>
          <a:ln/>
        </p:spPr>
        <p:txBody>
          <a:bodyPr/>
          <a:lstStyle/>
          <a:p>
            <a:endParaRPr lang="en-US"/>
          </a:p>
        </p:txBody>
      </p:sp>
      <p:sp>
        <p:nvSpPr>
          <p:cNvPr id="10" name="Text 8"/>
          <p:cNvSpPr/>
          <p:nvPr/>
        </p:nvSpPr>
        <p:spPr>
          <a:xfrm>
            <a:off x="1143000" y="5223421"/>
            <a:ext cx="647700" cy="860599"/>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Q2</a:t>
            </a:r>
            <a:endParaRPr lang="en-US" sz="1800" dirty="0"/>
          </a:p>
        </p:txBody>
      </p:sp>
      <p:sp>
        <p:nvSpPr>
          <p:cNvPr id="11" name="Text 9"/>
          <p:cNvSpPr/>
          <p:nvPr/>
        </p:nvSpPr>
        <p:spPr>
          <a:xfrm>
            <a:off x="1981200" y="5223421"/>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How do you keep tests independent of each other?</a:t>
            </a:r>
            <a:endParaRPr lang="en-US" sz="2550" dirty="0"/>
          </a:p>
        </p:txBody>
      </p:sp>
      <p:sp>
        <p:nvSpPr>
          <p:cNvPr id="12" name="Text 10"/>
          <p:cNvSpPr/>
          <p:nvPr/>
        </p:nvSpPr>
        <p:spPr>
          <a:xfrm>
            <a:off x="1981200" y="5588719"/>
            <a:ext cx="14441424" cy="4953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Reset shared state before each test with </a:t>
            </a:r>
            <a:r>
              <a:rPr lang="en-US" sz="1890" dirty="0">
                <a:solidFill>
                  <a:srgbClr val="201F1D">
                    <a:alpha val="62000"/>
                  </a:srgbClr>
                </a:solidFill>
                <a:latin typeface="Courier New" pitchFamily="34" charset="0"/>
                <a:ea typeface="Courier New" pitchFamily="34" charset="-122"/>
                <a:cs typeface="Courier New" pitchFamily="34" charset="-120"/>
              </a:rPr>
              <a:t>setup_function </a:t>
            </a:r>
            <a:r>
              <a:rPr lang="en-US" sz="2100" dirty="0">
                <a:solidFill>
                  <a:srgbClr val="201F1D">
                    <a:alpha val="62000"/>
                  </a:srgbClr>
                </a:solidFill>
                <a:latin typeface="Arial" pitchFamily="34" charset="0"/>
                <a:ea typeface="Arial" pitchFamily="34" charset="-122"/>
                <a:cs typeface="Arial" pitchFamily="34" charset="-120"/>
              </a:rPr>
              <a:t>or a fixture, so order and isolation never matter.</a:t>
            </a:r>
            <a:endParaRPr lang="en-US" sz="2100" dirty="0"/>
          </a:p>
        </p:txBody>
      </p:sp>
      <p:sp>
        <p:nvSpPr>
          <p:cNvPr id="13" name="Shape 11"/>
          <p:cNvSpPr/>
          <p:nvPr/>
        </p:nvSpPr>
        <p:spPr>
          <a:xfrm>
            <a:off x="1143000" y="8278490"/>
            <a:ext cx="148590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6992317"/>
            <a:ext cx="647700" cy="860599"/>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Q3</a:t>
            </a:r>
            <a:endParaRPr lang="en-US" sz="1800" dirty="0"/>
          </a:p>
        </p:txBody>
      </p:sp>
      <p:sp>
        <p:nvSpPr>
          <p:cNvPr id="15" name="Text 13"/>
          <p:cNvSpPr/>
          <p:nvPr/>
        </p:nvSpPr>
        <p:spPr>
          <a:xfrm>
            <a:off x="1981200" y="6992317"/>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Beyond a 200, what should an endpoint test assert?</a:t>
            </a:r>
            <a:endParaRPr lang="en-US" sz="2550" dirty="0"/>
          </a:p>
        </p:txBody>
      </p:sp>
      <p:sp>
        <p:nvSpPr>
          <p:cNvPr id="16" name="Text 14"/>
          <p:cNvSpPr/>
          <p:nvPr/>
        </p:nvSpPr>
        <p:spPr>
          <a:xfrm>
            <a:off x="1981200" y="7357616"/>
            <a:ext cx="14441424" cy="495300"/>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The contract: status codes, the response shape, and that invalid input is rejected — behaviour, not implementation.</a:t>
            </a:r>
            <a:endParaRPr lang="en-US" sz="2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BREAK · 1:35 – 1:45 · TEN MINUTES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Start this before you step away</a:t>
            </a:r>
            <a:endParaRPr lang="en-US" sz="4800" dirty="0"/>
          </a:p>
        </p:txBody>
      </p:sp>
      <p:sp>
        <p:nvSpPr>
          <p:cNvPr id="4" name="Shape 2"/>
          <p:cNvSpPr/>
          <p:nvPr/>
        </p:nvSpPr>
        <p:spPr>
          <a:xfrm>
            <a:off x="1143000" y="3125241"/>
            <a:ext cx="16002000" cy="1846003"/>
          </a:xfrm>
          <a:prstGeom prst="rect">
            <a:avLst/>
          </a:prstGeom>
          <a:solidFill>
            <a:srgbClr val="EAE9E9"/>
          </a:solidFill>
          <a:ln/>
        </p:spPr>
        <p:txBody>
          <a:bodyPr/>
          <a:lstStyle/>
          <a:p>
            <a:endParaRPr lang="en-US"/>
          </a:p>
        </p:txBody>
      </p:sp>
      <p:sp>
        <p:nvSpPr>
          <p:cNvPr id="5" name="Text 3"/>
          <p:cNvSpPr/>
          <p:nvPr/>
        </p:nvSpPr>
        <p:spPr>
          <a:xfrm>
            <a:off x="1562100" y="3449092"/>
            <a:ext cx="11638745" cy="762000"/>
          </a:xfrm>
          <a:prstGeom prst="rect">
            <a:avLst/>
          </a:prstGeom>
          <a:noFill/>
          <a:ln/>
        </p:spPr>
        <p:txBody>
          <a:bodyPr wrap="none" lIns="25400" tIns="25400" rIns="25400" bIns="25400" rtlCol="0" anchor="t">
            <a:noAutofit/>
          </a:bodyPr>
          <a:lstStyle/>
          <a:p>
            <a:pPr marL="0" indent="0" algn="l">
              <a:lnSpc>
                <a:spcPct val="124590"/>
              </a:lnSpc>
              <a:buNone/>
            </a:pPr>
            <a:r>
              <a:rPr lang="en-US" sz="1600" dirty="0">
                <a:solidFill>
                  <a:srgbClr val="201E1D"/>
                </a:solidFill>
                <a:highlight>
                  <a:srgbClr val="EAE9E9"/>
                </a:highlight>
                <a:latin typeface="Courier New" pitchFamily="34" charset="0"/>
                <a:ea typeface="Courier New" pitchFamily="34" charset="-122"/>
                <a:cs typeface="Courier New" pitchFamily="34" charset="-120"/>
              </a:rPr>
              <a:t>$ docker compose version           </a:t>
            </a:r>
          </a:p>
          <a:p>
            <a:pPr marL="0" indent="0" algn="l">
              <a:lnSpc>
                <a:spcPct val="124590"/>
              </a:lnSpc>
              <a:buNone/>
            </a:pPr>
            <a:r>
              <a:rPr lang="en-US" sz="1600" dirty="0">
                <a:solidFill>
                  <a:srgbClr val="211F1C">
                    <a:alpha val="46000"/>
                  </a:srgbClr>
                </a:solidFill>
                <a:latin typeface="Courier New" pitchFamily="34" charset="0"/>
                <a:ea typeface="Courier New" pitchFamily="34" charset="-122"/>
                <a:cs typeface="Courier New" pitchFamily="34" charset="-120"/>
              </a:rPr>
              <a:t># confirm once more </a:t>
            </a:r>
          </a:p>
          <a:p>
            <a:pPr marL="0" indent="0" algn="l">
              <a:lnSpc>
                <a:spcPct val="124590"/>
              </a:lnSpc>
              <a:buNone/>
            </a:pPr>
            <a:r>
              <a:rPr lang="en-US" sz="1600" dirty="0">
                <a:solidFill>
                  <a:srgbClr val="201E1D"/>
                </a:solidFill>
                <a:highlight>
                  <a:srgbClr val="EAE9E9"/>
                </a:highlight>
                <a:latin typeface="Courier New" pitchFamily="34" charset="0"/>
                <a:ea typeface="Courier New" pitchFamily="34" charset="-122"/>
                <a:cs typeface="Courier New" pitchFamily="34" charset="-120"/>
              </a:rPr>
              <a:t>$ docker pull postgres:16-alpine   </a:t>
            </a:r>
          </a:p>
          <a:p>
            <a:pPr marL="0" indent="0" algn="l">
              <a:lnSpc>
                <a:spcPct val="124590"/>
              </a:lnSpc>
              <a:buNone/>
            </a:pPr>
            <a:r>
              <a:rPr lang="en-US" sz="1600" dirty="0">
                <a:solidFill>
                  <a:srgbClr val="211F1C">
                    <a:alpha val="46000"/>
                  </a:srgbClr>
                </a:solidFill>
                <a:latin typeface="Courier New" pitchFamily="34" charset="0"/>
                <a:ea typeface="Courier New" pitchFamily="34" charset="-122"/>
                <a:cs typeface="Courier New" pitchFamily="34" charset="-120"/>
              </a:rPr>
              <a:t># let it download during the break</a:t>
            </a:r>
            <a:endParaRPr lang="en-US" sz="1600" dirty="0"/>
          </a:p>
        </p:txBody>
      </p:sp>
      <p:sp>
        <p:nvSpPr>
          <p:cNvPr id="6" name="Text 4"/>
          <p:cNvSpPr/>
          <p:nvPr/>
        </p:nvSpPr>
        <p:spPr>
          <a:xfrm>
            <a:off x="1107653" y="5451017"/>
            <a:ext cx="15732151" cy="678284"/>
          </a:xfrm>
          <a:prstGeom prst="rect">
            <a:avLst/>
          </a:prstGeom>
          <a:noFill/>
          <a:ln/>
        </p:spPr>
        <p:txBody>
          <a:bodyPr wrap="square" lIns="25400" tIns="25400" rIns="25400" bIns="25400" rtlCol="0" anchor="t">
            <a:normAutofit fontScale="85000" lnSpcReduction="10000"/>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Image pulls are the number-one time sink in the checkpoint. Pulling Postgres now means it is cached and ready the moment you run </a:t>
            </a:r>
            <a:r>
              <a:rPr lang="en-US" sz="1875" dirty="0">
                <a:solidFill>
                  <a:srgbClr val="211D1D">
                    <a:alpha val="55000"/>
                  </a:srgbClr>
                </a:solidFill>
                <a:latin typeface="Courier New" pitchFamily="34" charset="0"/>
                <a:ea typeface="Courier New" pitchFamily="34" charset="-122"/>
                <a:cs typeface="Courier New" pitchFamily="34" charset="-120"/>
              </a:rPr>
              <a:t>docker compose up</a:t>
            </a:r>
            <a:r>
              <a:rPr lang="en-US" sz="2100" dirty="0">
                <a:solidFill>
                  <a:srgbClr val="211D1D">
                    <a:alpha val="55000"/>
                  </a:srgbClr>
                </a:solidFill>
                <a:latin typeface="Arial" pitchFamily="34" charset="0"/>
                <a:ea typeface="Arial" pitchFamily="34" charset="-122"/>
                <a:cs typeface="Arial" pitchFamily="34" charset="-120"/>
              </a:rPr>
              <a:t>.</a:t>
            </a:r>
            <a:endParaRPr lang="en-US" sz="2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3223915"/>
            <a:ext cx="2921176" cy="2266950"/>
          </a:xfrm>
          <a:prstGeom prst="rect">
            <a:avLst/>
          </a:prstGeom>
          <a:noFill/>
          <a:ln/>
        </p:spPr>
        <p:txBody>
          <a:bodyPr wrap="square" lIns="25400" tIns="25400" rIns="25400" bIns="25400" rtlCol="0" anchor="t">
            <a:normAutofit/>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05</a:t>
            </a:r>
            <a:endParaRPr lang="en-US" sz="19500" dirty="0"/>
          </a:p>
        </p:txBody>
      </p:sp>
      <p:sp>
        <p:nvSpPr>
          <p:cNvPr id="3" name="Text 1"/>
          <p:cNvSpPr/>
          <p:nvPr/>
        </p:nvSpPr>
        <p:spPr>
          <a:xfrm>
            <a:off x="1107653" y="5833765"/>
            <a:ext cx="7790185"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The Integration Checkpoint</a:t>
            </a:r>
            <a:endParaRPr lang="en-US" sz="4800" dirty="0"/>
          </a:p>
        </p:txBody>
      </p:sp>
      <p:sp>
        <p:nvSpPr>
          <p:cNvPr id="4" name="Text 2"/>
          <p:cNvSpPr/>
          <p:nvPr/>
        </p:nvSpPr>
        <p:spPr>
          <a:xfrm>
            <a:off x="1143000" y="6651427"/>
            <a:ext cx="7101699" cy="221084"/>
          </a:xfrm>
          <a:prstGeom prst="rect">
            <a:avLst/>
          </a:prstGeom>
          <a:noFill/>
          <a:ln/>
        </p:spPr>
        <p:txBody>
          <a:bodyPr wrap="square" lIns="25400" tIns="25400" rIns="25400" bIns="25400" rtlCol="0" anchor="t">
            <a:normAutofit/>
          </a:bodyPr>
          <a:lstStyle/>
          <a:p>
            <a:pPr marL="0" indent="0" algn="l">
              <a:lnSpc>
                <a:spcPct val="133538"/>
              </a:lnSpc>
              <a:buNone/>
            </a:pPr>
            <a:r>
              <a:rPr lang="en-US" sz="2100" kern="0" spc="126" dirty="0">
                <a:solidFill>
                  <a:srgbClr val="F3F2F2"/>
                </a:solidFill>
                <a:latin typeface="Arial" pitchFamily="34" charset="0"/>
                <a:ea typeface="Arial" pitchFamily="34" charset="-122"/>
                <a:cs typeface="Arial" pitchFamily="34" charset="-120"/>
              </a:rPr>
              <a:t>1:45 – 2:40 · 55 MINUTES · INDIVIDUAL / PAIRS</a:t>
            </a:r>
            <a:endParaRPr lang="en-US" sz="2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DEFINITION OF DONE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What "done" means</a:t>
            </a:r>
            <a:endParaRPr lang="en-US" sz="4800" dirty="0"/>
          </a:p>
        </p:txBody>
      </p:sp>
      <p:sp>
        <p:nvSpPr>
          <p:cNvPr id="4" name="Shape 2"/>
          <p:cNvSpPr/>
          <p:nvPr/>
        </p:nvSpPr>
        <p:spPr>
          <a:xfrm>
            <a:off x="1143000" y="3125242"/>
            <a:ext cx="11430000" cy="1371600"/>
          </a:xfrm>
          <a:prstGeom prst="rect">
            <a:avLst/>
          </a:prstGeom>
          <a:solidFill>
            <a:srgbClr val="EAE9E9"/>
          </a:solidFill>
          <a:ln/>
        </p:spPr>
        <p:txBody>
          <a:bodyPr/>
          <a:lstStyle/>
          <a:p>
            <a:endParaRPr lang="en-US"/>
          </a:p>
        </p:txBody>
      </p:sp>
      <p:sp>
        <p:nvSpPr>
          <p:cNvPr id="5" name="Text 3"/>
          <p:cNvSpPr/>
          <p:nvPr/>
        </p:nvSpPr>
        <p:spPr>
          <a:xfrm>
            <a:off x="1562100" y="3449092"/>
            <a:ext cx="10934700" cy="762000"/>
          </a:xfrm>
          <a:prstGeom prst="rect">
            <a:avLst/>
          </a:prstGeom>
          <a:noFill/>
          <a:ln/>
        </p:spPr>
        <p:txBody>
          <a:bodyPr wrap="none" lIns="25400" tIns="25400" rIns="25400" bIns="25400" rtlCol="0" anchor="t">
            <a:normAutofit lnSpcReduction="10000"/>
          </a:bodyPr>
          <a:lstStyle/>
          <a:p>
            <a:pPr marL="0" indent="0" algn="l">
              <a:lnSpc>
                <a:spcPct val="124590"/>
              </a:lnSpc>
              <a:buNone/>
            </a:pPr>
            <a:r>
              <a:rPr lang="en-US" sz="2025" dirty="0">
                <a:solidFill>
                  <a:srgbClr val="211F1C">
                    <a:alpha val="46000"/>
                  </a:srgbClr>
                </a:solidFill>
                <a:latin typeface="Courier New" pitchFamily="34" charset="0"/>
                <a:ea typeface="Courier New" pitchFamily="34" charset="-122"/>
                <a:cs typeface="Courier New" pitchFamily="34" charset="-120"/>
              </a:rPr>
              <a:t># from a clean clone, one command brings up everything: </a:t>
            </a:r>
          </a:p>
          <a:p>
            <a:pPr marL="0" indent="0" algn="l">
              <a:lnSpc>
                <a:spcPct val="124590"/>
              </a:lnSpc>
              <a:buNone/>
            </a:pPr>
            <a:r>
              <a:rPr lang="en-US" sz="2025" dirty="0">
                <a:solidFill>
                  <a:srgbClr val="201E1D"/>
                </a:solidFill>
                <a:highlight>
                  <a:srgbClr val="EAE9E9"/>
                </a:highlight>
                <a:latin typeface="Courier New" pitchFamily="34" charset="0"/>
                <a:ea typeface="Courier New" pitchFamily="34" charset="-122"/>
                <a:cs typeface="Courier New" pitchFamily="34" charset="-120"/>
              </a:rPr>
              <a:t>$ docker compose up --build</a:t>
            </a:r>
            <a:endParaRPr lang="en-US" sz="2025" dirty="0"/>
          </a:p>
        </p:txBody>
      </p:sp>
      <p:sp>
        <p:nvSpPr>
          <p:cNvPr id="6" name="Text 4"/>
          <p:cNvSpPr/>
          <p:nvPr/>
        </p:nvSpPr>
        <p:spPr>
          <a:xfrm>
            <a:off x="1143000" y="5296942"/>
            <a:ext cx="14668500" cy="2602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Three services come up together — </a:t>
            </a:r>
            <a:r>
              <a:rPr lang="en-US" sz="2295" dirty="0">
                <a:solidFill>
                  <a:srgbClr val="201E1D"/>
                </a:solidFill>
                <a:latin typeface="Courier New" pitchFamily="34" charset="0"/>
                <a:ea typeface="Courier New" pitchFamily="34" charset="-122"/>
                <a:cs typeface="Courier New" pitchFamily="34" charset="-120"/>
              </a:rPr>
              <a:t>db</a:t>
            </a:r>
            <a:r>
              <a:rPr lang="en-US" sz="2550" dirty="0">
                <a:solidFill>
                  <a:srgbClr val="201E1D"/>
                </a:solidFill>
                <a:latin typeface="Arial" pitchFamily="34" charset="0"/>
                <a:ea typeface="Arial" pitchFamily="34" charset="-122"/>
                <a:cs typeface="Arial" pitchFamily="34" charset="-120"/>
              </a:rPr>
              <a:t>, </a:t>
            </a:r>
            <a:r>
              <a:rPr lang="en-US" sz="2295" dirty="0">
                <a:solidFill>
                  <a:srgbClr val="201E1D"/>
                </a:solidFill>
                <a:latin typeface="Courier New" pitchFamily="34" charset="0"/>
                <a:ea typeface="Courier New" pitchFamily="34" charset="-122"/>
                <a:cs typeface="Courier New" pitchFamily="34" charset="-120"/>
              </a:rPr>
              <a:t>api </a:t>
            </a:r>
            <a:r>
              <a:rPr lang="en-US" sz="2550" dirty="0">
                <a:solidFill>
                  <a:srgbClr val="201E1D"/>
                </a:solidFill>
                <a:latin typeface="Arial" pitchFamily="34" charset="0"/>
                <a:ea typeface="Arial" pitchFamily="34" charset="-122"/>
                <a:cs typeface="Arial" pitchFamily="34" charset="-120"/>
              </a:rPr>
              <a:t>and </a:t>
            </a:r>
            <a:r>
              <a:rPr lang="en-US" sz="2295" dirty="0">
                <a:solidFill>
                  <a:srgbClr val="201E1D"/>
                </a:solidFill>
                <a:latin typeface="Courier New" pitchFamily="34" charset="0"/>
                <a:ea typeface="Courier New" pitchFamily="34" charset="-122"/>
                <a:cs typeface="Courier New" pitchFamily="34" charset="-120"/>
              </a:rPr>
              <a:t>web</a:t>
            </a:r>
            <a:endParaRPr lang="en-US" sz="2550" dirty="0"/>
          </a:p>
        </p:txBody>
      </p:sp>
      <p:sp>
        <p:nvSpPr>
          <p:cNvPr id="7" name="Text 5"/>
          <p:cNvSpPr/>
          <p:nvPr/>
        </p:nvSpPr>
        <p:spPr>
          <a:xfrm>
            <a:off x="1143000" y="5754067"/>
            <a:ext cx="14668500" cy="260226"/>
          </a:xfrm>
          <a:prstGeom prst="rect">
            <a:avLst/>
          </a:prstGeom>
          <a:noFill/>
          <a:ln/>
        </p:spPr>
        <p:txBody>
          <a:bodyPr wrap="square" lIns="25400" tIns="25400" rIns="25400" bIns="25400" rtlCol="0" anchor="t">
            <a:normAutofit/>
          </a:bodyPr>
          <a:lstStyle/>
          <a:p>
            <a:pPr marL="0" indent="0" algn="l">
              <a:lnSpc>
                <a:spcPct val="123077"/>
              </a:lnSpc>
              <a:buNone/>
            </a:pPr>
            <a:r>
              <a:rPr lang="en-US" sz="2295" dirty="0">
                <a:solidFill>
                  <a:srgbClr val="201E1D"/>
                </a:solidFill>
                <a:latin typeface="Courier New" pitchFamily="34" charset="0"/>
                <a:ea typeface="Courier New" pitchFamily="34" charset="-122"/>
                <a:cs typeface="Courier New" pitchFamily="34" charset="-120"/>
              </a:rPr>
              <a:t>localhost:3000 </a:t>
            </a:r>
            <a:r>
              <a:rPr lang="en-US" sz="2550" dirty="0">
                <a:solidFill>
                  <a:srgbClr val="201E1D"/>
                </a:solidFill>
                <a:latin typeface="Arial" pitchFamily="34" charset="0"/>
                <a:ea typeface="Arial" pitchFamily="34" charset="-122"/>
                <a:cs typeface="Arial" pitchFamily="34" charset="-120"/>
              </a:rPr>
              <a:t>shows the applications list from Postgres and lets you submit a new one</a:t>
            </a:r>
            <a:endParaRPr lang="en-US" sz="2550" dirty="0"/>
          </a:p>
        </p:txBody>
      </p:sp>
      <p:sp>
        <p:nvSpPr>
          <p:cNvPr id="8" name="Text 6"/>
          <p:cNvSpPr/>
          <p:nvPr/>
        </p:nvSpPr>
        <p:spPr>
          <a:xfrm>
            <a:off x="1143000" y="6211193"/>
            <a:ext cx="14668500" cy="2602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Pushed to Git, with a README containing exactly that one command</a:t>
            </a:r>
            <a:endParaRPr lang="en-US" sz="25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THE SHAPE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Three services, one command</a:t>
            </a:r>
            <a:endParaRPr lang="en-US" sz="48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743200"/>
            <a:ext cx="16002000" cy="4476750"/>
          </a:xfrm>
          <a:prstGeom prst="rect">
            <a:avLst/>
          </a:prstGeom>
        </p:spPr>
      </p:pic>
      <p:sp>
        <p:nvSpPr>
          <p:cNvPr id="5" name="Text 2"/>
          <p:cNvSpPr/>
          <p:nvPr/>
        </p:nvSpPr>
        <p:spPr>
          <a:xfrm>
            <a:off x="1143000" y="7970937"/>
            <a:ext cx="12922827" cy="668164"/>
          </a:xfrm>
          <a:prstGeom prst="rect">
            <a:avLst/>
          </a:prstGeom>
          <a:noFill/>
          <a:ln/>
        </p:spPr>
        <p:txBody>
          <a:bodyPr wrap="square" lIns="25400" tIns="25400" rIns="25400" bIns="25400" rtlCol="0" anchor="t">
            <a:normAutofit/>
          </a:bodyPr>
          <a:lstStyle/>
          <a:p>
            <a:pPr marL="0" indent="0" algn="l">
              <a:lnSpc>
                <a:spcPct val="165517"/>
              </a:lnSpc>
              <a:buNone/>
            </a:pPr>
            <a:r>
              <a:rPr lang="en-US" sz="1875" dirty="0">
                <a:solidFill>
                  <a:srgbClr val="211D1D">
                    <a:alpha val="55000"/>
                  </a:srgbClr>
                </a:solidFill>
                <a:latin typeface="Arial" pitchFamily="34" charset="0"/>
                <a:ea typeface="Arial" pitchFamily="34" charset="-122"/>
                <a:cs typeface="Arial" pitchFamily="34" charset="-120"/>
              </a:rPr>
              <a:t>One </a:t>
            </a:r>
            <a:r>
              <a:rPr lang="en-US" sz="1875" dirty="0">
                <a:solidFill>
                  <a:srgbClr val="211D1D">
                    <a:alpha val="55000"/>
                  </a:srgbClr>
                </a:solidFill>
                <a:latin typeface="Courier New" pitchFamily="34" charset="0"/>
                <a:ea typeface="Courier New" pitchFamily="34" charset="-122"/>
                <a:cs typeface="Courier New" pitchFamily="34" charset="-120"/>
              </a:rPr>
              <a:t>docker compose up </a:t>
            </a:r>
            <a:r>
              <a:rPr lang="en-US" sz="1875" dirty="0">
                <a:solidFill>
                  <a:srgbClr val="211D1D">
                    <a:alpha val="55000"/>
                  </a:srgbClr>
                </a:solidFill>
                <a:latin typeface="Arial" pitchFamily="34" charset="0"/>
                <a:ea typeface="Arial" pitchFamily="34" charset="-122"/>
                <a:cs typeface="Arial" pitchFamily="34" charset="-120"/>
              </a:rPr>
              <a:t>starts all three. The browser reaches web and api by their published ports; the api reaches the database by its service name, </a:t>
            </a:r>
            <a:r>
              <a:rPr lang="en-US" sz="1875" dirty="0">
                <a:solidFill>
                  <a:srgbClr val="211D1D">
                    <a:alpha val="55000"/>
                  </a:srgbClr>
                </a:solidFill>
                <a:latin typeface="Courier New" pitchFamily="34" charset="0"/>
                <a:ea typeface="Courier New" pitchFamily="34" charset="-122"/>
                <a:cs typeface="Courier New" pitchFamily="34" charset="-120"/>
              </a:rPr>
              <a:t>db </a:t>
            </a:r>
            <a:r>
              <a:rPr lang="en-US" sz="1875" dirty="0">
                <a:solidFill>
                  <a:srgbClr val="211D1D">
                    <a:alpha val="55000"/>
                  </a:srgbClr>
                </a:solidFill>
                <a:latin typeface="Arial" pitchFamily="34" charset="0"/>
                <a:ea typeface="Arial" pitchFamily="34" charset="-122"/>
                <a:cs typeface="Arial" pitchFamily="34" charset="-120"/>
              </a:rPr>
              <a:t>— the distinction we return to shortly.</a:t>
            </a:r>
            <a:endParaRPr lang="en-US" sz="187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2263549"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loan-intake/</a:t>
            </a:r>
            <a:endParaRPr lang="en-US" sz="2250" dirty="0"/>
          </a:p>
        </p:txBody>
      </p:sp>
      <p:sp>
        <p:nvSpPr>
          <p:cNvPr id="5" name="Text 3"/>
          <p:cNvSpPr/>
          <p:nvPr/>
        </p:nvSpPr>
        <p:spPr>
          <a:xfrm>
            <a:off x="3696072" y="1894136"/>
            <a:ext cx="228835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target layout</a:t>
            </a:r>
            <a:endParaRPr lang="en-US" sz="2100" dirty="0"/>
          </a:p>
        </p:txBody>
      </p:sp>
      <p:sp>
        <p:nvSpPr>
          <p:cNvPr id="6" name="Shape 4"/>
          <p:cNvSpPr/>
          <p:nvPr/>
        </p:nvSpPr>
        <p:spPr>
          <a:xfrm>
            <a:off x="1143000" y="2732187"/>
            <a:ext cx="16002000" cy="4800600"/>
          </a:xfrm>
          <a:prstGeom prst="rect">
            <a:avLst/>
          </a:prstGeom>
          <a:solidFill>
            <a:srgbClr val="EAE9E9"/>
          </a:solidFill>
          <a:ln/>
        </p:spPr>
        <p:txBody>
          <a:bodyPr/>
          <a:lstStyle/>
          <a:p>
            <a:endParaRPr lang="en-US"/>
          </a:p>
        </p:txBody>
      </p:sp>
      <p:sp>
        <p:nvSpPr>
          <p:cNvPr id="7" name="Text 5"/>
          <p:cNvSpPr/>
          <p:nvPr/>
        </p:nvSpPr>
        <p:spPr>
          <a:xfrm>
            <a:off x="1524000" y="2998887"/>
            <a:ext cx="15720060" cy="4305300"/>
          </a:xfrm>
          <a:prstGeom prst="rect">
            <a:avLst/>
          </a:prstGeom>
          <a:noFill/>
          <a:ln/>
        </p:spPr>
        <p:txBody>
          <a:bodyPr wrap="none" lIns="25400" tIns="25400" rIns="25400" bIns="25400" rtlCol="0" anchor="t">
            <a:normAutofit fontScale="92500" lnSpcReduction="10000"/>
          </a:bodyPr>
          <a:lstStyle/>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loan-intake/</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docker-compose.yml       </a:t>
            </a:r>
            <a:endParaRPr lang="en-US" sz="1800" dirty="0"/>
          </a:p>
          <a:p>
            <a:pPr marL="0" indent="0" algn="l">
              <a:lnSpc>
                <a:spcPct val="118519"/>
              </a:lnSpc>
              <a:buNone/>
            </a:pPr>
            <a:r>
              <a:rPr lang="en-US" sz="1800" dirty="0">
                <a:solidFill>
                  <a:srgbClr val="211F1C">
                    <a:alpha val="46000"/>
                  </a:srgbClr>
                </a:solidFill>
                <a:latin typeface="Courier New" pitchFamily="34" charset="0"/>
                <a:ea typeface="Courier New" pitchFamily="34" charset="-122"/>
                <a:cs typeface="Courier New" pitchFamily="34" charset="-120"/>
              </a:rPr>
              <a:t># wires the three services </a:t>
            </a:r>
            <a:r>
              <a:rPr lang="en-US" sz="1800" dirty="0">
                <a:solidFill>
                  <a:srgbClr val="201E1D"/>
                </a:solidFill>
                <a:highlight>
                  <a:srgbClr val="EAE9E9"/>
                </a:highlight>
                <a:latin typeface="Courier New" pitchFamily="34" charset="0"/>
                <a:ea typeface="Courier New" pitchFamily="34" charset="-122"/>
                <a:cs typeface="Courier New" pitchFamily="34" charset="-120"/>
              </a:rPr>
              <a:t>├── </a:t>
            </a:r>
            <a:r>
              <a:rPr lang="en-US" sz="1800" dirty="0" err="1">
                <a:solidFill>
                  <a:srgbClr val="201E1D"/>
                </a:solidFill>
                <a:highlight>
                  <a:srgbClr val="EAE9E9"/>
                </a:highlight>
                <a:latin typeface="Courier New" pitchFamily="34" charset="0"/>
                <a:ea typeface="Courier New" pitchFamily="34" charset="-122"/>
                <a:cs typeface="Courier New" pitchFamily="34" charset="-120"/>
              </a:rPr>
              <a:t>README.md</a:t>
            </a:r>
            <a:r>
              <a:rPr lang="en-US" sz="1800" dirty="0">
                <a:solidFill>
                  <a:srgbClr val="201E1D"/>
                </a:solidFill>
                <a:highlight>
                  <a:srgbClr val="EAE9E9"/>
                </a:highlight>
                <a:latin typeface="Courier New" pitchFamily="34" charset="0"/>
                <a:ea typeface="Courier New" pitchFamily="34" charset="-122"/>
                <a:cs typeface="Courier New" pitchFamily="34" charset="-120"/>
              </a:rPr>
              <a:t>                </a:t>
            </a:r>
          </a:p>
          <a:p>
            <a:pPr marL="0" indent="0" algn="l">
              <a:lnSpc>
                <a:spcPct val="118519"/>
              </a:lnSpc>
              <a:buNone/>
            </a:pPr>
            <a:r>
              <a:rPr lang="en-US" sz="1800" dirty="0">
                <a:solidFill>
                  <a:srgbClr val="211F1C">
                    <a:alpha val="46000"/>
                  </a:srgbClr>
                </a:solidFill>
                <a:latin typeface="Courier New" pitchFamily="34" charset="0"/>
                <a:ea typeface="Courier New" pitchFamily="34" charset="-122"/>
                <a:cs typeface="Courier New" pitchFamily="34" charset="-120"/>
              </a:rPr>
              <a:t># the one run command </a:t>
            </a:r>
            <a:r>
              <a:rPr lang="en-US" sz="1800" dirty="0">
                <a:solidFill>
                  <a:srgbClr val="201E1D"/>
                </a:solidFill>
                <a:highlight>
                  <a:srgbClr val="EAE9E9"/>
                </a:highlight>
                <a:latin typeface="Courier New" pitchFamily="34" charset="0"/>
                <a:ea typeface="Courier New" pitchFamily="34" charset="-122"/>
                <a:cs typeface="Courier New" pitchFamily="34" charset="-120"/>
              </a:rPr>
              <a:t>├── api/</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 Dockerfile</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 requirements.txt     </a:t>
            </a:r>
            <a:endParaRPr lang="en-US" sz="1800" dirty="0"/>
          </a:p>
          <a:p>
            <a:pPr marL="0" indent="0" algn="l">
              <a:lnSpc>
                <a:spcPct val="118519"/>
              </a:lnSpc>
              <a:buNone/>
            </a:pPr>
            <a:r>
              <a:rPr lang="en-US" sz="1800" dirty="0">
                <a:solidFill>
                  <a:srgbClr val="211F1C">
                    <a:alpha val="46000"/>
                  </a:srgbClr>
                </a:solidFill>
                <a:latin typeface="Courier New" pitchFamily="34" charset="0"/>
                <a:ea typeface="Courier New" pitchFamily="34" charset="-122"/>
                <a:cs typeface="Courier New" pitchFamily="34" charset="-120"/>
              </a:rPr>
              <a:t># + psycopg[binary] </a:t>
            </a:r>
            <a:r>
              <a:rPr lang="en-US" sz="1800" dirty="0">
                <a:solidFill>
                  <a:srgbClr val="201E1D"/>
                </a:solidFill>
                <a:highlight>
                  <a:srgbClr val="EAE9E9"/>
                </a:highlight>
                <a:latin typeface="Courier New" pitchFamily="34" charset="0"/>
                <a:ea typeface="Courier New" pitchFamily="34" charset="-122"/>
                <a:cs typeface="Courier New" pitchFamily="34" charset="-120"/>
              </a:rPr>
              <a:t>│   ├── </a:t>
            </a:r>
            <a:r>
              <a:rPr lang="en-US" sz="1800" dirty="0" err="1">
                <a:solidFill>
                  <a:srgbClr val="201E1D"/>
                </a:solidFill>
                <a:highlight>
                  <a:srgbClr val="EAE9E9"/>
                </a:highlight>
                <a:latin typeface="Courier New" pitchFamily="34" charset="0"/>
                <a:ea typeface="Courier New" pitchFamily="34" charset="-122"/>
                <a:cs typeface="Courier New" pitchFamily="34" charset="-120"/>
              </a:rPr>
              <a:t>main.py</a:t>
            </a:r>
            <a:r>
              <a:rPr lang="en-US" sz="1800" dirty="0">
                <a:solidFill>
                  <a:srgbClr val="201E1D"/>
                </a:solidFill>
                <a:highlight>
                  <a:srgbClr val="EAE9E9"/>
                </a:highlight>
                <a:latin typeface="Courier New" pitchFamily="34" charset="0"/>
                <a:ea typeface="Courier New" pitchFamily="34" charset="-122"/>
                <a:cs typeface="Courier New" pitchFamily="34" charset="-120"/>
              </a:rPr>
              <a:t>              </a:t>
            </a:r>
          </a:p>
          <a:p>
            <a:pPr marL="0" indent="0" algn="l">
              <a:lnSpc>
                <a:spcPct val="118519"/>
              </a:lnSpc>
              <a:buNone/>
            </a:pPr>
            <a:r>
              <a:rPr lang="en-US" sz="1800" dirty="0">
                <a:solidFill>
                  <a:srgbClr val="211F1C">
                    <a:alpha val="46000"/>
                  </a:srgbClr>
                </a:solidFill>
                <a:latin typeface="Courier New" pitchFamily="34" charset="0"/>
                <a:ea typeface="Courier New" pitchFamily="34" charset="-122"/>
                <a:cs typeface="Courier New" pitchFamily="34" charset="-120"/>
              </a:rPr>
              <a:t># your Segment 3 service, adapted </a:t>
            </a:r>
            <a:r>
              <a:rPr lang="en-US" sz="1800" dirty="0">
                <a:solidFill>
                  <a:srgbClr val="201E1D"/>
                </a:solidFill>
                <a:highlight>
                  <a:srgbClr val="EAE9E9"/>
                </a:highlight>
                <a:latin typeface="Courier New" pitchFamily="34" charset="0"/>
                <a:ea typeface="Courier New" pitchFamily="34" charset="-122"/>
                <a:cs typeface="Courier New" pitchFamily="34" charset="-120"/>
              </a:rPr>
              <a:t>│   └── </a:t>
            </a:r>
            <a:r>
              <a:rPr lang="en-US" sz="1800" dirty="0" err="1">
                <a:solidFill>
                  <a:srgbClr val="201E1D"/>
                </a:solidFill>
                <a:highlight>
                  <a:srgbClr val="EAE9E9"/>
                </a:highlight>
                <a:latin typeface="Courier New" pitchFamily="34" charset="0"/>
                <a:ea typeface="Courier New" pitchFamily="34" charset="-122"/>
                <a:cs typeface="Courier New" pitchFamily="34" charset="-120"/>
              </a:rPr>
              <a:t>db.py</a:t>
            </a:r>
            <a:r>
              <a:rPr lang="en-US" sz="1800" dirty="0">
                <a:solidFill>
                  <a:srgbClr val="201E1D"/>
                </a:solidFill>
                <a:highlight>
                  <a:srgbClr val="EAE9E9"/>
                </a:highlight>
                <a:latin typeface="Courier New" pitchFamily="34" charset="0"/>
                <a:ea typeface="Courier New" pitchFamily="34" charset="-122"/>
                <a:cs typeface="Courier New" pitchFamily="34" charset="-120"/>
              </a:rPr>
              <a:t>                </a:t>
            </a:r>
          </a:p>
          <a:p>
            <a:pPr marL="0" indent="0" algn="l">
              <a:lnSpc>
                <a:spcPct val="118519"/>
              </a:lnSpc>
              <a:buNone/>
            </a:pPr>
            <a:r>
              <a:rPr lang="en-US" sz="1800" dirty="0">
                <a:solidFill>
                  <a:srgbClr val="211F1C">
                    <a:alpha val="46000"/>
                  </a:srgbClr>
                </a:solidFill>
                <a:latin typeface="Courier New" pitchFamily="34" charset="0"/>
                <a:ea typeface="Courier New" pitchFamily="34" charset="-122"/>
                <a:cs typeface="Courier New" pitchFamily="34" charset="-120"/>
              </a:rPr>
              <a:t># provided </a:t>
            </a:r>
            <a:r>
              <a:rPr lang="en-US" sz="1800" dirty="0">
                <a:solidFill>
                  <a:srgbClr val="201E1D"/>
                </a:solidFill>
                <a:highlight>
                  <a:srgbClr val="EAE9E9"/>
                </a:highlight>
                <a:latin typeface="Courier New" pitchFamily="34" charset="0"/>
                <a:ea typeface="Courier New" pitchFamily="34" charset="-122"/>
                <a:cs typeface="Courier New" pitchFamily="34" charset="-120"/>
              </a:rPr>
              <a:t>├── db/</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 init.sql             </a:t>
            </a:r>
            <a:endParaRPr lang="en-US" sz="1800" dirty="0"/>
          </a:p>
          <a:p>
            <a:pPr marL="0" indent="0" algn="l">
              <a:lnSpc>
                <a:spcPct val="118519"/>
              </a:lnSpc>
              <a:buNone/>
            </a:pPr>
            <a:r>
              <a:rPr lang="en-US" sz="1800" dirty="0">
                <a:solidFill>
                  <a:srgbClr val="211F1C">
                    <a:alpha val="46000"/>
                  </a:srgbClr>
                </a:solidFill>
                <a:latin typeface="Courier New" pitchFamily="34" charset="0"/>
                <a:ea typeface="Courier New" pitchFamily="34" charset="-122"/>
                <a:cs typeface="Courier New" pitchFamily="34" charset="-120"/>
              </a:rPr>
              <a:t># provided — schema + seed rows </a:t>
            </a:r>
            <a:r>
              <a:rPr lang="en-US" sz="1800" dirty="0">
                <a:solidFill>
                  <a:srgbClr val="201E1D"/>
                </a:solidFill>
                <a:highlight>
                  <a:srgbClr val="EAE9E9"/>
                </a:highlight>
                <a:latin typeface="Courier New" pitchFamily="34" charset="0"/>
                <a:ea typeface="Courier New" pitchFamily="34" charset="-122"/>
                <a:cs typeface="Courier New" pitchFamily="34" charset="-120"/>
              </a:rPr>
              <a:t>└── web/</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 Dockerfile</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 package.json</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 app/page.tsx         </a:t>
            </a:r>
            <a:endParaRPr lang="en-US" sz="1800" dirty="0"/>
          </a:p>
          <a:p>
            <a:pPr marL="0" indent="0" algn="l">
              <a:lnSpc>
                <a:spcPct val="118519"/>
              </a:lnSpc>
              <a:buNone/>
            </a:pPr>
            <a:r>
              <a:rPr lang="en-US" sz="1800" dirty="0">
                <a:solidFill>
                  <a:srgbClr val="211F1C">
                    <a:alpha val="46000"/>
                  </a:srgbClr>
                </a:solidFill>
                <a:latin typeface="Courier New" pitchFamily="34" charset="0"/>
                <a:ea typeface="Courier New" pitchFamily="34" charset="-122"/>
                <a:cs typeface="Courier New" pitchFamily="34" charset="-120"/>
              </a:rPr>
              <a:t># Next.js App Router</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THE 55 MINUTES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Timebox it, on screen</a:t>
            </a:r>
            <a:endParaRPr lang="en-US" sz="4800" dirty="0"/>
          </a:p>
        </p:txBody>
      </p:sp>
      <p:sp>
        <p:nvSpPr>
          <p:cNvPr id="4" name="Shape 2"/>
          <p:cNvSpPr/>
          <p:nvPr/>
        </p:nvSpPr>
        <p:spPr>
          <a:xfrm>
            <a:off x="1143000" y="4095676"/>
            <a:ext cx="2286000" cy="19050"/>
          </a:xfrm>
          <a:prstGeom prst="rect">
            <a:avLst/>
          </a:prstGeom>
          <a:solidFill>
            <a:srgbClr val="201E1E">
              <a:alpha val="40000"/>
            </a:srgbClr>
          </a:solidFill>
          <a:ln/>
        </p:spPr>
        <p:txBody>
          <a:bodyPr/>
          <a:lstStyle/>
          <a:p>
            <a:endParaRPr lang="en-US"/>
          </a:p>
        </p:txBody>
      </p:sp>
      <p:sp>
        <p:nvSpPr>
          <p:cNvPr id="5" name="Text 3"/>
          <p:cNvSpPr/>
          <p:nvPr/>
        </p:nvSpPr>
        <p:spPr>
          <a:xfrm>
            <a:off x="1143000" y="3575726"/>
            <a:ext cx="2133600" cy="192249"/>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WINDOW</a:t>
            </a:r>
            <a:endParaRPr lang="en-US" sz="1800" dirty="0"/>
          </a:p>
        </p:txBody>
      </p:sp>
      <p:sp>
        <p:nvSpPr>
          <p:cNvPr id="6" name="Shape 4"/>
          <p:cNvSpPr/>
          <p:nvPr/>
        </p:nvSpPr>
        <p:spPr>
          <a:xfrm>
            <a:off x="3429000" y="4095676"/>
            <a:ext cx="13716000" cy="19050"/>
          </a:xfrm>
          <a:prstGeom prst="rect">
            <a:avLst/>
          </a:prstGeom>
          <a:solidFill>
            <a:srgbClr val="201E1E">
              <a:alpha val="40000"/>
            </a:srgbClr>
          </a:solidFill>
          <a:ln/>
        </p:spPr>
        <p:txBody>
          <a:bodyPr/>
          <a:lstStyle/>
          <a:p>
            <a:endParaRPr lang="en-US"/>
          </a:p>
        </p:txBody>
      </p:sp>
      <p:sp>
        <p:nvSpPr>
          <p:cNvPr id="7" name="Text 5"/>
          <p:cNvSpPr/>
          <p:nvPr/>
        </p:nvSpPr>
        <p:spPr>
          <a:xfrm>
            <a:off x="3657600" y="3575726"/>
            <a:ext cx="13898880" cy="192249"/>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GET TO HERE</a:t>
            </a:r>
            <a:endParaRPr lang="en-US" sz="1800" dirty="0"/>
          </a:p>
        </p:txBody>
      </p:sp>
      <p:sp>
        <p:nvSpPr>
          <p:cNvPr id="8" name="Shape 6"/>
          <p:cNvSpPr/>
          <p:nvPr/>
        </p:nvSpPr>
        <p:spPr>
          <a:xfrm>
            <a:off x="1143000" y="5024363"/>
            <a:ext cx="2286000" cy="9525"/>
          </a:xfrm>
          <a:prstGeom prst="rect">
            <a:avLst/>
          </a:prstGeom>
          <a:solidFill>
            <a:srgbClr val="201E1E">
              <a:alpha val="40000"/>
            </a:srgbClr>
          </a:solidFill>
          <a:ln/>
        </p:spPr>
        <p:txBody>
          <a:bodyPr/>
          <a:lstStyle/>
          <a:p>
            <a:endParaRPr lang="en-US"/>
          </a:p>
        </p:txBody>
      </p:sp>
      <p:sp>
        <p:nvSpPr>
          <p:cNvPr id="9" name="Text 7"/>
          <p:cNvSpPr/>
          <p:nvPr/>
        </p:nvSpPr>
        <p:spPr>
          <a:xfrm>
            <a:off x="1143000" y="4480247"/>
            <a:ext cx="2133600" cy="216694"/>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1:45 – 1:55</a:t>
            </a:r>
            <a:endParaRPr lang="en-US" sz="1875" dirty="0"/>
          </a:p>
        </p:txBody>
      </p:sp>
      <p:sp>
        <p:nvSpPr>
          <p:cNvPr id="10" name="Shape 8"/>
          <p:cNvSpPr/>
          <p:nvPr/>
        </p:nvSpPr>
        <p:spPr>
          <a:xfrm>
            <a:off x="3429000" y="5024363"/>
            <a:ext cx="13716000" cy="9525"/>
          </a:xfrm>
          <a:prstGeom prst="rect">
            <a:avLst/>
          </a:prstGeom>
          <a:solidFill>
            <a:srgbClr val="201E1E">
              <a:alpha val="40000"/>
            </a:srgbClr>
          </a:solidFill>
          <a:ln/>
        </p:spPr>
        <p:txBody>
          <a:bodyPr/>
          <a:lstStyle/>
          <a:p>
            <a:endParaRPr lang="en-US"/>
          </a:p>
        </p:txBody>
      </p:sp>
      <p:sp>
        <p:nvSpPr>
          <p:cNvPr id="11" name="Text 9"/>
          <p:cNvSpPr/>
          <p:nvPr/>
        </p:nvSpPr>
        <p:spPr>
          <a:xfrm>
            <a:off x="3657600" y="4472418"/>
            <a:ext cx="13898880" cy="23235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Wire the service to Postgres; </a:t>
            </a:r>
            <a:r>
              <a:rPr lang="en-US" sz="1958" dirty="0">
                <a:solidFill>
                  <a:srgbClr val="201E1D"/>
                </a:solidFill>
                <a:latin typeface="Courier New" pitchFamily="34" charset="0"/>
                <a:ea typeface="Courier New" pitchFamily="34" charset="-122"/>
                <a:cs typeface="Courier New" pitchFamily="34" charset="-120"/>
              </a:rPr>
              <a:t>compose up db api</a:t>
            </a:r>
            <a:r>
              <a:rPr lang="en-US" sz="2175" dirty="0">
                <a:solidFill>
                  <a:srgbClr val="201E1D"/>
                </a:solidFill>
                <a:latin typeface="Arial" pitchFamily="34" charset="0"/>
                <a:ea typeface="Arial" pitchFamily="34" charset="-122"/>
                <a:cs typeface="Arial" pitchFamily="34" charset="-120"/>
              </a:rPr>
              <a:t>; hit </a:t>
            </a:r>
            <a:r>
              <a:rPr lang="en-US" sz="1958" dirty="0">
                <a:solidFill>
                  <a:srgbClr val="201E1D"/>
                </a:solidFill>
                <a:latin typeface="Courier New" pitchFamily="34" charset="0"/>
                <a:ea typeface="Courier New" pitchFamily="34" charset="-122"/>
                <a:cs typeface="Courier New" pitchFamily="34" charset="-120"/>
              </a:rPr>
              <a:t>/applications</a:t>
            </a:r>
            <a:endParaRPr lang="en-US" sz="2175" dirty="0"/>
          </a:p>
        </p:txBody>
      </p:sp>
      <p:sp>
        <p:nvSpPr>
          <p:cNvPr id="12" name="Shape 10"/>
          <p:cNvSpPr/>
          <p:nvPr/>
        </p:nvSpPr>
        <p:spPr>
          <a:xfrm>
            <a:off x="1143000" y="5938763"/>
            <a:ext cx="2286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399410"/>
            <a:ext cx="2133600" cy="211931"/>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1:55 – 2:15</a:t>
            </a:r>
            <a:endParaRPr lang="en-US" sz="1875" dirty="0"/>
          </a:p>
        </p:txBody>
      </p:sp>
      <p:sp>
        <p:nvSpPr>
          <p:cNvPr id="14" name="Shape 12"/>
          <p:cNvSpPr/>
          <p:nvPr/>
        </p:nvSpPr>
        <p:spPr>
          <a:xfrm>
            <a:off x="3429000" y="5938763"/>
            <a:ext cx="13716000" cy="9525"/>
          </a:xfrm>
          <a:prstGeom prst="rect">
            <a:avLst/>
          </a:prstGeom>
          <a:solidFill>
            <a:srgbClr val="201E1E">
              <a:alpha val="40000"/>
            </a:srgbClr>
          </a:solidFill>
          <a:ln/>
        </p:spPr>
        <p:txBody>
          <a:bodyPr/>
          <a:lstStyle/>
          <a:p>
            <a:endParaRPr lang="en-US"/>
          </a:p>
        </p:txBody>
      </p:sp>
      <p:sp>
        <p:nvSpPr>
          <p:cNvPr id="15" name="Text 13"/>
          <p:cNvSpPr/>
          <p:nvPr/>
        </p:nvSpPr>
        <p:spPr>
          <a:xfrm>
            <a:off x="3657600" y="5391580"/>
            <a:ext cx="13898880" cy="227590"/>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Next.js page fetching and rendering the list</a:t>
            </a:r>
            <a:endParaRPr lang="en-US" sz="2175" dirty="0"/>
          </a:p>
        </p:txBody>
      </p:sp>
      <p:sp>
        <p:nvSpPr>
          <p:cNvPr id="16" name="Shape 14"/>
          <p:cNvSpPr/>
          <p:nvPr/>
        </p:nvSpPr>
        <p:spPr>
          <a:xfrm>
            <a:off x="1143000" y="6853163"/>
            <a:ext cx="2286000" cy="9525"/>
          </a:xfrm>
          <a:prstGeom prst="rect">
            <a:avLst/>
          </a:prstGeom>
          <a:solidFill>
            <a:srgbClr val="201E1E">
              <a:alpha val="40000"/>
            </a:srgbClr>
          </a:solidFill>
          <a:ln/>
        </p:spPr>
        <p:txBody>
          <a:bodyPr/>
          <a:lstStyle/>
          <a:p>
            <a:endParaRPr lang="en-US"/>
          </a:p>
        </p:txBody>
      </p:sp>
      <p:sp>
        <p:nvSpPr>
          <p:cNvPr id="17" name="Text 15"/>
          <p:cNvSpPr/>
          <p:nvPr/>
        </p:nvSpPr>
        <p:spPr>
          <a:xfrm>
            <a:off x="1143000" y="6313810"/>
            <a:ext cx="2133600" cy="211931"/>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2:15 – 2:30</a:t>
            </a:r>
            <a:endParaRPr lang="en-US" sz="1875" dirty="0"/>
          </a:p>
        </p:txBody>
      </p:sp>
      <p:sp>
        <p:nvSpPr>
          <p:cNvPr id="18" name="Shape 16"/>
          <p:cNvSpPr/>
          <p:nvPr/>
        </p:nvSpPr>
        <p:spPr>
          <a:xfrm>
            <a:off x="3429000" y="6853163"/>
            <a:ext cx="13716000" cy="9525"/>
          </a:xfrm>
          <a:prstGeom prst="rect">
            <a:avLst/>
          </a:prstGeom>
          <a:solidFill>
            <a:srgbClr val="201E1E">
              <a:alpha val="40000"/>
            </a:srgbClr>
          </a:solidFill>
          <a:ln/>
        </p:spPr>
        <p:txBody>
          <a:bodyPr/>
          <a:lstStyle/>
          <a:p>
            <a:endParaRPr lang="en-US"/>
          </a:p>
        </p:txBody>
      </p:sp>
      <p:sp>
        <p:nvSpPr>
          <p:cNvPr id="19" name="Text 17"/>
          <p:cNvSpPr/>
          <p:nvPr/>
        </p:nvSpPr>
        <p:spPr>
          <a:xfrm>
            <a:off x="3657600" y="6305980"/>
            <a:ext cx="13898880" cy="227590"/>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Full compose (db + api + web); submit-from-browser working</a:t>
            </a:r>
            <a:endParaRPr lang="en-US" sz="2175" dirty="0"/>
          </a:p>
        </p:txBody>
      </p:sp>
      <p:sp>
        <p:nvSpPr>
          <p:cNvPr id="20" name="Shape 18"/>
          <p:cNvSpPr/>
          <p:nvPr/>
        </p:nvSpPr>
        <p:spPr>
          <a:xfrm>
            <a:off x="1143000" y="7767563"/>
            <a:ext cx="2286000" cy="9525"/>
          </a:xfrm>
          <a:prstGeom prst="rect">
            <a:avLst/>
          </a:prstGeom>
          <a:solidFill>
            <a:srgbClr val="201E1E">
              <a:alpha val="40000"/>
            </a:srgbClr>
          </a:solidFill>
          <a:ln/>
        </p:spPr>
        <p:txBody>
          <a:bodyPr/>
          <a:lstStyle/>
          <a:p>
            <a:endParaRPr lang="en-US"/>
          </a:p>
        </p:txBody>
      </p:sp>
      <p:sp>
        <p:nvSpPr>
          <p:cNvPr id="21" name="Text 19"/>
          <p:cNvSpPr/>
          <p:nvPr/>
        </p:nvSpPr>
        <p:spPr>
          <a:xfrm>
            <a:off x="1143000" y="7228210"/>
            <a:ext cx="2133600" cy="211931"/>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2:30 – 2:40</a:t>
            </a:r>
            <a:endParaRPr lang="en-US" sz="1875" dirty="0"/>
          </a:p>
        </p:txBody>
      </p:sp>
      <p:sp>
        <p:nvSpPr>
          <p:cNvPr id="22" name="Shape 20"/>
          <p:cNvSpPr/>
          <p:nvPr/>
        </p:nvSpPr>
        <p:spPr>
          <a:xfrm>
            <a:off x="3429000" y="7767563"/>
            <a:ext cx="13716000" cy="9525"/>
          </a:xfrm>
          <a:prstGeom prst="rect">
            <a:avLst/>
          </a:prstGeom>
          <a:solidFill>
            <a:srgbClr val="201E1E">
              <a:alpha val="40000"/>
            </a:srgbClr>
          </a:solidFill>
          <a:ln/>
        </p:spPr>
        <p:txBody>
          <a:bodyPr/>
          <a:lstStyle/>
          <a:p>
            <a:endParaRPr lang="en-US"/>
          </a:p>
        </p:txBody>
      </p:sp>
      <p:sp>
        <p:nvSpPr>
          <p:cNvPr id="23" name="Text 21"/>
          <p:cNvSpPr/>
          <p:nvPr/>
        </p:nvSpPr>
        <p:spPr>
          <a:xfrm>
            <a:off x="3657600" y="7220380"/>
            <a:ext cx="13898880" cy="227590"/>
          </a:xfrm>
          <a:prstGeom prst="rect">
            <a:avLst/>
          </a:prstGeom>
          <a:noFill/>
          <a:ln/>
        </p:spPr>
        <p:txBody>
          <a:bodyPr wrap="square" lIns="25400" tIns="25400" rIns="25400" bIns="25400" rtlCol="0" anchor="ctr">
            <a:normAutofit/>
          </a:bodyPr>
          <a:lstStyle/>
          <a:p>
            <a:pPr marL="0" indent="0" algn="l">
              <a:lnSpc>
                <a:spcPct val="134179"/>
              </a:lnSpc>
              <a:buNone/>
            </a:pPr>
            <a:r>
              <a:rPr lang="en-US" sz="1958" dirty="0">
                <a:solidFill>
                  <a:srgbClr val="201E1D"/>
                </a:solidFill>
                <a:latin typeface="Courier New" pitchFamily="34" charset="0"/>
                <a:ea typeface="Courier New" pitchFamily="34" charset="-122"/>
                <a:cs typeface="Courier New" pitchFamily="34" charset="-120"/>
              </a:rPr>
              <a:t>git init</a:t>
            </a:r>
            <a:r>
              <a:rPr lang="en-US" sz="2175" dirty="0">
                <a:solidFill>
                  <a:srgbClr val="201E1D"/>
                </a:solidFill>
                <a:latin typeface="Arial" pitchFamily="34" charset="0"/>
                <a:ea typeface="Arial" pitchFamily="34" charset="-122"/>
                <a:cs typeface="Arial" pitchFamily="34" charset="-120"/>
              </a:rPr>
              <a:t>, commit, push; buffer for stragglers</a:t>
            </a:r>
            <a:endParaRPr lang="en-US" sz="2175" dirty="0"/>
          </a:p>
        </p:txBody>
      </p:sp>
      <p:sp>
        <p:nvSpPr>
          <p:cNvPr id="24" name="Text 22"/>
          <p:cNvSpPr/>
          <p:nvPr/>
        </p:nvSpPr>
        <p:spPr>
          <a:xfrm>
            <a:off x="1143000" y="8074372"/>
            <a:ext cx="16801326" cy="2210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You are not writing anything new — you are assembling pieces you now understand. Instructor and TAs circulate.</a:t>
            </a:r>
            <a:endParaRPr lang="en-US" sz="2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PROVIDED</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2074954"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db/init.sql</a:t>
            </a:r>
            <a:endParaRPr lang="en-US" sz="2250" dirty="0"/>
          </a:p>
        </p:txBody>
      </p:sp>
      <p:sp>
        <p:nvSpPr>
          <p:cNvPr id="5" name="Text 3"/>
          <p:cNvSpPr/>
          <p:nvPr/>
        </p:nvSpPr>
        <p:spPr>
          <a:xfrm>
            <a:off x="3524622" y="1894136"/>
            <a:ext cx="6512830"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schema + seed, run once on first boot</a:t>
            </a:r>
            <a:endParaRPr lang="en-US" sz="2100" dirty="0"/>
          </a:p>
        </p:txBody>
      </p:sp>
      <p:sp>
        <p:nvSpPr>
          <p:cNvPr id="6" name="Shape 4"/>
          <p:cNvSpPr/>
          <p:nvPr/>
        </p:nvSpPr>
        <p:spPr>
          <a:xfrm>
            <a:off x="1143000" y="2732187"/>
            <a:ext cx="16002000" cy="5105400"/>
          </a:xfrm>
          <a:prstGeom prst="rect">
            <a:avLst/>
          </a:prstGeom>
          <a:solidFill>
            <a:srgbClr val="EAE9E9"/>
          </a:solidFill>
          <a:ln/>
        </p:spPr>
        <p:txBody>
          <a:bodyPr/>
          <a:lstStyle/>
          <a:p>
            <a:endParaRPr lang="en-US"/>
          </a:p>
        </p:txBody>
      </p:sp>
      <p:sp>
        <p:nvSpPr>
          <p:cNvPr id="7" name="Text 5"/>
          <p:cNvSpPr/>
          <p:nvPr/>
        </p:nvSpPr>
        <p:spPr>
          <a:xfrm>
            <a:off x="1524000" y="2998887"/>
            <a:ext cx="5792328" cy="947737"/>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CREATE TABLE IF NOT EXISTS applications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id SERIAL PRIMARY KEY,</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applicant_name TEXT NOT NULL,</a:t>
            </a:r>
            <a:endParaRPr lang="en-US" sz="1800" dirty="0"/>
          </a:p>
        </p:txBody>
      </p:sp>
      <p:sp>
        <p:nvSpPr>
          <p:cNvPr id="8" name="Shape 6"/>
          <p:cNvSpPr/>
          <p:nvPr/>
        </p:nvSpPr>
        <p:spPr>
          <a:xfrm>
            <a:off x="1143000" y="3913287"/>
            <a:ext cx="16002000" cy="304800"/>
          </a:xfrm>
          <a:prstGeom prst="rect">
            <a:avLst/>
          </a:prstGeom>
          <a:solidFill>
            <a:srgbClr val="FFF2EF"/>
          </a:solidFill>
          <a:ln/>
        </p:spPr>
        <p:txBody>
          <a:bodyPr/>
          <a:lstStyle/>
          <a:p>
            <a:endParaRPr lang="en-US"/>
          </a:p>
        </p:txBody>
      </p:sp>
      <p:sp>
        <p:nvSpPr>
          <p:cNvPr id="9" name="Text 7"/>
          <p:cNvSpPr/>
          <p:nvPr/>
        </p:nvSpPr>
        <p:spPr>
          <a:xfrm>
            <a:off x="1524000" y="3913287"/>
            <a:ext cx="15720060" cy="342900"/>
          </a:xfrm>
          <a:prstGeom prst="rect">
            <a:avLst/>
          </a:prstGeom>
          <a:noFill/>
          <a:ln/>
        </p:spPr>
        <p:txBody>
          <a:bodyPr wrap="none" lIns="25400" tIns="25400" rIns="25400" bIns="2540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monthly_income NUMERIC NOT NULL CHECK (monthly_income &gt; 0),</a:t>
            </a:r>
            <a:endParaRPr lang="en-US" sz="1800" dirty="0"/>
          </a:p>
        </p:txBody>
      </p:sp>
      <p:sp>
        <p:nvSpPr>
          <p:cNvPr id="10" name="Text 8"/>
          <p:cNvSpPr/>
          <p:nvPr/>
        </p:nvSpPr>
        <p:spPr>
          <a:xfrm>
            <a:off x="1524000" y="4522887"/>
            <a:ext cx="8617824" cy="3081338"/>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amount_requested NUMERIC NOT NULL,</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purpose TEXT NOT NULL,</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status TEXT NOT NULL DEFAULT 'received'</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a:t>
            </a:r>
            <a:endParaRPr lang="en-US" sz="1800" dirty="0"/>
          </a:p>
          <a:p>
            <a:pPr marL="0" indent="0" algn="l">
              <a:lnSpc>
                <a:spcPct val="118519"/>
              </a:lnSpc>
              <a:buNone/>
            </a:pP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INSERT INTO applications</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(applicant_name, monthly_income, amount_requested, purpose)</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VALUES</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('Asha Traders', 45000, 300000, 'working_capital'),</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('Ravi Auto Works', 62000, 450000, 'equipment');</a:t>
            </a:r>
            <a:endParaRPr lang="en-US" sz="1800" dirty="0"/>
          </a:p>
        </p:txBody>
      </p:sp>
      <p:sp>
        <p:nvSpPr>
          <p:cNvPr id="11" name="Text 9"/>
          <p:cNvSpPr/>
          <p:nvPr/>
        </p:nvSpPr>
        <p:spPr>
          <a:xfrm>
            <a:off x="1143000" y="8130108"/>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The </a:t>
            </a:r>
            <a:r>
              <a:rPr lang="en-US" sz="1875" dirty="0">
                <a:solidFill>
                  <a:srgbClr val="211D1D">
                    <a:alpha val="55000"/>
                  </a:srgbClr>
                </a:solidFill>
                <a:latin typeface="Courier New" pitchFamily="34" charset="0"/>
                <a:ea typeface="Courier New" pitchFamily="34" charset="-122"/>
                <a:cs typeface="Courier New" pitchFamily="34" charset="-120"/>
              </a:rPr>
              <a:t>CHECK (monthly_income &gt; 0) </a:t>
            </a:r>
            <a:r>
              <a:rPr lang="en-US" sz="2100" dirty="0">
                <a:solidFill>
                  <a:srgbClr val="211D1D">
                    <a:alpha val="55000"/>
                  </a:srgbClr>
                </a:solidFill>
                <a:latin typeface="Arial" pitchFamily="34" charset="0"/>
                <a:ea typeface="Arial" pitchFamily="34" charset="-122"/>
                <a:cs typeface="Arial" pitchFamily="34" charset="-120"/>
              </a:rPr>
              <a:t>is the same rule as Pydantic's </a:t>
            </a:r>
            <a:r>
              <a:rPr lang="en-US" sz="1875" dirty="0">
                <a:solidFill>
                  <a:srgbClr val="211D1D">
                    <a:alpha val="55000"/>
                  </a:srgbClr>
                </a:solidFill>
                <a:latin typeface="Courier New" pitchFamily="34" charset="0"/>
                <a:ea typeface="Courier New" pitchFamily="34" charset="-122"/>
                <a:cs typeface="Courier New" pitchFamily="34" charset="-120"/>
              </a:rPr>
              <a:t>gt=0 </a:t>
            </a:r>
            <a:r>
              <a:rPr lang="en-US" sz="2100" dirty="0">
                <a:solidFill>
                  <a:srgbClr val="211D1D">
                    <a:alpha val="55000"/>
                  </a:srgbClr>
                </a:solidFill>
                <a:latin typeface="Arial" pitchFamily="34" charset="0"/>
                <a:ea typeface="Arial" pitchFamily="34" charset="-122"/>
                <a:cs typeface="Arial" pitchFamily="34" charset="-120"/>
              </a:rPr>
              <a:t>— the database enforces the contract too, one layer deeper.</a:t>
            </a:r>
            <a:endParaRPr lang="en-US" sz="2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PROVIDED</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1697682"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api/db.py</a:t>
            </a:r>
            <a:endParaRPr lang="en-US" sz="2250" dirty="0"/>
          </a:p>
        </p:txBody>
      </p:sp>
      <p:sp>
        <p:nvSpPr>
          <p:cNvPr id="5" name="Text 3"/>
          <p:cNvSpPr/>
          <p:nvPr/>
        </p:nvSpPr>
        <p:spPr>
          <a:xfrm>
            <a:off x="3181648" y="1894136"/>
            <a:ext cx="7040880"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DB plumbing, kept off your critical path</a:t>
            </a:r>
            <a:endParaRPr lang="en-US" sz="2100" dirty="0"/>
          </a:p>
        </p:txBody>
      </p:sp>
      <p:sp>
        <p:nvSpPr>
          <p:cNvPr id="6" name="Shape 4"/>
          <p:cNvSpPr/>
          <p:nvPr/>
        </p:nvSpPr>
        <p:spPr>
          <a:xfrm>
            <a:off x="1143000" y="2723852"/>
            <a:ext cx="16002000" cy="4629150"/>
          </a:xfrm>
          <a:prstGeom prst="rect">
            <a:avLst/>
          </a:prstGeom>
          <a:solidFill>
            <a:srgbClr val="EAE9E9"/>
          </a:solidFill>
          <a:ln/>
        </p:spPr>
        <p:txBody>
          <a:bodyPr/>
          <a:lstStyle/>
          <a:p>
            <a:endParaRPr lang="en-US"/>
          </a:p>
        </p:txBody>
      </p:sp>
      <p:sp>
        <p:nvSpPr>
          <p:cNvPr id="7" name="Text 5"/>
          <p:cNvSpPr/>
          <p:nvPr/>
        </p:nvSpPr>
        <p:spPr>
          <a:xfrm>
            <a:off x="1562100" y="3057227"/>
            <a:ext cx="5244842" cy="110013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import os</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import psycopg</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from psycopg.rows import dict_row</a:t>
            </a:r>
            <a:endParaRPr lang="en-US" sz="2025" dirty="0"/>
          </a:p>
        </p:txBody>
      </p:sp>
      <p:sp>
        <p:nvSpPr>
          <p:cNvPr id="8" name="Shape 6"/>
          <p:cNvSpPr/>
          <p:nvPr/>
        </p:nvSpPr>
        <p:spPr>
          <a:xfrm>
            <a:off x="1143000" y="4495502"/>
            <a:ext cx="16002000" cy="1085850"/>
          </a:xfrm>
          <a:prstGeom prst="rect">
            <a:avLst/>
          </a:prstGeom>
          <a:solidFill>
            <a:srgbClr val="FFF2EF"/>
          </a:solidFill>
          <a:ln/>
        </p:spPr>
        <p:txBody>
          <a:bodyPr/>
          <a:lstStyle/>
          <a:p>
            <a:endParaRPr lang="en-US"/>
          </a:p>
        </p:txBody>
      </p:sp>
      <p:sp>
        <p:nvSpPr>
          <p:cNvPr id="9" name="Text 7"/>
          <p:cNvSpPr/>
          <p:nvPr/>
        </p:nvSpPr>
        <p:spPr>
          <a:xfrm>
            <a:off x="1562100" y="4495502"/>
            <a:ext cx="15643860" cy="1123950"/>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DATABASE_URL = os.environ.get(</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"DATABASE_URL", "postgresql://intake:intake@localhost:5432/intake"</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a:t>
            </a:r>
            <a:endParaRPr lang="en-US" sz="2025" dirty="0"/>
          </a:p>
        </p:txBody>
      </p:sp>
      <p:sp>
        <p:nvSpPr>
          <p:cNvPr id="10" name="Text 8"/>
          <p:cNvSpPr/>
          <p:nvPr/>
        </p:nvSpPr>
        <p:spPr>
          <a:xfrm>
            <a:off x="1562100" y="6314777"/>
            <a:ext cx="9853979" cy="73818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def get_conn() -&gt; psycopg.Connection:</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return psycopg.connect(DATABASE_URL, row_factory=dict_row)</a:t>
            </a:r>
            <a:endParaRPr lang="en-US" sz="2025" dirty="0"/>
          </a:p>
        </p:txBody>
      </p:sp>
      <p:sp>
        <p:nvSpPr>
          <p:cNvPr id="11" name="Text 9"/>
          <p:cNvSpPr/>
          <p:nvPr/>
        </p:nvSpPr>
        <p:spPr>
          <a:xfrm>
            <a:off x="1143000" y="7645524"/>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1875" dirty="0">
                <a:solidFill>
                  <a:srgbClr val="211D1D">
                    <a:alpha val="55000"/>
                  </a:srgbClr>
                </a:solidFill>
                <a:latin typeface="Courier New" pitchFamily="34" charset="0"/>
                <a:ea typeface="Courier New" pitchFamily="34" charset="-122"/>
                <a:cs typeface="Courier New" pitchFamily="34" charset="-120"/>
              </a:rPr>
              <a:t>row_factory=dict_row </a:t>
            </a:r>
            <a:r>
              <a:rPr lang="en-US" sz="2100" dirty="0">
                <a:solidFill>
                  <a:srgbClr val="211D1D">
                    <a:alpha val="55000"/>
                  </a:srgbClr>
                </a:solidFill>
                <a:latin typeface="Arial" pitchFamily="34" charset="0"/>
                <a:ea typeface="Arial" pitchFamily="34" charset="-122"/>
                <a:cs typeface="Arial" pitchFamily="34" charset="-120"/>
              </a:rPr>
              <a:t>returns each row as a dict, so </a:t>
            </a:r>
            <a:r>
              <a:rPr lang="en-US" sz="1875" dirty="0">
                <a:solidFill>
                  <a:srgbClr val="211D1D">
                    <a:alpha val="55000"/>
                  </a:srgbClr>
                </a:solidFill>
                <a:latin typeface="Courier New" pitchFamily="34" charset="0"/>
                <a:ea typeface="Courier New" pitchFamily="34" charset="-122"/>
                <a:cs typeface="Courier New" pitchFamily="34" charset="-120"/>
              </a:rPr>
              <a:t>ApplicationOut(**row) </a:t>
            </a:r>
            <a:r>
              <a:rPr lang="en-US" sz="2100" dirty="0">
                <a:solidFill>
                  <a:srgbClr val="211D1D">
                    <a:alpha val="55000"/>
                  </a:srgbClr>
                </a:solidFill>
                <a:latin typeface="Arial" pitchFamily="34" charset="0"/>
                <a:ea typeface="Arial" pitchFamily="34" charset="-122"/>
                <a:cs typeface="Arial" pitchFamily="34" charset="-120"/>
              </a:rPr>
              <a:t>just works. The URL is read from the environment — Compose sets it.</a:t>
            </a:r>
            <a:endParaRPr lang="en-US" sz="2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2074954"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api/main.py</a:t>
            </a:r>
            <a:endParaRPr lang="en-US" sz="2250" dirty="0"/>
          </a:p>
        </p:txBody>
      </p:sp>
      <p:sp>
        <p:nvSpPr>
          <p:cNvPr id="5" name="Text 3"/>
          <p:cNvSpPr/>
          <p:nvPr/>
        </p:nvSpPr>
        <p:spPr>
          <a:xfrm>
            <a:off x="3524622" y="1894136"/>
            <a:ext cx="457662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the GET now reads Postgres</a:t>
            </a:r>
            <a:endParaRPr lang="en-US" sz="2100" dirty="0"/>
          </a:p>
        </p:txBody>
      </p:sp>
      <p:sp>
        <p:nvSpPr>
          <p:cNvPr id="6" name="Shape 4"/>
          <p:cNvSpPr/>
          <p:nvPr/>
        </p:nvSpPr>
        <p:spPr>
          <a:xfrm>
            <a:off x="1143000" y="2723852"/>
            <a:ext cx="16002000" cy="3905250"/>
          </a:xfrm>
          <a:prstGeom prst="rect">
            <a:avLst/>
          </a:prstGeom>
          <a:solidFill>
            <a:srgbClr val="EAE9E9"/>
          </a:solidFill>
          <a:ln/>
        </p:spPr>
        <p:txBody>
          <a:bodyPr/>
          <a:lstStyle/>
          <a:p>
            <a:endParaRPr lang="en-US"/>
          </a:p>
        </p:txBody>
      </p:sp>
      <p:sp>
        <p:nvSpPr>
          <p:cNvPr id="7" name="Text 5"/>
          <p:cNvSpPr/>
          <p:nvPr/>
        </p:nvSpPr>
        <p:spPr>
          <a:xfrm>
            <a:off x="1562100" y="3057227"/>
            <a:ext cx="9853979" cy="290988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from db import get_conn</a:t>
            </a:r>
            <a:endParaRPr lang="en-US" sz="2025" dirty="0"/>
          </a:p>
          <a:p>
            <a:pPr marL="0" indent="0" algn="l">
              <a:lnSpc>
                <a:spcPct val="124590"/>
              </a:lnSpc>
              <a:buNone/>
            </a:pP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@app.get("/applications", response_model=list[ApplicationOut])</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def list_applications() -&gt; list[ApplicationOut]:</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with get_conn() as conn:</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rows = conn.execute(</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"SELECT * FROM applications ORDER BY id"</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).fetchall()</a:t>
            </a:r>
            <a:endParaRPr lang="en-US" sz="2025" dirty="0"/>
          </a:p>
        </p:txBody>
      </p:sp>
      <p:sp>
        <p:nvSpPr>
          <p:cNvPr id="8" name="Shape 6"/>
          <p:cNvSpPr/>
          <p:nvPr/>
        </p:nvSpPr>
        <p:spPr>
          <a:xfrm>
            <a:off x="1143000" y="6175288"/>
            <a:ext cx="16002000" cy="361950"/>
          </a:xfrm>
          <a:prstGeom prst="rect">
            <a:avLst/>
          </a:prstGeom>
          <a:solidFill>
            <a:srgbClr val="FFF2EF"/>
          </a:solidFill>
          <a:ln/>
        </p:spPr>
        <p:txBody>
          <a:bodyPr/>
          <a:lstStyle/>
          <a:p>
            <a:endParaRPr lang="en-US"/>
          </a:p>
        </p:txBody>
      </p:sp>
      <p:sp>
        <p:nvSpPr>
          <p:cNvPr id="9" name="Text 7"/>
          <p:cNvSpPr/>
          <p:nvPr/>
        </p:nvSpPr>
        <p:spPr>
          <a:xfrm>
            <a:off x="1562100" y="6175288"/>
            <a:ext cx="15643860" cy="400050"/>
          </a:xfrm>
          <a:prstGeom prst="rect">
            <a:avLst/>
          </a:prstGeom>
          <a:noFill/>
          <a:ln/>
        </p:spPr>
        <p:txBody>
          <a:bodyPr wrap="none" lIns="25400" tIns="25400" rIns="25400" bIns="25400" rtlCol="0" anchor="t">
            <a:normAutofit lnSpcReduction="10000"/>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return [ApplicationOut(**row) for row in rows]</a:t>
            </a:r>
            <a:endParaRPr lang="en-US" sz="2025" dirty="0"/>
          </a:p>
        </p:txBody>
      </p:sp>
      <p:sp>
        <p:nvSpPr>
          <p:cNvPr id="10" name="Text 8"/>
          <p:cNvSpPr/>
          <p:nvPr/>
        </p:nvSpPr>
        <p:spPr>
          <a:xfrm>
            <a:off x="1143000" y="6921624"/>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Same Pydantic models, same route — only the body changed. The rows become </a:t>
            </a:r>
            <a:r>
              <a:rPr lang="en-US" sz="1875" dirty="0">
                <a:solidFill>
                  <a:srgbClr val="211D1D">
                    <a:alpha val="55000"/>
                  </a:srgbClr>
                </a:solidFill>
                <a:latin typeface="Courier New" pitchFamily="34" charset="0"/>
                <a:ea typeface="Courier New" pitchFamily="34" charset="-122"/>
                <a:cs typeface="Courier New" pitchFamily="34" charset="-120"/>
              </a:rPr>
              <a:t>ApplicationOut </a:t>
            </a:r>
            <a:r>
              <a:rPr lang="en-US" sz="2100" dirty="0">
                <a:solidFill>
                  <a:srgbClr val="211D1D">
                    <a:alpha val="55000"/>
                  </a:srgbClr>
                </a:solidFill>
                <a:latin typeface="Arial" pitchFamily="34" charset="0"/>
                <a:ea typeface="Arial" pitchFamily="34" charset="-122"/>
                <a:cs typeface="Arial" pitchFamily="34" charset="-120"/>
              </a:rPr>
              <a:t>objects, so </a:t>
            </a:r>
            <a:r>
              <a:rPr lang="en-US" sz="1875" dirty="0">
                <a:solidFill>
                  <a:srgbClr val="211D1D">
                    <a:alpha val="55000"/>
                  </a:srgbClr>
                </a:solidFill>
                <a:latin typeface="Courier New" pitchFamily="34" charset="0"/>
                <a:ea typeface="Courier New" pitchFamily="34" charset="-122"/>
                <a:cs typeface="Courier New" pitchFamily="34" charset="-120"/>
              </a:rPr>
              <a:t>response_model </a:t>
            </a:r>
            <a:r>
              <a:rPr lang="en-US" sz="2100" dirty="0">
                <a:solidFill>
                  <a:srgbClr val="211D1D">
                    <a:alpha val="55000"/>
                  </a:srgbClr>
                </a:solidFill>
                <a:latin typeface="Arial" pitchFamily="34" charset="0"/>
                <a:ea typeface="Arial" pitchFamily="34" charset="-122"/>
                <a:cs typeface="Arial" pitchFamily="34" charset="-120"/>
              </a:rPr>
              <a:t>still validates the output.</a:t>
            </a:r>
            <a:endParaRPr lang="en-US" sz="2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2074954"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api/main.py</a:t>
            </a:r>
            <a:endParaRPr lang="en-US" sz="2250" dirty="0"/>
          </a:p>
        </p:txBody>
      </p:sp>
      <p:sp>
        <p:nvSpPr>
          <p:cNvPr id="5" name="Text 3"/>
          <p:cNvSpPr/>
          <p:nvPr/>
        </p:nvSpPr>
        <p:spPr>
          <a:xfrm>
            <a:off x="3524622" y="1894136"/>
            <a:ext cx="492868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the POST now writes Postgres</a:t>
            </a:r>
            <a:endParaRPr lang="en-US" sz="2100" dirty="0"/>
          </a:p>
        </p:txBody>
      </p:sp>
      <p:sp>
        <p:nvSpPr>
          <p:cNvPr id="6" name="Shape 4"/>
          <p:cNvSpPr/>
          <p:nvPr/>
        </p:nvSpPr>
        <p:spPr>
          <a:xfrm>
            <a:off x="1143000" y="2732187"/>
            <a:ext cx="16002000" cy="4800600"/>
          </a:xfrm>
          <a:prstGeom prst="rect">
            <a:avLst/>
          </a:prstGeom>
          <a:solidFill>
            <a:srgbClr val="EAE9E9"/>
          </a:solidFill>
          <a:ln/>
        </p:spPr>
        <p:txBody>
          <a:bodyPr/>
          <a:lstStyle/>
          <a:p>
            <a:endParaRPr lang="en-US"/>
          </a:p>
        </p:txBody>
      </p:sp>
      <p:sp>
        <p:nvSpPr>
          <p:cNvPr id="7" name="Text 5"/>
          <p:cNvSpPr/>
          <p:nvPr/>
        </p:nvSpPr>
        <p:spPr>
          <a:xfrm>
            <a:off x="1524000" y="2998887"/>
            <a:ext cx="10736946" cy="2471738"/>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@app.post("/applications", response_model=ApplicationOut, status_code=201)</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def create_application(payload: ApplicationIn) -&gt; ApplicationOut: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with get_conn() as conn:</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row = conn.execute(</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"""INSERT INTO applications</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(applicant_name, monthly_income, amount_requested, purpose)</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VALUES (%(applicant_name)s, %(monthly_income)s,</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%(amount_requested)s, %(purpose)s)</a:t>
            </a:r>
            <a:endParaRPr lang="en-US" sz="1800" dirty="0"/>
          </a:p>
        </p:txBody>
      </p:sp>
      <p:sp>
        <p:nvSpPr>
          <p:cNvPr id="8" name="Shape 6"/>
          <p:cNvSpPr/>
          <p:nvPr/>
        </p:nvSpPr>
        <p:spPr>
          <a:xfrm>
            <a:off x="1143000" y="5742087"/>
            <a:ext cx="16002000" cy="1219200"/>
          </a:xfrm>
          <a:prstGeom prst="rect">
            <a:avLst/>
          </a:prstGeom>
          <a:solidFill>
            <a:srgbClr val="FFF2EF"/>
          </a:solidFill>
          <a:ln/>
        </p:spPr>
        <p:txBody>
          <a:bodyPr/>
          <a:lstStyle/>
          <a:p>
            <a:endParaRPr lang="en-US"/>
          </a:p>
        </p:txBody>
      </p:sp>
      <p:sp>
        <p:nvSpPr>
          <p:cNvPr id="9" name="Text 7"/>
          <p:cNvSpPr/>
          <p:nvPr/>
        </p:nvSpPr>
        <p:spPr>
          <a:xfrm>
            <a:off x="1524000" y="5669108"/>
            <a:ext cx="15720060" cy="1257300"/>
          </a:xfrm>
          <a:prstGeom prst="rect">
            <a:avLst/>
          </a:prstGeom>
          <a:noFill/>
          <a:ln/>
        </p:spPr>
        <p:txBody>
          <a:bodyPr wrap="none" lIns="25400" tIns="25400" rIns="25400" bIns="25400" rtlCol="0" anchor="t">
            <a:normAutofit lnSpcReduction="10000"/>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RETURNING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payload.model_dump(),</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).fetchone()</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conn.commit()</a:t>
            </a:r>
            <a:endParaRPr lang="en-US" sz="1800" dirty="0"/>
          </a:p>
        </p:txBody>
      </p:sp>
      <p:sp>
        <p:nvSpPr>
          <p:cNvPr id="10" name="Text 8"/>
          <p:cNvSpPr/>
          <p:nvPr/>
        </p:nvSpPr>
        <p:spPr>
          <a:xfrm>
            <a:off x="1524000" y="6961287"/>
            <a:ext cx="4520840" cy="338138"/>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return ApplicationOut(**row)</a:t>
            </a:r>
            <a:endParaRPr lang="en-US" sz="1800" dirty="0"/>
          </a:p>
        </p:txBody>
      </p:sp>
      <p:sp>
        <p:nvSpPr>
          <p:cNvPr id="11" name="Text 9"/>
          <p:cNvSpPr/>
          <p:nvPr/>
        </p:nvSpPr>
        <p:spPr>
          <a:xfrm>
            <a:off x="1143000" y="7825308"/>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Named parameters, never string formatting — that is what keeps SQL injection out. </a:t>
            </a:r>
            <a:r>
              <a:rPr lang="en-US" sz="1875" dirty="0">
                <a:solidFill>
                  <a:srgbClr val="211D1D">
                    <a:alpha val="55000"/>
                  </a:srgbClr>
                </a:solidFill>
                <a:latin typeface="Courier New" pitchFamily="34" charset="0"/>
                <a:ea typeface="Courier New" pitchFamily="34" charset="-122"/>
                <a:cs typeface="Courier New" pitchFamily="34" charset="-120"/>
              </a:rPr>
              <a:t>RETURNING * </a:t>
            </a:r>
            <a:r>
              <a:rPr lang="en-US" sz="2100" dirty="0">
                <a:solidFill>
                  <a:srgbClr val="211D1D">
                    <a:alpha val="55000"/>
                  </a:srgbClr>
                </a:solidFill>
                <a:latin typeface="Arial" pitchFamily="34" charset="0"/>
                <a:ea typeface="Arial" pitchFamily="34" charset="-122"/>
                <a:cs typeface="Arial" pitchFamily="34" charset="-120"/>
              </a:rPr>
              <a:t>hands back the inserted row, id and all.</a:t>
            </a:r>
            <a:endParaRPr lang="en-US" sz="2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2074954"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api/main.py</a:t>
            </a:r>
            <a:endParaRPr lang="en-US" sz="2250" dirty="0"/>
          </a:p>
        </p:txBody>
      </p:sp>
      <p:sp>
        <p:nvSpPr>
          <p:cNvPr id="5" name="Text 3"/>
          <p:cNvSpPr/>
          <p:nvPr/>
        </p:nvSpPr>
        <p:spPr>
          <a:xfrm>
            <a:off x="3524622" y="1894136"/>
            <a:ext cx="580879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the browser is a different origin</a:t>
            </a:r>
            <a:endParaRPr lang="en-US" sz="2100" dirty="0"/>
          </a:p>
        </p:txBody>
      </p:sp>
      <p:sp>
        <p:nvSpPr>
          <p:cNvPr id="6" name="Shape 4"/>
          <p:cNvSpPr/>
          <p:nvPr/>
        </p:nvSpPr>
        <p:spPr>
          <a:xfrm>
            <a:off x="1143000" y="2723852"/>
            <a:ext cx="16002000" cy="3905250"/>
          </a:xfrm>
          <a:prstGeom prst="rect">
            <a:avLst/>
          </a:prstGeom>
          <a:solidFill>
            <a:srgbClr val="EAE9E9"/>
          </a:solidFill>
          <a:ln/>
        </p:spPr>
        <p:txBody>
          <a:bodyPr/>
          <a:lstStyle/>
          <a:p>
            <a:endParaRPr lang="en-US"/>
          </a:p>
        </p:txBody>
      </p:sp>
      <p:sp>
        <p:nvSpPr>
          <p:cNvPr id="7" name="Text 5"/>
          <p:cNvSpPr/>
          <p:nvPr/>
        </p:nvSpPr>
        <p:spPr>
          <a:xfrm>
            <a:off x="1562100" y="3057227"/>
            <a:ext cx="7946708" cy="146208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from fastapi.middleware.cors import CORSMiddleware</a:t>
            </a:r>
            <a:endParaRPr lang="en-US" sz="2025" dirty="0"/>
          </a:p>
          <a:p>
            <a:pPr marL="0" indent="0" algn="l">
              <a:lnSpc>
                <a:spcPct val="124590"/>
              </a:lnSpc>
              <a:buNone/>
            </a:pP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app.add_middleware(</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CORSMiddleware,</a:t>
            </a:r>
            <a:endParaRPr lang="en-US" sz="2025" dirty="0"/>
          </a:p>
        </p:txBody>
      </p:sp>
      <p:sp>
        <p:nvSpPr>
          <p:cNvPr id="8" name="Shape 6"/>
          <p:cNvSpPr/>
          <p:nvPr/>
        </p:nvSpPr>
        <p:spPr>
          <a:xfrm>
            <a:off x="1143000" y="4495502"/>
            <a:ext cx="16002000" cy="361950"/>
          </a:xfrm>
          <a:prstGeom prst="rect">
            <a:avLst/>
          </a:prstGeom>
          <a:solidFill>
            <a:srgbClr val="FFF2EF"/>
          </a:solidFill>
          <a:ln/>
        </p:spPr>
        <p:txBody>
          <a:bodyPr/>
          <a:lstStyle/>
          <a:p>
            <a:endParaRPr lang="en-US"/>
          </a:p>
        </p:txBody>
      </p:sp>
      <p:sp>
        <p:nvSpPr>
          <p:cNvPr id="9" name="Text 7"/>
          <p:cNvSpPr/>
          <p:nvPr/>
        </p:nvSpPr>
        <p:spPr>
          <a:xfrm>
            <a:off x="1562100" y="4495502"/>
            <a:ext cx="15643860" cy="400050"/>
          </a:xfrm>
          <a:prstGeom prst="rect">
            <a:avLst/>
          </a:prstGeom>
          <a:noFill/>
          <a:ln/>
        </p:spPr>
        <p:txBody>
          <a:bodyPr wrap="none" lIns="25400" tIns="25400" rIns="25400" bIns="2540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allow_origins=["http://localhost:3000"],</a:t>
            </a:r>
            <a:endParaRPr lang="en-US" sz="2025" dirty="0"/>
          </a:p>
        </p:txBody>
      </p:sp>
      <p:sp>
        <p:nvSpPr>
          <p:cNvPr id="10" name="Text 8"/>
          <p:cNvSpPr/>
          <p:nvPr/>
        </p:nvSpPr>
        <p:spPr>
          <a:xfrm>
            <a:off x="1562100" y="5228927"/>
            <a:ext cx="3814466" cy="1100138"/>
          </a:xfrm>
          <a:prstGeom prst="rect">
            <a:avLst/>
          </a:prstGeom>
          <a:noFill/>
          <a:ln/>
        </p:spPr>
        <p:txBody>
          <a:bodyPr wrap="none" lIns="0" tIns="0" rIns="0" bIns="0" rtlCol="0" anchor="t">
            <a:normAutofit/>
          </a:bodyPr>
          <a:lstStyle/>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allow_methods=["*"],</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    allow_headers=["*"],</a:t>
            </a:r>
            <a:endParaRPr lang="en-US" sz="2025" dirty="0"/>
          </a:p>
          <a:p>
            <a:pPr marL="0" indent="0" algn="l">
              <a:lnSpc>
                <a:spcPct val="124590"/>
              </a:lnSpc>
              <a:buNone/>
            </a:pPr>
            <a:r>
              <a:rPr lang="en-US" sz="2025" dirty="0">
                <a:solidFill>
                  <a:srgbClr val="201E1D"/>
                </a:solidFill>
                <a:latin typeface="Courier New" pitchFamily="34" charset="0"/>
                <a:ea typeface="Courier New" pitchFamily="34" charset="-122"/>
                <a:cs typeface="Courier New" pitchFamily="34" charset="-120"/>
              </a:rPr>
              <a:t>)</a:t>
            </a:r>
            <a:endParaRPr lang="en-US" sz="2025" dirty="0"/>
          </a:p>
        </p:txBody>
      </p:sp>
      <p:sp>
        <p:nvSpPr>
          <p:cNvPr id="11" name="Text 9"/>
          <p:cNvSpPr/>
          <p:nvPr/>
        </p:nvSpPr>
        <p:spPr>
          <a:xfrm>
            <a:off x="1143000" y="6921624"/>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The page at </a:t>
            </a:r>
            <a:r>
              <a:rPr lang="en-US" sz="1875" dirty="0">
                <a:solidFill>
                  <a:srgbClr val="211D1D">
                    <a:alpha val="55000"/>
                  </a:srgbClr>
                </a:solidFill>
                <a:latin typeface="Courier New" pitchFamily="34" charset="0"/>
                <a:ea typeface="Courier New" pitchFamily="34" charset="-122"/>
                <a:cs typeface="Courier New" pitchFamily="34" charset="-120"/>
              </a:rPr>
              <a:t>:3000 </a:t>
            </a:r>
            <a:r>
              <a:rPr lang="en-US" sz="2100" dirty="0">
                <a:solidFill>
                  <a:srgbClr val="211D1D">
                    <a:alpha val="55000"/>
                  </a:srgbClr>
                </a:solidFill>
                <a:latin typeface="Arial" pitchFamily="34" charset="0"/>
                <a:ea typeface="Arial" pitchFamily="34" charset="-122"/>
                <a:cs typeface="Arial" pitchFamily="34" charset="-120"/>
              </a:rPr>
              <a:t>and the api at </a:t>
            </a:r>
            <a:r>
              <a:rPr lang="en-US" sz="1875" dirty="0">
                <a:solidFill>
                  <a:srgbClr val="211D1D">
                    <a:alpha val="55000"/>
                  </a:srgbClr>
                </a:solidFill>
                <a:latin typeface="Courier New" pitchFamily="34" charset="0"/>
                <a:ea typeface="Courier New" pitchFamily="34" charset="-122"/>
                <a:cs typeface="Courier New" pitchFamily="34" charset="-120"/>
              </a:rPr>
              <a:t>:8000 </a:t>
            </a:r>
            <a:r>
              <a:rPr lang="en-US" sz="2100" dirty="0">
                <a:solidFill>
                  <a:srgbClr val="211D1D">
                    <a:alpha val="55000"/>
                  </a:srgbClr>
                </a:solidFill>
                <a:latin typeface="Arial" pitchFamily="34" charset="0"/>
                <a:ea typeface="Arial" pitchFamily="34" charset="-122"/>
                <a:cs typeface="Arial" pitchFamily="34" charset="-120"/>
              </a:rPr>
              <a:t>are different origins, so the browser blocks the call until the api opts in. This is the browser enforcing the contract between origins — not a bug in FastAPI.</a:t>
            </a:r>
            <a:endParaRPr lang="en-US" sz="2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YOU FILL THE BLANKS</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3018011"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web/app/page.tsx</a:t>
            </a:r>
            <a:endParaRPr lang="en-US" sz="2250" dirty="0"/>
          </a:p>
        </p:txBody>
      </p:sp>
      <p:sp>
        <p:nvSpPr>
          <p:cNvPr id="5" name="Text 3"/>
          <p:cNvSpPr/>
          <p:nvPr/>
        </p:nvSpPr>
        <p:spPr>
          <a:xfrm>
            <a:off x="4381946" y="1894136"/>
            <a:ext cx="3872500"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1 / 2 — fetch the list</a:t>
            </a:r>
            <a:endParaRPr lang="en-US" sz="2100" dirty="0"/>
          </a:p>
        </p:txBody>
      </p:sp>
      <p:sp>
        <p:nvSpPr>
          <p:cNvPr id="6" name="Shape 4"/>
          <p:cNvSpPr/>
          <p:nvPr/>
        </p:nvSpPr>
        <p:spPr>
          <a:xfrm>
            <a:off x="1143000" y="2732187"/>
            <a:ext cx="16002000" cy="5715000"/>
          </a:xfrm>
          <a:prstGeom prst="rect">
            <a:avLst/>
          </a:prstGeom>
          <a:solidFill>
            <a:srgbClr val="EAE9E9"/>
          </a:solidFill>
          <a:ln/>
        </p:spPr>
        <p:txBody>
          <a:bodyPr/>
          <a:lstStyle/>
          <a:p>
            <a:endParaRPr lang="en-US"/>
          </a:p>
        </p:txBody>
      </p:sp>
      <p:sp>
        <p:nvSpPr>
          <p:cNvPr id="7" name="Text 5"/>
          <p:cNvSpPr/>
          <p:nvPr/>
        </p:nvSpPr>
        <p:spPr>
          <a:xfrm>
            <a:off x="1524000" y="2998887"/>
            <a:ext cx="6216107" cy="2166938"/>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"use client";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import { useEffect, useState } from "react";</a:t>
            </a:r>
            <a:endParaRPr lang="en-US" sz="1800" dirty="0"/>
          </a:p>
          <a:p>
            <a:pPr marL="0" indent="0" algn="l">
              <a:lnSpc>
                <a:spcPct val="118519"/>
              </a:lnSpc>
              <a:buNone/>
            </a:pP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type Application =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id: number; applicant_name: string;</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amount_requested: number; status: string;</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a:t>
            </a:r>
            <a:endParaRPr lang="en-US" sz="1800" dirty="0"/>
          </a:p>
        </p:txBody>
      </p:sp>
      <p:sp>
        <p:nvSpPr>
          <p:cNvPr id="8" name="Shape 6"/>
          <p:cNvSpPr/>
          <p:nvPr/>
        </p:nvSpPr>
        <p:spPr>
          <a:xfrm>
            <a:off x="1143000" y="5437287"/>
            <a:ext cx="16002000" cy="304800"/>
          </a:xfrm>
          <a:prstGeom prst="rect">
            <a:avLst/>
          </a:prstGeom>
          <a:solidFill>
            <a:srgbClr val="FFF2EF"/>
          </a:solidFill>
          <a:ln/>
        </p:spPr>
        <p:txBody>
          <a:bodyPr/>
          <a:lstStyle/>
          <a:p>
            <a:endParaRPr lang="en-US"/>
          </a:p>
        </p:txBody>
      </p:sp>
      <p:sp>
        <p:nvSpPr>
          <p:cNvPr id="9" name="Text 7"/>
          <p:cNvSpPr/>
          <p:nvPr/>
        </p:nvSpPr>
        <p:spPr>
          <a:xfrm>
            <a:off x="1524000" y="5437287"/>
            <a:ext cx="15720060" cy="342900"/>
          </a:xfrm>
          <a:prstGeom prst="rect">
            <a:avLst/>
          </a:prstGeom>
          <a:noFill/>
          <a:ln/>
        </p:spPr>
        <p:txBody>
          <a:bodyPr wrap="none" lIns="25400" tIns="25400" rIns="25400" bIns="2540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const API = process.env.NEXT_PUBLIC_API_URL ?? "http://localhost:8000";</a:t>
            </a:r>
            <a:endParaRPr lang="en-US" sz="1800" dirty="0"/>
          </a:p>
        </p:txBody>
      </p:sp>
      <p:sp>
        <p:nvSpPr>
          <p:cNvPr id="10" name="Text 8"/>
          <p:cNvSpPr/>
          <p:nvPr/>
        </p:nvSpPr>
        <p:spPr>
          <a:xfrm>
            <a:off x="1524000" y="6351687"/>
            <a:ext cx="9747977" cy="1862138"/>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export default function Home()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const [apps, setApps] = useState&lt;Application[]&gt;([]);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const [name, setName] = useState("");</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const load = () =&gt;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fetch(`${API}/applications`).then((r) =&gt; r.json()).then(setApps);</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useEffect(() =&gt; { load(); }, []);</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YOU FILL THE BLANKS</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3018011"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web/app/page.tsx</a:t>
            </a:r>
            <a:endParaRPr lang="en-US" sz="2250" dirty="0"/>
          </a:p>
        </p:txBody>
      </p:sp>
      <p:sp>
        <p:nvSpPr>
          <p:cNvPr id="5" name="Text 3"/>
          <p:cNvSpPr/>
          <p:nvPr/>
        </p:nvSpPr>
        <p:spPr>
          <a:xfrm>
            <a:off x="4381946" y="1894136"/>
            <a:ext cx="404857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2 / 2 — submit &amp; render</a:t>
            </a:r>
            <a:endParaRPr lang="en-US" sz="2100" dirty="0"/>
          </a:p>
        </p:txBody>
      </p:sp>
      <p:sp>
        <p:nvSpPr>
          <p:cNvPr id="6" name="Shape 4"/>
          <p:cNvSpPr/>
          <p:nvPr/>
        </p:nvSpPr>
        <p:spPr>
          <a:xfrm>
            <a:off x="1143000" y="2732187"/>
            <a:ext cx="16002000" cy="6411813"/>
          </a:xfrm>
          <a:prstGeom prst="rect">
            <a:avLst/>
          </a:prstGeom>
          <a:solidFill>
            <a:srgbClr val="EAE9E9"/>
          </a:solidFill>
          <a:ln/>
        </p:spPr>
        <p:txBody>
          <a:bodyPr/>
          <a:lstStyle/>
          <a:p>
            <a:endParaRPr lang="en-US"/>
          </a:p>
        </p:txBody>
      </p:sp>
      <p:sp>
        <p:nvSpPr>
          <p:cNvPr id="7" name="Text 5"/>
          <p:cNvSpPr/>
          <p:nvPr/>
        </p:nvSpPr>
        <p:spPr>
          <a:xfrm>
            <a:off x="1524000" y="2998887"/>
            <a:ext cx="10313091" cy="3995738"/>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const submit = async () =&gt;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await fetch(`${API}/applications`,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method: "POST",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headers: { "Content-Type": "application/json"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body: JSON.stringify({ applicant_name: name, monthly_income: 50000,</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amount_requested: 200000, purpose: "working_capital"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setName(""); load();</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return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&lt;main&gt;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&lt;input value={name} onChange={(e) =&gt; setName(e.target.value)} /&gt;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&lt;button onClick={submit}&gt;Submit&lt;/button&gt;</a:t>
            </a:r>
            <a:endParaRPr lang="en-US" sz="1800" dirty="0"/>
          </a:p>
        </p:txBody>
      </p:sp>
      <p:sp>
        <p:nvSpPr>
          <p:cNvPr id="8" name="Shape 6"/>
          <p:cNvSpPr/>
          <p:nvPr/>
        </p:nvSpPr>
        <p:spPr>
          <a:xfrm>
            <a:off x="1143000" y="6961287"/>
            <a:ext cx="16002000" cy="914400"/>
          </a:xfrm>
          <a:prstGeom prst="rect">
            <a:avLst/>
          </a:prstGeom>
          <a:solidFill>
            <a:srgbClr val="FFF2EF"/>
          </a:solidFill>
          <a:ln/>
        </p:spPr>
        <p:txBody>
          <a:bodyPr/>
          <a:lstStyle/>
          <a:p>
            <a:endParaRPr lang="en-US"/>
          </a:p>
        </p:txBody>
      </p:sp>
      <p:sp>
        <p:nvSpPr>
          <p:cNvPr id="9" name="Text 7"/>
          <p:cNvSpPr/>
          <p:nvPr/>
        </p:nvSpPr>
        <p:spPr>
          <a:xfrm>
            <a:off x="1524000" y="6961287"/>
            <a:ext cx="15720060" cy="952500"/>
          </a:xfrm>
          <a:prstGeom prst="rect">
            <a:avLst/>
          </a:prstGeom>
          <a:noFill/>
          <a:ln/>
        </p:spPr>
        <p:txBody>
          <a:bodyPr wrap="none" lIns="25400" tIns="25400" rIns="25400" bIns="2540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&lt;ul&gt;{apps.map((a) =&gt;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&lt;li key={a.id}&gt;#{a.id} {a.applicant_name} ({a.status})&lt;/li&gt;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))}&lt;/ul&gt;</a:t>
            </a:r>
            <a:endParaRPr lang="en-US" sz="1800" dirty="0"/>
          </a:p>
        </p:txBody>
      </p:sp>
      <p:sp>
        <p:nvSpPr>
          <p:cNvPr id="10" name="Text 8"/>
          <p:cNvSpPr/>
          <p:nvPr/>
        </p:nvSpPr>
        <p:spPr>
          <a:xfrm>
            <a:off x="1524000" y="8180487"/>
            <a:ext cx="1585020" cy="947737"/>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&lt;/main&gt;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a:t>
            </a:r>
            <a:endParaRPr lang="en-US"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3395283"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docker-compose.yml</a:t>
            </a:r>
            <a:endParaRPr lang="en-US" sz="2250" dirty="0"/>
          </a:p>
        </p:txBody>
      </p:sp>
      <p:sp>
        <p:nvSpPr>
          <p:cNvPr id="5" name="Text 3"/>
          <p:cNvSpPr/>
          <p:nvPr/>
        </p:nvSpPr>
        <p:spPr>
          <a:xfrm>
            <a:off x="4724921" y="1894136"/>
            <a:ext cx="422456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the db service, provided</a:t>
            </a:r>
            <a:endParaRPr lang="en-US" sz="2100" dirty="0"/>
          </a:p>
        </p:txBody>
      </p:sp>
      <p:sp>
        <p:nvSpPr>
          <p:cNvPr id="6" name="Shape 4"/>
          <p:cNvSpPr/>
          <p:nvPr/>
        </p:nvSpPr>
        <p:spPr>
          <a:xfrm>
            <a:off x="1143000" y="2732187"/>
            <a:ext cx="16002000" cy="4495800"/>
          </a:xfrm>
          <a:prstGeom prst="rect">
            <a:avLst/>
          </a:prstGeom>
          <a:solidFill>
            <a:srgbClr val="EAE9E9"/>
          </a:solidFill>
          <a:ln/>
        </p:spPr>
        <p:txBody>
          <a:bodyPr/>
          <a:lstStyle/>
          <a:p>
            <a:endParaRPr lang="en-US"/>
          </a:p>
        </p:txBody>
      </p:sp>
      <p:sp>
        <p:nvSpPr>
          <p:cNvPr id="7" name="Text 5"/>
          <p:cNvSpPr/>
          <p:nvPr/>
        </p:nvSpPr>
        <p:spPr>
          <a:xfrm>
            <a:off x="1524000" y="2998887"/>
            <a:ext cx="8193969" cy="2776537"/>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services:</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db:</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image: postgres:16-alpine</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environment: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POSTGRES_USER: intake</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POSTGRES_PASSWORD: intake</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POSTGRES_DB: intake</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volumes:</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 ./db/init.sql:/docker-entrypoint-initdb.d/init.sql</a:t>
            </a:r>
            <a:endParaRPr lang="en-US" sz="1800" dirty="0"/>
          </a:p>
        </p:txBody>
      </p:sp>
      <p:sp>
        <p:nvSpPr>
          <p:cNvPr id="8" name="Shape 6"/>
          <p:cNvSpPr/>
          <p:nvPr/>
        </p:nvSpPr>
        <p:spPr>
          <a:xfrm>
            <a:off x="1143000" y="5742087"/>
            <a:ext cx="16002000" cy="1219200"/>
          </a:xfrm>
          <a:prstGeom prst="rect">
            <a:avLst/>
          </a:prstGeom>
          <a:solidFill>
            <a:srgbClr val="FFF2EF"/>
          </a:solidFill>
          <a:ln/>
        </p:spPr>
        <p:txBody>
          <a:bodyPr/>
          <a:lstStyle/>
          <a:p>
            <a:endParaRPr lang="en-US"/>
          </a:p>
        </p:txBody>
      </p:sp>
      <p:sp>
        <p:nvSpPr>
          <p:cNvPr id="9" name="Text 7"/>
          <p:cNvSpPr/>
          <p:nvPr/>
        </p:nvSpPr>
        <p:spPr>
          <a:xfrm>
            <a:off x="1524000" y="5742087"/>
            <a:ext cx="15720060" cy="1257300"/>
          </a:xfrm>
          <a:prstGeom prst="rect">
            <a:avLst/>
          </a:prstGeom>
          <a:noFill/>
          <a:ln/>
        </p:spPr>
        <p:txBody>
          <a:bodyPr wrap="none" lIns="25400" tIns="25400" rIns="25400" bIns="2540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healthcheck:</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test: ["CMD-SHELL", "pg_isready -U intake"]</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interval: 2s</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retries: 15</a:t>
            </a:r>
            <a:endParaRPr lang="en-US" sz="1800" dirty="0"/>
          </a:p>
        </p:txBody>
      </p:sp>
      <p:sp>
        <p:nvSpPr>
          <p:cNvPr id="10" name="Text 8"/>
          <p:cNvSpPr/>
          <p:nvPr/>
        </p:nvSpPr>
        <p:spPr>
          <a:xfrm>
            <a:off x="1143000" y="7520508"/>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The mounted </a:t>
            </a:r>
            <a:r>
              <a:rPr lang="en-US" sz="1875" dirty="0">
                <a:solidFill>
                  <a:srgbClr val="211D1D">
                    <a:alpha val="55000"/>
                  </a:srgbClr>
                </a:solidFill>
                <a:latin typeface="Courier New" pitchFamily="34" charset="0"/>
                <a:ea typeface="Courier New" pitchFamily="34" charset="-122"/>
                <a:cs typeface="Courier New" pitchFamily="34" charset="-120"/>
              </a:rPr>
              <a:t>init.sql </a:t>
            </a:r>
            <a:r>
              <a:rPr lang="en-US" sz="2100" dirty="0">
                <a:solidFill>
                  <a:srgbClr val="211D1D">
                    <a:alpha val="55000"/>
                  </a:srgbClr>
                </a:solidFill>
                <a:latin typeface="Arial" pitchFamily="34" charset="0"/>
                <a:ea typeface="Arial" pitchFamily="34" charset="-122"/>
                <a:cs typeface="Arial" pitchFamily="34" charset="-120"/>
              </a:rPr>
              <a:t>runs once, on first boot. The healthcheck is how the api knows the database is actually ready — not merely started.</a:t>
            </a:r>
            <a:endParaRPr lang="en-US" sz="2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YOU COMPLETE THE API SERVICE</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3395283"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docker-compose.yml</a:t>
            </a:r>
            <a:endParaRPr lang="en-US" sz="2250" dirty="0"/>
          </a:p>
        </p:txBody>
      </p:sp>
      <p:sp>
        <p:nvSpPr>
          <p:cNvPr id="5" name="Text 3"/>
          <p:cNvSpPr/>
          <p:nvPr/>
        </p:nvSpPr>
        <p:spPr>
          <a:xfrm>
            <a:off x="4724921" y="1894136"/>
            <a:ext cx="3872500"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the api &amp; web services</a:t>
            </a:r>
            <a:endParaRPr lang="en-US" sz="2100" dirty="0"/>
          </a:p>
        </p:txBody>
      </p:sp>
      <p:sp>
        <p:nvSpPr>
          <p:cNvPr id="6" name="Shape 4"/>
          <p:cNvSpPr/>
          <p:nvPr/>
        </p:nvSpPr>
        <p:spPr>
          <a:xfrm>
            <a:off x="1143000" y="2732187"/>
            <a:ext cx="16002000" cy="5105400"/>
          </a:xfrm>
          <a:prstGeom prst="rect">
            <a:avLst/>
          </a:prstGeom>
          <a:solidFill>
            <a:srgbClr val="EAE9E9"/>
          </a:solidFill>
          <a:ln/>
        </p:spPr>
        <p:txBody>
          <a:bodyPr/>
          <a:lstStyle/>
          <a:p>
            <a:endParaRPr lang="en-US"/>
          </a:p>
        </p:txBody>
      </p:sp>
      <p:sp>
        <p:nvSpPr>
          <p:cNvPr id="7" name="Text 5"/>
          <p:cNvSpPr/>
          <p:nvPr/>
        </p:nvSpPr>
        <p:spPr>
          <a:xfrm>
            <a:off x="1524000" y="2998887"/>
            <a:ext cx="2270820" cy="947737"/>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api:</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build: ./api</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environment:</a:t>
            </a:r>
            <a:endParaRPr lang="en-US" sz="1800" dirty="0"/>
          </a:p>
        </p:txBody>
      </p:sp>
      <p:sp>
        <p:nvSpPr>
          <p:cNvPr id="8" name="Shape 6"/>
          <p:cNvSpPr/>
          <p:nvPr/>
        </p:nvSpPr>
        <p:spPr>
          <a:xfrm>
            <a:off x="1143000" y="3913287"/>
            <a:ext cx="16002000" cy="304800"/>
          </a:xfrm>
          <a:prstGeom prst="rect">
            <a:avLst/>
          </a:prstGeom>
          <a:solidFill>
            <a:srgbClr val="FFF2EF"/>
          </a:solidFill>
          <a:ln/>
        </p:spPr>
        <p:txBody>
          <a:bodyPr/>
          <a:lstStyle/>
          <a:p>
            <a:endParaRPr lang="en-US"/>
          </a:p>
        </p:txBody>
      </p:sp>
      <p:sp>
        <p:nvSpPr>
          <p:cNvPr id="9" name="Text 7"/>
          <p:cNvSpPr/>
          <p:nvPr/>
        </p:nvSpPr>
        <p:spPr>
          <a:xfrm>
            <a:off x="1524000" y="3913287"/>
            <a:ext cx="15720060" cy="342900"/>
          </a:xfrm>
          <a:prstGeom prst="rect">
            <a:avLst/>
          </a:prstGeom>
          <a:noFill/>
          <a:ln/>
        </p:spPr>
        <p:txBody>
          <a:bodyPr wrap="none" lIns="25400" tIns="25400" rIns="25400" bIns="2540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DATABASE_URL: postgresql://intake:intake@db:5432/intake</a:t>
            </a:r>
            <a:endParaRPr lang="en-US" sz="1800" dirty="0"/>
          </a:p>
        </p:txBody>
      </p:sp>
      <p:sp>
        <p:nvSpPr>
          <p:cNvPr id="10" name="Text 8"/>
          <p:cNvSpPr/>
          <p:nvPr/>
        </p:nvSpPr>
        <p:spPr>
          <a:xfrm>
            <a:off x="1524000" y="4522887"/>
            <a:ext cx="6781221" cy="3081338"/>
          </a:xfrm>
          <a:prstGeom prst="rect">
            <a:avLst/>
          </a:prstGeom>
          <a:noFill/>
          <a:ln/>
        </p:spPr>
        <p:txBody>
          <a:bodyPr wrap="none" lIns="0" tIns="0" rIns="0" bIns="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ports: ["8000:8000"]</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depends_on:</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db: { condition: service_healthy }</a:t>
            </a:r>
            <a:endParaRPr lang="en-US" sz="1800" dirty="0"/>
          </a:p>
          <a:p>
            <a:pPr marL="0" indent="0" algn="l">
              <a:lnSpc>
                <a:spcPct val="118519"/>
              </a:lnSpc>
              <a:buNone/>
            </a:pP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web:</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build: ./web</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environment: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NEXT_PUBLIC_API_URL: http://localhost:8000</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ports: ["3000:3000"]</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depends_on: [api]</a:t>
            </a:r>
            <a:endParaRPr lang="en-US" sz="1800" dirty="0"/>
          </a:p>
        </p:txBody>
      </p:sp>
      <p:sp>
        <p:nvSpPr>
          <p:cNvPr id="11" name="Text 9"/>
          <p:cNvSpPr/>
          <p:nvPr/>
        </p:nvSpPr>
        <p:spPr>
          <a:xfrm>
            <a:off x="1143000" y="8130108"/>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Note the two hostnames: the api reaches Postgres at </a:t>
            </a:r>
            <a:r>
              <a:rPr lang="en-US" sz="1875" dirty="0">
                <a:solidFill>
                  <a:srgbClr val="211D1D">
                    <a:alpha val="55000"/>
                  </a:srgbClr>
                </a:solidFill>
                <a:latin typeface="Courier New" pitchFamily="34" charset="0"/>
                <a:ea typeface="Courier New" pitchFamily="34" charset="-122"/>
                <a:cs typeface="Courier New" pitchFamily="34" charset="-120"/>
              </a:rPr>
              <a:t>db </a:t>
            </a:r>
            <a:r>
              <a:rPr lang="en-US" sz="2100" dirty="0">
                <a:solidFill>
                  <a:srgbClr val="211D1D">
                    <a:alpha val="55000"/>
                  </a:srgbClr>
                </a:solidFill>
                <a:latin typeface="Arial" pitchFamily="34" charset="0"/>
                <a:ea typeface="Arial" pitchFamily="34" charset="-122"/>
                <a:cs typeface="Arial" pitchFamily="34" charset="-120"/>
              </a:rPr>
              <a:t>(inside the network), while the browser reaches the api at </a:t>
            </a:r>
            <a:r>
              <a:rPr lang="en-US" sz="1875" dirty="0">
                <a:solidFill>
                  <a:srgbClr val="211D1D">
                    <a:alpha val="55000"/>
                  </a:srgbClr>
                </a:solidFill>
                <a:latin typeface="Courier New" pitchFamily="34" charset="0"/>
                <a:ea typeface="Courier New" pitchFamily="34" charset="-122"/>
                <a:cs typeface="Courier New" pitchFamily="34" charset="-120"/>
              </a:rPr>
              <a:t>localhost </a:t>
            </a:r>
            <a:r>
              <a:rPr lang="en-US" sz="2100" dirty="0">
                <a:solidFill>
                  <a:srgbClr val="211D1D">
                    <a:alpha val="55000"/>
                  </a:srgbClr>
                </a:solidFill>
                <a:latin typeface="Arial" pitchFamily="34" charset="0"/>
                <a:ea typeface="Arial" pitchFamily="34" charset="-122"/>
                <a:cs typeface="Arial" pitchFamily="34" charset="-120"/>
              </a:rPr>
              <a:t>(outside it).</a:t>
            </a:r>
            <a:endParaRPr lang="en-US" sz="2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PROVIDED</a:t>
            </a:r>
            <a:endParaRPr lang="en-US" sz="1800" dirty="0"/>
          </a:p>
        </p:txBody>
      </p:sp>
      <p:sp>
        <p:nvSpPr>
          <p:cNvPr id="3" name="Shape 1"/>
          <p:cNvSpPr/>
          <p:nvPr/>
        </p:nvSpPr>
        <p:spPr>
          <a:xfrm>
            <a:off x="1143000" y="2106439"/>
            <a:ext cx="152400" cy="285750"/>
          </a:xfrm>
          <a:prstGeom prst="rect">
            <a:avLst/>
          </a:prstGeom>
          <a:solidFill>
            <a:srgbClr val="EC3013"/>
          </a:solidFill>
          <a:ln/>
        </p:spPr>
        <p:txBody>
          <a:bodyPr/>
          <a:lstStyle/>
          <a:p>
            <a:endParaRPr lang="en-US"/>
          </a:p>
        </p:txBody>
      </p:sp>
      <p:sp>
        <p:nvSpPr>
          <p:cNvPr id="4" name="Text 2"/>
          <p:cNvSpPr/>
          <p:nvPr/>
        </p:nvSpPr>
        <p:spPr>
          <a:xfrm>
            <a:off x="1466850" y="2057400"/>
            <a:ext cx="2288679" cy="421928"/>
          </a:xfrm>
          <a:prstGeom prst="rect">
            <a:avLst/>
          </a:prstGeom>
          <a:noFill/>
          <a:ln/>
        </p:spPr>
        <p:txBody>
          <a:bodyPr wrap="square" lIns="25400" tIns="25400" rIns="25400" bIns="25400" rtlCol="0" anchor="t">
            <a:normAutofit/>
          </a:bodyPr>
          <a:lstStyle/>
          <a:p>
            <a:pPr marL="0" indent="0" algn="l">
              <a:lnSpc>
                <a:spcPct val="136610"/>
              </a:lnSpc>
              <a:buNone/>
            </a:pPr>
            <a:r>
              <a:rPr lang="en-US" sz="1950" b="1" dirty="0">
                <a:solidFill>
                  <a:srgbClr val="201E1D"/>
                </a:solidFill>
                <a:latin typeface="Courier New" pitchFamily="34" charset="0"/>
                <a:ea typeface="Courier New" pitchFamily="34" charset="-122"/>
                <a:cs typeface="Courier New" pitchFamily="34" charset="-120"/>
              </a:rPr>
              <a:t>api/Dockerfile</a:t>
            </a:r>
            <a:endParaRPr lang="en-US" sz="1950" dirty="0"/>
          </a:p>
        </p:txBody>
      </p:sp>
      <p:sp>
        <p:nvSpPr>
          <p:cNvPr id="5" name="Shape 3"/>
          <p:cNvSpPr/>
          <p:nvPr/>
        </p:nvSpPr>
        <p:spPr>
          <a:xfrm>
            <a:off x="1143000" y="2574578"/>
            <a:ext cx="7772400" cy="3276600"/>
          </a:xfrm>
          <a:prstGeom prst="rect">
            <a:avLst/>
          </a:prstGeom>
          <a:solidFill>
            <a:srgbClr val="EAE9E9"/>
          </a:solidFill>
          <a:ln/>
        </p:spPr>
        <p:txBody>
          <a:bodyPr/>
          <a:lstStyle/>
          <a:p>
            <a:endParaRPr lang="en-US"/>
          </a:p>
        </p:txBody>
      </p:sp>
      <p:sp>
        <p:nvSpPr>
          <p:cNvPr id="6" name="Text 4"/>
          <p:cNvSpPr/>
          <p:nvPr/>
        </p:nvSpPr>
        <p:spPr>
          <a:xfrm>
            <a:off x="1524000" y="2841278"/>
            <a:ext cx="7243572" cy="2781300"/>
          </a:xfrm>
          <a:prstGeom prst="rect">
            <a:avLst/>
          </a:prstGeom>
          <a:noFill/>
          <a:ln/>
        </p:spPr>
        <p:txBody>
          <a:bodyPr wrap="none" lIns="25400" tIns="25400" rIns="25400" bIns="2540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FROM python:3.11-slim</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WORKDIR /app</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COPY requirements.txt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RUN pip install --no-cache-dir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-r requirements.txt</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COPY .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CMD ["uvicorn", "main:app",</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"--host", "0.0.0.0",</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     "--port", "8000"]</a:t>
            </a:r>
            <a:endParaRPr lang="en-US" sz="1800" dirty="0"/>
          </a:p>
        </p:txBody>
      </p:sp>
      <p:sp>
        <p:nvSpPr>
          <p:cNvPr id="7" name="Shape 5"/>
          <p:cNvSpPr/>
          <p:nvPr/>
        </p:nvSpPr>
        <p:spPr>
          <a:xfrm>
            <a:off x="9372600" y="2106439"/>
            <a:ext cx="152400" cy="285750"/>
          </a:xfrm>
          <a:prstGeom prst="rect">
            <a:avLst/>
          </a:prstGeom>
          <a:solidFill>
            <a:srgbClr val="EC3013"/>
          </a:solidFill>
          <a:ln/>
        </p:spPr>
        <p:txBody>
          <a:bodyPr/>
          <a:lstStyle/>
          <a:p>
            <a:endParaRPr lang="en-US"/>
          </a:p>
        </p:txBody>
      </p:sp>
      <p:sp>
        <p:nvSpPr>
          <p:cNvPr id="8" name="Text 6"/>
          <p:cNvSpPr/>
          <p:nvPr/>
        </p:nvSpPr>
        <p:spPr>
          <a:xfrm>
            <a:off x="9696450" y="2057400"/>
            <a:ext cx="2288679" cy="421928"/>
          </a:xfrm>
          <a:prstGeom prst="rect">
            <a:avLst/>
          </a:prstGeom>
          <a:noFill/>
          <a:ln/>
        </p:spPr>
        <p:txBody>
          <a:bodyPr wrap="square" lIns="25400" tIns="25400" rIns="25400" bIns="25400" rtlCol="0" anchor="t">
            <a:normAutofit/>
          </a:bodyPr>
          <a:lstStyle/>
          <a:p>
            <a:pPr marL="0" indent="0" algn="l">
              <a:lnSpc>
                <a:spcPct val="136610"/>
              </a:lnSpc>
              <a:buNone/>
            </a:pPr>
            <a:r>
              <a:rPr lang="en-US" sz="1950" b="1" dirty="0">
                <a:solidFill>
                  <a:srgbClr val="201E1D"/>
                </a:solidFill>
                <a:latin typeface="Courier New" pitchFamily="34" charset="0"/>
                <a:ea typeface="Courier New" pitchFamily="34" charset="-122"/>
                <a:cs typeface="Courier New" pitchFamily="34" charset="-120"/>
              </a:rPr>
              <a:t>web/Dockerfile</a:t>
            </a:r>
            <a:endParaRPr lang="en-US" sz="1950" dirty="0"/>
          </a:p>
        </p:txBody>
      </p:sp>
      <p:sp>
        <p:nvSpPr>
          <p:cNvPr id="9" name="Shape 7"/>
          <p:cNvSpPr/>
          <p:nvPr/>
        </p:nvSpPr>
        <p:spPr>
          <a:xfrm>
            <a:off x="9372600" y="2574578"/>
            <a:ext cx="7772400" cy="2362200"/>
          </a:xfrm>
          <a:prstGeom prst="rect">
            <a:avLst/>
          </a:prstGeom>
          <a:solidFill>
            <a:srgbClr val="EAE9E9"/>
          </a:solidFill>
          <a:ln/>
        </p:spPr>
        <p:txBody>
          <a:bodyPr/>
          <a:lstStyle/>
          <a:p>
            <a:endParaRPr lang="en-US"/>
          </a:p>
        </p:txBody>
      </p:sp>
      <p:sp>
        <p:nvSpPr>
          <p:cNvPr id="10" name="Text 8"/>
          <p:cNvSpPr/>
          <p:nvPr/>
        </p:nvSpPr>
        <p:spPr>
          <a:xfrm>
            <a:off x="9753600" y="2841278"/>
            <a:ext cx="7243572" cy="1866900"/>
          </a:xfrm>
          <a:prstGeom prst="rect">
            <a:avLst/>
          </a:prstGeom>
          <a:noFill/>
          <a:ln/>
        </p:spPr>
        <p:txBody>
          <a:bodyPr wrap="none" lIns="25400" tIns="25400" rIns="25400" bIns="25400" rtlCol="0" anchor="t">
            <a:normAutofit/>
          </a:bodyPr>
          <a:lstStyle/>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FROM node:20-alpine</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WORKDIR /app</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COPY package*.json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RUN npm install</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COPY . .</a:t>
            </a:r>
            <a:endParaRPr lang="en-US" sz="1800" dirty="0"/>
          </a:p>
          <a:p>
            <a:pPr marL="0" indent="0" algn="l">
              <a:lnSpc>
                <a:spcPct val="118519"/>
              </a:lnSpc>
              <a:buNone/>
            </a:pPr>
            <a:r>
              <a:rPr lang="en-US" sz="1800" dirty="0">
                <a:solidFill>
                  <a:srgbClr val="201E1D"/>
                </a:solidFill>
                <a:latin typeface="Courier New" pitchFamily="34" charset="0"/>
                <a:ea typeface="Courier New" pitchFamily="34" charset="-122"/>
                <a:cs typeface="Courier New" pitchFamily="34" charset="-120"/>
              </a:rPr>
              <a:t>CMD ["npm", "run", "dev"]</a:t>
            </a:r>
            <a:endParaRPr lang="en-US" sz="1800" dirty="0"/>
          </a:p>
        </p:txBody>
      </p:sp>
      <p:sp>
        <p:nvSpPr>
          <p:cNvPr id="11" name="Text 9"/>
          <p:cNvSpPr/>
          <p:nvPr/>
        </p:nvSpPr>
        <p:spPr>
          <a:xfrm>
            <a:off x="1143000" y="6143699"/>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1875" dirty="0">
                <a:solidFill>
                  <a:srgbClr val="211D1D">
                    <a:alpha val="55000"/>
                  </a:srgbClr>
                </a:solidFill>
                <a:latin typeface="Courier New" pitchFamily="34" charset="0"/>
                <a:ea typeface="Courier New" pitchFamily="34" charset="-122"/>
                <a:cs typeface="Courier New" pitchFamily="34" charset="-120"/>
              </a:rPr>
              <a:t>requirements.txt </a:t>
            </a:r>
            <a:r>
              <a:rPr lang="en-US" sz="2100" dirty="0">
                <a:solidFill>
                  <a:srgbClr val="211D1D">
                    <a:alpha val="55000"/>
                  </a:srgbClr>
                </a:solidFill>
                <a:latin typeface="Arial" pitchFamily="34" charset="0"/>
                <a:ea typeface="Arial" pitchFamily="34" charset="-122"/>
                <a:cs typeface="Arial" pitchFamily="34" charset="-120"/>
              </a:rPr>
              <a:t>and </a:t>
            </a:r>
            <a:r>
              <a:rPr lang="en-US" sz="1875" dirty="0">
                <a:solidFill>
                  <a:srgbClr val="211D1D">
                    <a:alpha val="55000"/>
                  </a:srgbClr>
                </a:solidFill>
                <a:latin typeface="Courier New" pitchFamily="34" charset="0"/>
                <a:ea typeface="Courier New" pitchFamily="34" charset="-122"/>
                <a:cs typeface="Courier New" pitchFamily="34" charset="-120"/>
              </a:rPr>
              <a:t>package*.json </a:t>
            </a:r>
            <a:r>
              <a:rPr lang="en-US" sz="2100" dirty="0">
                <a:solidFill>
                  <a:srgbClr val="211D1D">
                    <a:alpha val="55000"/>
                  </a:srgbClr>
                </a:solidFill>
                <a:latin typeface="Arial" pitchFamily="34" charset="0"/>
                <a:ea typeface="Arial" pitchFamily="34" charset="-122"/>
                <a:cs typeface="Arial" pitchFamily="34" charset="-120"/>
              </a:rPr>
              <a:t>are copied before the source so Docker can cache the install layer — dependencies re-install only when they change.</a:t>
            </a:r>
            <a:endParaRPr lang="en-US" sz="2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THE LAST TEN MINUTES</a:t>
            </a:r>
            <a:endParaRPr lang="en-US" sz="1800" dirty="0"/>
          </a:p>
        </p:txBody>
      </p:sp>
      <p:sp>
        <p:nvSpPr>
          <p:cNvPr id="3" name="Shape 1"/>
          <p:cNvSpPr/>
          <p:nvPr/>
        </p:nvSpPr>
        <p:spPr>
          <a:xfrm>
            <a:off x="1143000" y="1975098"/>
            <a:ext cx="152400" cy="285750"/>
          </a:xfrm>
          <a:prstGeom prst="rect">
            <a:avLst/>
          </a:prstGeom>
          <a:solidFill>
            <a:srgbClr val="EC3013"/>
          </a:solidFill>
          <a:ln/>
        </p:spPr>
        <p:txBody>
          <a:bodyPr/>
          <a:lstStyle/>
          <a:p>
            <a:endParaRPr lang="en-US"/>
          </a:p>
        </p:txBody>
      </p:sp>
      <p:sp>
        <p:nvSpPr>
          <p:cNvPr id="4" name="Text 2"/>
          <p:cNvSpPr/>
          <p:nvPr/>
        </p:nvSpPr>
        <p:spPr>
          <a:xfrm>
            <a:off x="1466850" y="1898898"/>
            <a:ext cx="2452144"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201E1D"/>
                </a:solidFill>
                <a:latin typeface="Courier New" pitchFamily="34" charset="0"/>
                <a:ea typeface="Courier New" pitchFamily="34" charset="-122"/>
                <a:cs typeface="Courier New" pitchFamily="34" charset="-120"/>
              </a:rPr>
              <a:t>Commit &amp; push</a:t>
            </a:r>
            <a:endParaRPr lang="en-US" sz="2250" dirty="0"/>
          </a:p>
        </p:txBody>
      </p:sp>
      <p:sp>
        <p:nvSpPr>
          <p:cNvPr id="5" name="Text 3"/>
          <p:cNvSpPr/>
          <p:nvPr/>
        </p:nvSpPr>
        <p:spPr>
          <a:xfrm>
            <a:off x="3867522" y="1894136"/>
            <a:ext cx="2816401" cy="451470"/>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201E1E">
                    <a:alpha val="50000"/>
                  </a:srgbClr>
                </a:solidFill>
                <a:latin typeface="Courier New" pitchFamily="34" charset="0"/>
                <a:ea typeface="Courier New" pitchFamily="34" charset="-122"/>
                <a:cs typeface="Courier New" pitchFamily="34" charset="-120"/>
              </a:rPr>
              <a:t>one clean commit</a:t>
            </a:r>
            <a:endParaRPr lang="en-US" sz="2100" dirty="0"/>
          </a:p>
        </p:txBody>
      </p:sp>
      <p:sp>
        <p:nvSpPr>
          <p:cNvPr id="6" name="Shape 4"/>
          <p:cNvSpPr/>
          <p:nvPr/>
        </p:nvSpPr>
        <p:spPr>
          <a:xfrm>
            <a:off x="1143000" y="2732187"/>
            <a:ext cx="16002000" cy="2971800"/>
          </a:xfrm>
          <a:prstGeom prst="rect">
            <a:avLst/>
          </a:prstGeom>
          <a:solidFill>
            <a:srgbClr val="EAE9E9"/>
          </a:solidFill>
          <a:ln/>
        </p:spPr>
        <p:txBody>
          <a:bodyPr/>
          <a:lstStyle/>
          <a:p>
            <a:endParaRPr lang="en-US"/>
          </a:p>
        </p:txBody>
      </p:sp>
      <p:sp>
        <p:nvSpPr>
          <p:cNvPr id="7" name="Text 5"/>
          <p:cNvSpPr/>
          <p:nvPr/>
        </p:nvSpPr>
        <p:spPr>
          <a:xfrm>
            <a:off x="1524000" y="2998887"/>
            <a:ext cx="15720060" cy="2476500"/>
          </a:xfrm>
          <a:prstGeom prst="rect">
            <a:avLst/>
          </a:prstGeom>
          <a:noFill/>
          <a:ln/>
        </p:spPr>
        <p:txBody>
          <a:bodyPr wrap="none" lIns="25400" tIns="25400" rIns="25400" bIns="25400" rtlCol="0" anchor="t">
            <a:normAutofit/>
          </a:bodyPr>
          <a:lstStyle/>
          <a:p>
            <a:pPr marL="0" indent="0" algn="l">
              <a:lnSpc>
                <a:spcPct val="118519"/>
              </a:lnSpc>
              <a:buNone/>
            </a:pPr>
            <a:r>
              <a:rPr lang="en-US" sz="1800" dirty="0">
                <a:solidFill>
                  <a:srgbClr val="211F1C">
                    <a:alpha val="46000"/>
                  </a:srgbClr>
                </a:solidFill>
                <a:latin typeface="Courier New" pitchFamily="34" charset="0"/>
                <a:ea typeface="Courier New" pitchFamily="34" charset="-122"/>
                <a:cs typeface="Courier New" pitchFamily="34" charset="-120"/>
              </a:rPr>
              <a:t># .gitignore — keep build artefacts out </a:t>
            </a:r>
            <a:r>
              <a:rPr lang="en-US" sz="1800" dirty="0">
                <a:solidFill>
                  <a:srgbClr val="201E1D"/>
                </a:solidFill>
                <a:highlight>
                  <a:srgbClr val="EAE9E9"/>
                </a:highlight>
                <a:latin typeface="Courier New" pitchFamily="34" charset="0"/>
                <a:ea typeface="Courier New" pitchFamily="34" charset="-122"/>
                <a:cs typeface="Courier New" pitchFamily="34" charset="-120"/>
              </a:rPr>
              <a:t>.venv/</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node_modules/</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__pycache__/</a:t>
            </a:r>
            <a:endParaRPr lang="en-US" sz="1800" dirty="0"/>
          </a:p>
          <a:p>
            <a:pPr marL="0" indent="0" algn="l">
              <a:lnSpc>
                <a:spcPct val="118519"/>
              </a:lnSpc>
              <a:buNone/>
            </a:pP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git init</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git add -A &amp;&amp; git commit -m "Loan intake checkpoint"</a:t>
            </a:r>
            <a:endParaRPr lang="en-US" sz="1800" dirty="0"/>
          </a:p>
          <a:p>
            <a:pPr marL="0" indent="0" algn="l">
              <a:lnSpc>
                <a:spcPct val="118519"/>
              </a:lnSpc>
              <a:buNone/>
            </a:pPr>
            <a:r>
              <a:rPr lang="en-US" sz="1800" dirty="0">
                <a:solidFill>
                  <a:srgbClr val="201E1D"/>
                </a:solidFill>
                <a:highlight>
                  <a:srgbClr val="EAE9E9"/>
                </a:highlight>
                <a:latin typeface="Courier New" pitchFamily="34" charset="0"/>
                <a:ea typeface="Courier New" pitchFamily="34" charset="-122"/>
                <a:cs typeface="Courier New" pitchFamily="34" charset="-120"/>
              </a:rPr>
              <a:t>$ git push -u origin main</a:t>
            </a:r>
            <a:endParaRPr lang="en-US" sz="1800" dirty="0"/>
          </a:p>
        </p:txBody>
      </p:sp>
      <p:sp>
        <p:nvSpPr>
          <p:cNvPr id="8" name="Text 6"/>
          <p:cNvSpPr/>
          <p:nvPr/>
        </p:nvSpPr>
        <p:spPr>
          <a:xfrm>
            <a:off x="1143000" y="5996508"/>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The README must contain exactly the one run command: </a:t>
            </a:r>
            <a:r>
              <a:rPr lang="en-US" sz="1875" dirty="0">
                <a:solidFill>
                  <a:srgbClr val="211D1D">
                    <a:alpha val="55000"/>
                  </a:srgbClr>
                </a:solidFill>
                <a:latin typeface="Courier New" pitchFamily="34" charset="0"/>
                <a:ea typeface="Courier New" pitchFamily="34" charset="-122"/>
                <a:cs typeface="Courier New" pitchFamily="34" charset="-120"/>
              </a:rPr>
              <a:t>docker compose up --build </a:t>
            </a:r>
            <a:r>
              <a:rPr lang="en-US" sz="2100" dirty="0">
                <a:solidFill>
                  <a:srgbClr val="211D1D">
                    <a:alpha val="55000"/>
                  </a:srgbClr>
                </a:solidFill>
                <a:latin typeface="Arial" pitchFamily="34" charset="0"/>
                <a:ea typeface="Arial" pitchFamily="34" charset="-122"/>
                <a:cs typeface="Arial" pitchFamily="34" charset="-120"/>
              </a:rPr>
              <a:t>. That is what makes the repo reproducible from a clean clone.</a:t>
            </a:r>
            <a:endParaRPr lang="en-US" sz="2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THE ONE THAT MATTERS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Why </a:t>
            </a:r>
            <a:r>
              <a:rPr lang="en-US" sz="3840" b="1" kern="0" spc="-72" dirty="0">
                <a:solidFill>
                  <a:srgbClr val="201E1D"/>
                </a:solidFill>
                <a:latin typeface="Courier New" pitchFamily="34" charset="0"/>
                <a:ea typeface="Courier New" pitchFamily="34" charset="-122"/>
                <a:cs typeface="Courier New" pitchFamily="34" charset="-120"/>
              </a:rPr>
              <a:t>db</a:t>
            </a:r>
            <a:r>
              <a:rPr lang="en-US" sz="4800" b="1" kern="0" spc="-72" dirty="0">
                <a:solidFill>
                  <a:srgbClr val="201E1D"/>
                </a:solidFill>
                <a:latin typeface="Arial" pitchFamily="34" charset="0"/>
                <a:ea typeface="Arial" pitchFamily="34" charset="-122"/>
                <a:cs typeface="Arial" pitchFamily="34" charset="-120"/>
              </a:rPr>
              <a:t>, not </a:t>
            </a:r>
            <a:r>
              <a:rPr lang="en-US" sz="3840" b="1" kern="0" spc="-72" dirty="0">
                <a:solidFill>
                  <a:srgbClr val="201E1D"/>
                </a:solidFill>
                <a:latin typeface="Courier New" pitchFamily="34" charset="0"/>
                <a:ea typeface="Courier New" pitchFamily="34" charset="-122"/>
                <a:cs typeface="Courier New" pitchFamily="34" charset="-120"/>
              </a:rPr>
              <a:t>localhost</a:t>
            </a:r>
            <a:r>
              <a:rPr lang="en-US" sz="4800" b="1" kern="0" spc="-72" dirty="0">
                <a:solidFill>
                  <a:srgbClr val="201E1D"/>
                </a:solidFill>
                <a:latin typeface="Arial" pitchFamily="34" charset="0"/>
                <a:ea typeface="Arial" pitchFamily="34" charset="-122"/>
                <a:cs typeface="Arial" pitchFamily="34" charset="-120"/>
              </a:rPr>
              <a:t>?</a:t>
            </a:r>
            <a:endParaRPr lang="en-US" sz="48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743200"/>
            <a:ext cx="16002000" cy="4381500"/>
          </a:xfrm>
          <a:prstGeom prst="rect">
            <a:avLst/>
          </a:prstGeom>
        </p:spPr>
      </p:pic>
      <p:sp>
        <p:nvSpPr>
          <p:cNvPr id="5" name="Text 2"/>
          <p:cNvSpPr/>
          <p:nvPr/>
        </p:nvSpPr>
        <p:spPr>
          <a:xfrm>
            <a:off x="1143000" y="7875687"/>
            <a:ext cx="12922827" cy="668164"/>
          </a:xfrm>
          <a:prstGeom prst="rect">
            <a:avLst/>
          </a:prstGeom>
          <a:noFill/>
          <a:ln/>
        </p:spPr>
        <p:txBody>
          <a:bodyPr wrap="square" lIns="25400" tIns="25400" rIns="25400" bIns="25400" rtlCol="0" anchor="t">
            <a:normAutofit/>
          </a:bodyPr>
          <a:lstStyle/>
          <a:p>
            <a:pPr marL="0" indent="0" algn="l">
              <a:lnSpc>
                <a:spcPct val="165517"/>
              </a:lnSpc>
              <a:buNone/>
            </a:pPr>
            <a:r>
              <a:rPr lang="en-US" sz="1875" dirty="0">
                <a:solidFill>
                  <a:srgbClr val="211D1D">
                    <a:alpha val="55000"/>
                  </a:srgbClr>
                </a:solidFill>
                <a:latin typeface="Arial" pitchFamily="34" charset="0"/>
                <a:ea typeface="Arial" pitchFamily="34" charset="-122"/>
                <a:cs typeface="Arial" pitchFamily="34" charset="-120"/>
              </a:rPr>
              <a:t>Inside the compose network the hostname is the service name; the browser lives outside it and uses the published port on </a:t>
            </a:r>
            <a:r>
              <a:rPr lang="en-US" sz="1875" dirty="0">
                <a:solidFill>
                  <a:srgbClr val="211D1D">
                    <a:alpha val="55000"/>
                  </a:srgbClr>
                </a:solidFill>
                <a:latin typeface="Courier New" pitchFamily="34" charset="0"/>
                <a:ea typeface="Courier New" pitchFamily="34" charset="-122"/>
                <a:cs typeface="Courier New" pitchFamily="34" charset="-120"/>
              </a:rPr>
              <a:t>localhost</a:t>
            </a:r>
            <a:r>
              <a:rPr lang="en-US" sz="1875" dirty="0">
                <a:solidFill>
                  <a:srgbClr val="211D1D">
                    <a:alpha val="55000"/>
                  </a:srgbClr>
                </a:solidFill>
                <a:latin typeface="Arial" pitchFamily="34" charset="0"/>
                <a:ea typeface="Arial" pitchFamily="34" charset="-122"/>
                <a:cs typeface="Arial" pitchFamily="34" charset="-120"/>
              </a:rPr>
              <a:t>. This one distinction resolves most of the confusion in the room.</a:t>
            </a:r>
            <a:endParaRPr lang="en-US" sz="1875"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DEEP DIVE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"Started" is not "ready"</a:t>
            </a:r>
            <a:endParaRPr lang="en-US" sz="4800" dirty="0"/>
          </a:p>
        </p:txBody>
      </p:sp>
      <p:sp>
        <p:nvSpPr>
          <p:cNvPr id="4" name="Text 2"/>
          <p:cNvSpPr/>
          <p:nvPr/>
        </p:nvSpPr>
        <p:spPr>
          <a:xfrm>
            <a:off x="1143000" y="3133651"/>
            <a:ext cx="1891680" cy="419100"/>
          </a:xfrm>
          <a:prstGeom prst="rect">
            <a:avLst/>
          </a:prstGeom>
          <a:noFill/>
          <a:ln/>
        </p:spPr>
        <p:txBody>
          <a:bodyPr wrap="square" lIns="25400" tIns="25400" rIns="25400" bIns="25400" rtlCol="0" anchor="t">
            <a:normAutofit/>
          </a:bodyPr>
          <a:lstStyle/>
          <a:p>
            <a:pPr marL="0" indent="0" algn="l">
              <a:lnSpc>
                <a:spcPct val="139130"/>
              </a:lnSpc>
              <a:buNone/>
            </a:pPr>
            <a:r>
              <a:rPr lang="en-US" sz="2295" kern="0" spc="-23" dirty="0">
                <a:solidFill>
                  <a:srgbClr val="201E1D"/>
                </a:solidFill>
                <a:latin typeface="Courier New" pitchFamily="34" charset="0"/>
                <a:ea typeface="Courier New" pitchFamily="34" charset="-122"/>
                <a:cs typeface="Courier New" pitchFamily="34" charset="-120"/>
              </a:rPr>
              <a:t>depends_on</a:t>
            </a:r>
            <a:endParaRPr lang="en-US" sz="2295" dirty="0"/>
          </a:p>
        </p:txBody>
      </p:sp>
      <p:sp>
        <p:nvSpPr>
          <p:cNvPr id="5" name="Text 3"/>
          <p:cNvSpPr/>
          <p:nvPr/>
        </p:nvSpPr>
        <p:spPr>
          <a:xfrm>
            <a:off x="1143000" y="3143176"/>
            <a:ext cx="12970578" cy="852488"/>
          </a:xfrm>
          <a:prstGeom prst="rect">
            <a:avLst/>
          </a:prstGeom>
          <a:noFill/>
          <a:ln/>
        </p:spPr>
        <p:txBody>
          <a:bodyPr wrap="square" lIns="0" tIns="0" rIns="0" bIns="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alone only controls start order — the api can still race a Postgres that has not finished booting</a:t>
            </a:r>
            <a:endParaRPr lang="en-US" sz="2550" dirty="0"/>
          </a:p>
        </p:txBody>
      </p:sp>
      <p:sp>
        <p:nvSpPr>
          <p:cNvPr id="6" name="Text 4"/>
          <p:cNvSpPr/>
          <p:nvPr/>
        </p:nvSpPr>
        <p:spPr>
          <a:xfrm>
            <a:off x="1143000" y="4029001"/>
            <a:ext cx="14668500" cy="3524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The container is "up" long before the database accepts connections.</a:t>
            </a:r>
            <a:endParaRPr lang="en-US" sz="2100" dirty="0"/>
          </a:p>
        </p:txBody>
      </p:sp>
      <p:sp>
        <p:nvSpPr>
          <p:cNvPr id="7" name="Text 5"/>
          <p:cNvSpPr/>
          <p:nvPr/>
        </p:nvSpPr>
        <p:spPr>
          <a:xfrm>
            <a:off x="1143000" y="4806925"/>
            <a:ext cx="14668500" cy="2602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The </a:t>
            </a:r>
            <a:r>
              <a:rPr lang="en-US" sz="2295" dirty="0">
                <a:solidFill>
                  <a:srgbClr val="201E1D"/>
                </a:solidFill>
                <a:latin typeface="Courier New" pitchFamily="34" charset="0"/>
                <a:ea typeface="Courier New" pitchFamily="34" charset="-122"/>
                <a:cs typeface="Courier New" pitchFamily="34" charset="-120"/>
              </a:rPr>
              <a:t>healthcheck </a:t>
            </a:r>
            <a:r>
              <a:rPr lang="en-US" sz="2550" dirty="0">
                <a:solidFill>
                  <a:srgbClr val="201E1D"/>
                </a:solidFill>
                <a:latin typeface="Arial" pitchFamily="34" charset="0"/>
                <a:ea typeface="Arial" pitchFamily="34" charset="-122"/>
                <a:cs typeface="Arial" pitchFamily="34" charset="-120"/>
              </a:rPr>
              <a:t>runs </a:t>
            </a:r>
            <a:r>
              <a:rPr lang="en-US" sz="2295" dirty="0">
                <a:solidFill>
                  <a:srgbClr val="201E1D"/>
                </a:solidFill>
                <a:latin typeface="Courier New" pitchFamily="34" charset="0"/>
                <a:ea typeface="Courier New" pitchFamily="34" charset="-122"/>
                <a:cs typeface="Courier New" pitchFamily="34" charset="-120"/>
              </a:rPr>
              <a:t>pg_isready </a:t>
            </a:r>
            <a:r>
              <a:rPr lang="en-US" sz="2550" dirty="0">
                <a:solidFill>
                  <a:srgbClr val="201E1D"/>
                </a:solidFill>
                <a:latin typeface="Arial" pitchFamily="34" charset="0"/>
                <a:ea typeface="Arial" pitchFamily="34" charset="-122"/>
                <a:cs typeface="Arial" pitchFamily="34" charset="-120"/>
              </a:rPr>
              <a:t>until the database truly answers</a:t>
            </a:r>
            <a:endParaRPr lang="en-US" sz="2550" dirty="0"/>
          </a:p>
        </p:txBody>
      </p:sp>
      <p:sp>
        <p:nvSpPr>
          <p:cNvPr id="8" name="Text 6"/>
          <p:cNvSpPr/>
          <p:nvPr/>
        </p:nvSpPr>
        <p:spPr>
          <a:xfrm>
            <a:off x="1143000" y="5492651"/>
            <a:ext cx="13735050" cy="722188"/>
          </a:xfrm>
          <a:prstGeom prst="rect">
            <a:avLst/>
          </a:prstGeom>
          <a:noFill/>
          <a:ln/>
        </p:spPr>
        <p:txBody>
          <a:bodyPr wrap="square" lIns="25400" tIns="25400" rIns="25400" bIns="25400" rtlCol="0" anchor="t">
            <a:normAutofit/>
          </a:bodyPr>
          <a:lstStyle/>
          <a:p>
            <a:pPr marL="0" indent="0" algn="l">
              <a:lnSpc>
                <a:spcPct val="123077"/>
              </a:lnSpc>
              <a:buNone/>
            </a:pPr>
            <a:r>
              <a:rPr lang="en-US" sz="2295" dirty="0">
                <a:solidFill>
                  <a:srgbClr val="201E1D"/>
                </a:solidFill>
                <a:latin typeface="Courier New" pitchFamily="34" charset="0"/>
                <a:ea typeface="Courier New" pitchFamily="34" charset="-122"/>
                <a:cs typeface="Courier New" pitchFamily="34" charset="-120"/>
              </a:rPr>
              <a:t>condition: service_healthy </a:t>
            </a:r>
            <a:r>
              <a:rPr lang="en-US" sz="2550" dirty="0">
                <a:solidFill>
                  <a:srgbClr val="201E1D"/>
                </a:solidFill>
                <a:latin typeface="Arial" pitchFamily="34" charset="0"/>
                <a:ea typeface="Arial" pitchFamily="34" charset="-122"/>
                <a:cs typeface="Arial" pitchFamily="34" charset="-120"/>
              </a:rPr>
              <a:t>holds the api back until that check passes — the race disappears</a:t>
            </a:r>
            <a:endParaRPr lang="en-US" sz="25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WHEN IT BREAKS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Common failure fallbacks</a:t>
            </a:r>
            <a:endParaRPr lang="en-US" sz="4800" dirty="0"/>
          </a:p>
        </p:txBody>
      </p:sp>
      <p:sp>
        <p:nvSpPr>
          <p:cNvPr id="4" name="Shape 2"/>
          <p:cNvSpPr/>
          <p:nvPr/>
        </p:nvSpPr>
        <p:spPr>
          <a:xfrm>
            <a:off x="1143000" y="4095676"/>
            <a:ext cx="6096000" cy="19050"/>
          </a:xfrm>
          <a:prstGeom prst="rect">
            <a:avLst/>
          </a:prstGeom>
          <a:solidFill>
            <a:srgbClr val="201E1E">
              <a:alpha val="40000"/>
            </a:srgbClr>
          </a:solidFill>
          <a:ln/>
        </p:spPr>
        <p:txBody>
          <a:bodyPr/>
          <a:lstStyle/>
          <a:p>
            <a:endParaRPr lang="en-US"/>
          </a:p>
        </p:txBody>
      </p:sp>
      <p:sp>
        <p:nvSpPr>
          <p:cNvPr id="5" name="Text 3"/>
          <p:cNvSpPr/>
          <p:nvPr/>
        </p:nvSpPr>
        <p:spPr>
          <a:xfrm>
            <a:off x="1143000" y="3575726"/>
            <a:ext cx="6050280" cy="192249"/>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SYMPTOM</a:t>
            </a:r>
            <a:endParaRPr lang="en-US" sz="1800" dirty="0"/>
          </a:p>
        </p:txBody>
      </p:sp>
      <p:sp>
        <p:nvSpPr>
          <p:cNvPr id="6" name="Shape 4"/>
          <p:cNvSpPr/>
          <p:nvPr/>
        </p:nvSpPr>
        <p:spPr>
          <a:xfrm>
            <a:off x="7239000" y="4095676"/>
            <a:ext cx="9906000" cy="19050"/>
          </a:xfrm>
          <a:prstGeom prst="rect">
            <a:avLst/>
          </a:prstGeom>
          <a:solidFill>
            <a:srgbClr val="201E1E">
              <a:alpha val="40000"/>
            </a:srgbClr>
          </a:solidFill>
          <a:ln/>
        </p:spPr>
        <p:txBody>
          <a:bodyPr/>
          <a:lstStyle/>
          <a:p>
            <a:endParaRPr lang="en-US"/>
          </a:p>
        </p:txBody>
      </p:sp>
      <p:sp>
        <p:nvSpPr>
          <p:cNvPr id="7" name="Text 5"/>
          <p:cNvSpPr/>
          <p:nvPr/>
        </p:nvSpPr>
        <p:spPr>
          <a:xfrm>
            <a:off x="7467600" y="3575726"/>
            <a:ext cx="9974580" cy="192249"/>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FIX</a:t>
            </a:r>
            <a:endParaRPr lang="en-US" sz="1800" dirty="0"/>
          </a:p>
        </p:txBody>
      </p:sp>
      <p:sp>
        <p:nvSpPr>
          <p:cNvPr id="8" name="Shape 6"/>
          <p:cNvSpPr/>
          <p:nvPr/>
        </p:nvSpPr>
        <p:spPr>
          <a:xfrm>
            <a:off x="1143000" y="5024214"/>
            <a:ext cx="6096000" cy="9525"/>
          </a:xfrm>
          <a:prstGeom prst="rect">
            <a:avLst/>
          </a:prstGeom>
          <a:solidFill>
            <a:srgbClr val="201E1E">
              <a:alpha val="40000"/>
            </a:srgbClr>
          </a:solidFill>
          <a:ln/>
        </p:spPr>
        <p:txBody>
          <a:bodyPr/>
          <a:lstStyle/>
          <a:p>
            <a:endParaRPr lang="en-US"/>
          </a:p>
        </p:txBody>
      </p:sp>
      <p:sp>
        <p:nvSpPr>
          <p:cNvPr id="9" name="Text 7"/>
          <p:cNvSpPr/>
          <p:nvPr/>
        </p:nvSpPr>
        <p:spPr>
          <a:xfrm>
            <a:off x="1143000" y="4472418"/>
            <a:ext cx="6050280" cy="232204"/>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Port 5432 / 8000 / 3000 already in use</a:t>
            </a:r>
            <a:endParaRPr lang="en-US" sz="2175" dirty="0"/>
          </a:p>
        </p:txBody>
      </p:sp>
      <p:sp>
        <p:nvSpPr>
          <p:cNvPr id="10" name="Shape 8"/>
          <p:cNvSpPr/>
          <p:nvPr/>
        </p:nvSpPr>
        <p:spPr>
          <a:xfrm>
            <a:off x="7239000" y="5024214"/>
            <a:ext cx="9906000" cy="9525"/>
          </a:xfrm>
          <a:prstGeom prst="rect">
            <a:avLst/>
          </a:prstGeom>
          <a:solidFill>
            <a:srgbClr val="201E1E">
              <a:alpha val="40000"/>
            </a:srgbClr>
          </a:solidFill>
          <a:ln/>
        </p:spPr>
        <p:txBody>
          <a:bodyPr/>
          <a:lstStyle/>
          <a:p>
            <a:endParaRPr lang="en-US"/>
          </a:p>
        </p:txBody>
      </p:sp>
      <p:sp>
        <p:nvSpPr>
          <p:cNvPr id="11" name="Text 9"/>
          <p:cNvSpPr/>
          <p:nvPr/>
        </p:nvSpPr>
        <p:spPr>
          <a:xfrm>
            <a:off x="7467600" y="4472418"/>
            <a:ext cx="9974580" cy="232204"/>
          </a:xfrm>
          <a:prstGeom prst="rect">
            <a:avLst/>
          </a:prstGeom>
          <a:noFill/>
          <a:ln/>
        </p:spPr>
        <p:txBody>
          <a:bodyPr wrap="square" lIns="25400" tIns="25400" rIns="25400" bIns="25400" rtlCol="0" anchor="ctr">
            <a:normAutofit/>
          </a:bodyPr>
          <a:lstStyle/>
          <a:p>
            <a:pPr marL="0" indent="0" algn="l">
              <a:lnSpc>
                <a:spcPct val="134179"/>
              </a:lnSpc>
              <a:buNone/>
            </a:pPr>
            <a:r>
              <a:rPr lang="en-US" sz="1958" dirty="0">
                <a:solidFill>
                  <a:srgbClr val="201E1D"/>
                </a:solidFill>
                <a:latin typeface="Courier New" pitchFamily="34" charset="0"/>
                <a:ea typeface="Courier New" pitchFamily="34" charset="-122"/>
                <a:cs typeface="Courier New" pitchFamily="34" charset="-120"/>
              </a:rPr>
              <a:t>docker ps</a:t>
            </a:r>
            <a:r>
              <a:rPr lang="en-US" sz="2175" dirty="0">
                <a:solidFill>
                  <a:srgbClr val="201E1D"/>
                </a:solidFill>
                <a:latin typeface="Arial" pitchFamily="34" charset="0"/>
                <a:ea typeface="Arial" pitchFamily="34" charset="-122"/>
                <a:cs typeface="Arial" pitchFamily="34" charset="-120"/>
              </a:rPr>
              <a:t>, stop the conflicting container, or remap the host port</a:t>
            </a:r>
            <a:endParaRPr lang="en-US" sz="2175" dirty="0"/>
          </a:p>
        </p:txBody>
      </p:sp>
      <p:sp>
        <p:nvSpPr>
          <p:cNvPr id="12" name="Shape 10"/>
          <p:cNvSpPr/>
          <p:nvPr/>
        </p:nvSpPr>
        <p:spPr>
          <a:xfrm>
            <a:off x="1143000" y="5938465"/>
            <a:ext cx="6096000" cy="9525"/>
          </a:xfrm>
          <a:prstGeom prst="rect">
            <a:avLst/>
          </a:prstGeom>
          <a:solidFill>
            <a:srgbClr val="201E1E">
              <a:alpha val="40000"/>
            </a:srgbClr>
          </a:solidFill>
          <a:ln/>
        </p:spPr>
        <p:txBody>
          <a:bodyPr/>
          <a:lstStyle/>
          <a:p>
            <a:endParaRPr lang="en-US"/>
          </a:p>
        </p:txBody>
      </p:sp>
      <p:sp>
        <p:nvSpPr>
          <p:cNvPr id="13" name="Text 11"/>
          <p:cNvSpPr/>
          <p:nvPr/>
        </p:nvSpPr>
        <p:spPr>
          <a:xfrm>
            <a:off x="1143000" y="5391432"/>
            <a:ext cx="6050280" cy="227442"/>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Image pull too slow</a:t>
            </a:r>
            <a:endParaRPr lang="en-US" sz="2175" dirty="0"/>
          </a:p>
        </p:txBody>
      </p:sp>
      <p:sp>
        <p:nvSpPr>
          <p:cNvPr id="14" name="Shape 12"/>
          <p:cNvSpPr/>
          <p:nvPr/>
        </p:nvSpPr>
        <p:spPr>
          <a:xfrm>
            <a:off x="7239000" y="5938465"/>
            <a:ext cx="9906000" cy="9525"/>
          </a:xfrm>
          <a:prstGeom prst="rect">
            <a:avLst/>
          </a:prstGeom>
          <a:solidFill>
            <a:srgbClr val="201E1E">
              <a:alpha val="40000"/>
            </a:srgbClr>
          </a:solidFill>
          <a:ln/>
        </p:spPr>
        <p:txBody>
          <a:bodyPr/>
          <a:lstStyle/>
          <a:p>
            <a:endParaRPr lang="en-US"/>
          </a:p>
        </p:txBody>
      </p:sp>
      <p:sp>
        <p:nvSpPr>
          <p:cNvPr id="15" name="Text 13"/>
          <p:cNvSpPr/>
          <p:nvPr/>
        </p:nvSpPr>
        <p:spPr>
          <a:xfrm>
            <a:off x="7467600" y="5391432"/>
            <a:ext cx="9974580" cy="227442"/>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Use the pre-pulled images or the registry mirror prepared before class</a:t>
            </a:r>
            <a:endParaRPr lang="en-US" sz="2175" dirty="0"/>
          </a:p>
        </p:txBody>
      </p:sp>
      <p:sp>
        <p:nvSpPr>
          <p:cNvPr id="16" name="Shape 14"/>
          <p:cNvSpPr/>
          <p:nvPr/>
        </p:nvSpPr>
        <p:spPr>
          <a:xfrm>
            <a:off x="1143000" y="6852717"/>
            <a:ext cx="6096000" cy="9525"/>
          </a:xfrm>
          <a:prstGeom prst="rect">
            <a:avLst/>
          </a:prstGeom>
          <a:solidFill>
            <a:srgbClr val="201E1E">
              <a:alpha val="40000"/>
            </a:srgbClr>
          </a:solidFill>
          <a:ln/>
        </p:spPr>
        <p:txBody>
          <a:bodyPr/>
          <a:lstStyle/>
          <a:p>
            <a:endParaRPr lang="en-US"/>
          </a:p>
        </p:txBody>
      </p:sp>
      <p:sp>
        <p:nvSpPr>
          <p:cNvPr id="17" name="Text 15"/>
          <p:cNvSpPr/>
          <p:nvPr/>
        </p:nvSpPr>
        <p:spPr>
          <a:xfrm>
            <a:off x="1143000" y="6305683"/>
            <a:ext cx="6050280" cy="227442"/>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Docker Desktop broken beyond repair</a:t>
            </a:r>
            <a:endParaRPr lang="en-US" sz="2175" dirty="0"/>
          </a:p>
        </p:txBody>
      </p:sp>
      <p:sp>
        <p:nvSpPr>
          <p:cNvPr id="18" name="Shape 16"/>
          <p:cNvSpPr/>
          <p:nvPr/>
        </p:nvSpPr>
        <p:spPr>
          <a:xfrm>
            <a:off x="7239000" y="6852717"/>
            <a:ext cx="9906000" cy="9525"/>
          </a:xfrm>
          <a:prstGeom prst="rect">
            <a:avLst/>
          </a:prstGeom>
          <a:solidFill>
            <a:srgbClr val="201E1E">
              <a:alpha val="40000"/>
            </a:srgbClr>
          </a:solidFill>
          <a:ln/>
        </p:spPr>
        <p:txBody>
          <a:bodyPr/>
          <a:lstStyle/>
          <a:p>
            <a:endParaRPr lang="en-US"/>
          </a:p>
        </p:txBody>
      </p:sp>
      <p:sp>
        <p:nvSpPr>
          <p:cNvPr id="19" name="Text 17"/>
          <p:cNvSpPr/>
          <p:nvPr/>
        </p:nvSpPr>
        <p:spPr>
          <a:xfrm>
            <a:off x="7467600" y="6305683"/>
            <a:ext cx="9974580" cy="227442"/>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Pair up and drive on a neighbour's machine — checkpoint credit still counts</a:t>
            </a:r>
            <a:endParaRPr lang="en-US" sz="2175" dirty="0"/>
          </a:p>
        </p:txBody>
      </p:sp>
      <p:sp>
        <p:nvSpPr>
          <p:cNvPr id="20" name="Shape 18"/>
          <p:cNvSpPr/>
          <p:nvPr/>
        </p:nvSpPr>
        <p:spPr>
          <a:xfrm>
            <a:off x="1143000" y="7766968"/>
            <a:ext cx="6096000" cy="9525"/>
          </a:xfrm>
          <a:prstGeom prst="rect">
            <a:avLst/>
          </a:prstGeom>
          <a:solidFill>
            <a:srgbClr val="201E1E">
              <a:alpha val="40000"/>
            </a:srgbClr>
          </a:solidFill>
          <a:ln/>
        </p:spPr>
        <p:txBody>
          <a:bodyPr/>
          <a:lstStyle/>
          <a:p>
            <a:endParaRPr lang="en-US"/>
          </a:p>
        </p:txBody>
      </p:sp>
      <p:sp>
        <p:nvSpPr>
          <p:cNvPr id="21" name="Text 19"/>
          <p:cNvSpPr/>
          <p:nvPr/>
        </p:nvSpPr>
        <p:spPr>
          <a:xfrm>
            <a:off x="1143000" y="7219934"/>
            <a:ext cx="6050280" cy="227442"/>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Hopelessly behind at 2:15</a:t>
            </a:r>
            <a:endParaRPr lang="en-US" sz="2175" dirty="0"/>
          </a:p>
        </p:txBody>
      </p:sp>
      <p:sp>
        <p:nvSpPr>
          <p:cNvPr id="22" name="Shape 20"/>
          <p:cNvSpPr/>
          <p:nvPr/>
        </p:nvSpPr>
        <p:spPr>
          <a:xfrm>
            <a:off x="7239000" y="7766968"/>
            <a:ext cx="9906000" cy="9525"/>
          </a:xfrm>
          <a:prstGeom prst="rect">
            <a:avLst/>
          </a:prstGeom>
          <a:solidFill>
            <a:srgbClr val="201E1E">
              <a:alpha val="40000"/>
            </a:srgbClr>
          </a:solidFill>
          <a:ln/>
        </p:spPr>
        <p:txBody>
          <a:bodyPr/>
          <a:lstStyle/>
          <a:p>
            <a:endParaRPr lang="en-US"/>
          </a:p>
        </p:txBody>
      </p:sp>
      <p:sp>
        <p:nvSpPr>
          <p:cNvPr id="23" name="Text 21"/>
          <p:cNvSpPr/>
          <p:nvPr/>
        </p:nvSpPr>
        <p:spPr>
          <a:xfrm>
            <a:off x="7467600" y="7219934"/>
            <a:ext cx="9974580" cy="227442"/>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Check out </a:t>
            </a:r>
            <a:r>
              <a:rPr lang="en-US" sz="1958" dirty="0">
                <a:solidFill>
                  <a:srgbClr val="201E1D"/>
                </a:solidFill>
                <a:latin typeface="Courier New" pitchFamily="34" charset="0"/>
                <a:ea typeface="Courier New" pitchFamily="34" charset="-122"/>
                <a:cs typeface="Courier New" pitchFamily="34" charset="-120"/>
              </a:rPr>
              <a:t>checkpoint-complete</a:t>
            </a:r>
            <a:r>
              <a:rPr lang="en-US" sz="2175" dirty="0">
                <a:solidFill>
                  <a:srgbClr val="201E1D"/>
                </a:solidFill>
                <a:latin typeface="Arial" pitchFamily="34" charset="0"/>
                <a:ea typeface="Arial" pitchFamily="34" charset="-122"/>
                <a:cs typeface="Arial" pitchFamily="34" charset="-120"/>
              </a:rPr>
              <a:t>, run it, then read the diff against your own</a:t>
            </a:r>
            <a:endParaRPr lang="en-US" sz="217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05 · CHECKPOINT · EXPERIENCED ENGINEERS</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Stretch goals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361432"/>
            <a:ext cx="5532120" cy="647700"/>
          </a:xfrm>
          <a:prstGeom prst="rect">
            <a:avLst/>
          </a:prstGeom>
          <a:noFill/>
          <a:ln/>
        </p:spPr>
        <p:txBody>
          <a:bodyPr wrap="square" lIns="25400" tIns="25400" rIns="25400" bIns="25400" rtlCol="0" anchor="t">
            <a:normAutofit/>
          </a:bodyPr>
          <a:lstStyle/>
          <a:p>
            <a:pPr marL="0" indent="0" algn="l">
              <a:lnSpc>
                <a:spcPct val="87075"/>
              </a:lnSpc>
              <a:buNone/>
            </a:pPr>
            <a:r>
              <a:rPr lang="en-US" sz="4800" b="1" dirty="0">
                <a:solidFill>
                  <a:srgbClr val="EC3013"/>
                </a:solidFill>
                <a:latin typeface="Arial" pitchFamily="34" charset="0"/>
                <a:ea typeface="Arial" pitchFamily="34" charset="-122"/>
                <a:cs typeface="Arial" pitchFamily="34" charset="-120"/>
              </a:rPr>
              <a:t>1</a:t>
            </a:r>
            <a:endParaRPr lang="en-US" sz="4800" dirty="0"/>
          </a:p>
        </p:txBody>
      </p:sp>
      <p:sp>
        <p:nvSpPr>
          <p:cNvPr id="6" name="Text 4"/>
          <p:cNvSpPr/>
          <p:nvPr/>
        </p:nvSpPr>
        <p:spPr>
          <a:xfrm>
            <a:off x="1143000" y="4186684"/>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Test against Postgres</a:t>
            </a:r>
            <a:endParaRPr lang="en-US" sz="2550" dirty="0"/>
          </a:p>
        </p:txBody>
      </p:sp>
      <p:sp>
        <p:nvSpPr>
          <p:cNvPr id="7" name="Text 5"/>
          <p:cNvSpPr/>
          <p:nvPr/>
        </p:nvSpPr>
        <p:spPr>
          <a:xfrm>
            <a:off x="1143000" y="4692848"/>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Move the checkpoint tests to run on the database, with a pytest fixture that truncates the table between tests.</a:t>
            </a:r>
            <a:endParaRPr lang="en-US" sz="2100" dirty="0"/>
          </a:p>
        </p:txBody>
      </p:sp>
      <p:sp>
        <p:nvSpPr>
          <p:cNvPr id="8" name="Shape 6"/>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9" name="Text 7"/>
          <p:cNvSpPr/>
          <p:nvPr/>
        </p:nvSpPr>
        <p:spPr>
          <a:xfrm>
            <a:off x="6629400" y="3361432"/>
            <a:ext cx="5532120" cy="647700"/>
          </a:xfrm>
          <a:prstGeom prst="rect">
            <a:avLst/>
          </a:prstGeom>
          <a:noFill/>
          <a:ln/>
        </p:spPr>
        <p:txBody>
          <a:bodyPr wrap="square" lIns="25400" tIns="25400" rIns="25400" bIns="25400" rtlCol="0" anchor="t">
            <a:normAutofit/>
          </a:bodyPr>
          <a:lstStyle/>
          <a:p>
            <a:pPr marL="0" indent="0" algn="l">
              <a:lnSpc>
                <a:spcPct val="87075"/>
              </a:lnSpc>
              <a:buNone/>
            </a:pPr>
            <a:r>
              <a:rPr lang="en-US" sz="4800" b="1" dirty="0">
                <a:solidFill>
                  <a:srgbClr val="EC3013"/>
                </a:solidFill>
                <a:latin typeface="Arial" pitchFamily="34" charset="0"/>
                <a:ea typeface="Arial" pitchFamily="34" charset="-122"/>
                <a:cs typeface="Arial" pitchFamily="34" charset="-120"/>
              </a:rPr>
              <a:t>2</a:t>
            </a:r>
            <a:endParaRPr lang="en-US" sz="4800" dirty="0"/>
          </a:p>
        </p:txBody>
      </p:sp>
      <p:sp>
        <p:nvSpPr>
          <p:cNvPr id="10" name="Text 8"/>
          <p:cNvSpPr/>
          <p:nvPr/>
        </p:nvSpPr>
        <p:spPr>
          <a:xfrm>
            <a:off x="6629400" y="4186684"/>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A typed filter</a:t>
            </a:r>
            <a:endParaRPr lang="en-US" sz="2550" dirty="0"/>
          </a:p>
        </p:txBody>
      </p:sp>
      <p:sp>
        <p:nvSpPr>
          <p:cNvPr id="11" name="Text 9"/>
          <p:cNvSpPr/>
          <p:nvPr/>
        </p:nvSpPr>
        <p:spPr>
          <a:xfrm>
            <a:off x="6629400" y="4692848"/>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Add </a:t>
            </a:r>
            <a:r>
              <a:rPr lang="en-US" sz="1890" dirty="0">
                <a:solidFill>
                  <a:srgbClr val="201E1D"/>
                </a:solidFill>
                <a:latin typeface="Courier New" pitchFamily="34" charset="0"/>
                <a:ea typeface="Courier New" pitchFamily="34" charset="-122"/>
                <a:cs typeface="Courier New" pitchFamily="34" charset="-120"/>
              </a:rPr>
              <a:t>GET /applications?purpose= </a:t>
            </a:r>
            <a:r>
              <a:rPr lang="en-US" sz="2100" dirty="0">
                <a:solidFill>
                  <a:srgbClr val="201E1D"/>
                </a:solidFill>
                <a:latin typeface="Arial" pitchFamily="34" charset="0"/>
                <a:ea typeface="Arial" pitchFamily="34" charset="-122"/>
                <a:cs typeface="Arial" pitchFamily="34" charset="-120"/>
              </a:rPr>
              <a:t>as a typed query parameter — validation and docs come along for free.</a:t>
            </a:r>
            <a:endParaRPr lang="en-US" sz="2100" dirty="0"/>
          </a:p>
        </p:txBody>
      </p:sp>
      <p:sp>
        <p:nvSpPr>
          <p:cNvPr id="12" name="Shape 10"/>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3" name="Text 11"/>
          <p:cNvSpPr/>
          <p:nvPr/>
        </p:nvSpPr>
        <p:spPr>
          <a:xfrm>
            <a:off x="12115800" y="3361432"/>
            <a:ext cx="5532120" cy="647700"/>
          </a:xfrm>
          <a:prstGeom prst="rect">
            <a:avLst/>
          </a:prstGeom>
          <a:noFill/>
          <a:ln/>
        </p:spPr>
        <p:txBody>
          <a:bodyPr wrap="square" lIns="25400" tIns="25400" rIns="25400" bIns="25400" rtlCol="0" anchor="t">
            <a:normAutofit/>
          </a:bodyPr>
          <a:lstStyle/>
          <a:p>
            <a:pPr marL="0" indent="0" algn="l">
              <a:lnSpc>
                <a:spcPct val="87075"/>
              </a:lnSpc>
              <a:buNone/>
            </a:pPr>
            <a:r>
              <a:rPr lang="en-US" sz="4800" b="1" dirty="0">
                <a:solidFill>
                  <a:srgbClr val="EC3013"/>
                </a:solidFill>
                <a:latin typeface="Arial" pitchFamily="34" charset="0"/>
                <a:ea typeface="Arial" pitchFamily="34" charset="-122"/>
                <a:cs typeface="Arial" pitchFamily="34" charset="-120"/>
              </a:rPr>
              <a:t>3</a:t>
            </a:r>
            <a:endParaRPr lang="en-US" sz="4800" dirty="0"/>
          </a:p>
        </p:txBody>
      </p:sp>
      <p:sp>
        <p:nvSpPr>
          <p:cNvPr id="14" name="Text 12"/>
          <p:cNvSpPr/>
          <p:nvPr/>
        </p:nvSpPr>
        <p:spPr>
          <a:xfrm>
            <a:off x="12115800" y="4186684"/>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Multi-stage build</a:t>
            </a:r>
            <a:endParaRPr lang="en-US" sz="2550" dirty="0"/>
          </a:p>
        </p:txBody>
      </p:sp>
      <p:sp>
        <p:nvSpPr>
          <p:cNvPr id="15" name="Text 13"/>
          <p:cNvSpPr/>
          <p:nvPr/>
        </p:nvSpPr>
        <p:spPr>
          <a:xfrm>
            <a:off x="12115800" y="4692848"/>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Give the web Dockerfile a multi-stage build and compare the before-and-after image sizes.</a:t>
            </a:r>
            <a:endParaRPr lang="en-US" sz="2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3223915"/>
            <a:ext cx="2921176" cy="2266950"/>
          </a:xfrm>
          <a:prstGeom prst="rect">
            <a:avLst/>
          </a:prstGeom>
          <a:noFill/>
          <a:ln/>
        </p:spPr>
        <p:txBody>
          <a:bodyPr wrap="square" lIns="25400" tIns="25400" rIns="25400" bIns="25400" rtlCol="0" anchor="t">
            <a:normAutofit/>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06</a:t>
            </a:r>
            <a:endParaRPr lang="en-US" sz="19500" dirty="0"/>
          </a:p>
        </p:txBody>
      </p:sp>
      <p:sp>
        <p:nvSpPr>
          <p:cNvPr id="3" name="Text 1"/>
          <p:cNvSpPr/>
          <p:nvPr/>
        </p:nvSpPr>
        <p:spPr>
          <a:xfrm>
            <a:off x="1107653" y="5833765"/>
            <a:ext cx="5911520"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Verification &amp; demos</a:t>
            </a:r>
            <a:endParaRPr lang="en-US" sz="4800" dirty="0"/>
          </a:p>
        </p:txBody>
      </p:sp>
      <p:sp>
        <p:nvSpPr>
          <p:cNvPr id="4" name="Text 2"/>
          <p:cNvSpPr/>
          <p:nvPr/>
        </p:nvSpPr>
        <p:spPr>
          <a:xfrm>
            <a:off x="1107653" y="7346886"/>
            <a:ext cx="6482871" cy="221084"/>
          </a:xfrm>
          <a:prstGeom prst="rect">
            <a:avLst/>
          </a:prstGeom>
          <a:noFill/>
          <a:ln/>
        </p:spPr>
        <p:txBody>
          <a:bodyPr wrap="square" lIns="25400" tIns="25400" rIns="25400" bIns="25400" rtlCol="0" anchor="t">
            <a:normAutofit fontScale="47500" lnSpcReduction="20000"/>
          </a:bodyPr>
          <a:lstStyle/>
          <a:p>
            <a:pPr marL="0" indent="0" algn="l">
              <a:lnSpc>
                <a:spcPct val="133538"/>
              </a:lnSpc>
              <a:buNone/>
            </a:pPr>
            <a:r>
              <a:rPr lang="en-US" sz="2100" kern="0" spc="126" dirty="0">
                <a:solidFill>
                  <a:srgbClr val="F3F2F2"/>
                </a:solidFill>
                <a:latin typeface="Arial" pitchFamily="34" charset="0"/>
                <a:ea typeface="Arial" pitchFamily="34" charset="-122"/>
                <a:cs typeface="Arial" pitchFamily="34" charset="-120"/>
              </a:rPr>
              <a:t>2:40 – 2:55 · 15 MINUTES · WHOLE GROUP</a:t>
            </a:r>
            <a:endParaRPr lang="en-US" sz="2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06 · VERIFICATION</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Show it, in order</a:t>
            </a:r>
            <a:endParaRPr lang="en-US" sz="4800" dirty="0"/>
          </a:p>
        </p:txBody>
      </p:sp>
      <p:sp>
        <p:nvSpPr>
          <p:cNvPr id="4" name="Shape 2"/>
          <p:cNvSpPr/>
          <p:nvPr/>
        </p:nvSpPr>
        <p:spPr>
          <a:xfrm>
            <a:off x="1143000" y="4095676"/>
            <a:ext cx="762000" cy="19050"/>
          </a:xfrm>
          <a:prstGeom prst="rect">
            <a:avLst/>
          </a:prstGeom>
          <a:solidFill>
            <a:srgbClr val="201E1E">
              <a:alpha val="40000"/>
            </a:srgbClr>
          </a:solidFill>
          <a:ln/>
        </p:spPr>
        <p:txBody>
          <a:bodyPr/>
          <a:lstStyle/>
          <a:p>
            <a:endParaRPr lang="en-US"/>
          </a:p>
        </p:txBody>
      </p:sp>
      <p:sp>
        <p:nvSpPr>
          <p:cNvPr id="5" name="Text 3"/>
          <p:cNvSpPr/>
          <p:nvPr/>
        </p:nvSpPr>
        <p:spPr>
          <a:xfrm>
            <a:off x="1143000" y="3575726"/>
            <a:ext cx="609600" cy="192249"/>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a:t>
            </a:r>
            <a:endParaRPr lang="en-US" sz="1800" dirty="0"/>
          </a:p>
        </p:txBody>
      </p:sp>
      <p:sp>
        <p:nvSpPr>
          <p:cNvPr id="6" name="Shape 4"/>
          <p:cNvSpPr/>
          <p:nvPr/>
        </p:nvSpPr>
        <p:spPr>
          <a:xfrm>
            <a:off x="1905000" y="4095676"/>
            <a:ext cx="9906000" cy="19050"/>
          </a:xfrm>
          <a:prstGeom prst="rect">
            <a:avLst/>
          </a:prstGeom>
          <a:solidFill>
            <a:srgbClr val="201E1E">
              <a:alpha val="40000"/>
            </a:srgbClr>
          </a:solidFill>
          <a:ln/>
        </p:spPr>
        <p:txBody>
          <a:bodyPr/>
          <a:lstStyle/>
          <a:p>
            <a:endParaRPr lang="en-US"/>
          </a:p>
        </p:txBody>
      </p:sp>
      <p:sp>
        <p:nvSpPr>
          <p:cNvPr id="7" name="Text 5"/>
          <p:cNvSpPr/>
          <p:nvPr/>
        </p:nvSpPr>
        <p:spPr>
          <a:xfrm>
            <a:off x="2133600" y="3575726"/>
            <a:ext cx="9745980" cy="192249"/>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SHOW, LIVE</a:t>
            </a:r>
            <a:endParaRPr lang="en-US" sz="1800" dirty="0"/>
          </a:p>
        </p:txBody>
      </p:sp>
      <p:sp>
        <p:nvSpPr>
          <p:cNvPr id="8" name="Shape 6"/>
          <p:cNvSpPr/>
          <p:nvPr/>
        </p:nvSpPr>
        <p:spPr>
          <a:xfrm>
            <a:off x="11811000" y="4095676"/>
            <a:ext cx="5334000" cy="19050"/>
          </a:xfrm>
          <a:prstGeom prst="rect">
            <a:avLst/>
          </a:prstGeom>
          <a:solidFill>
            <a:srgbClr val="201E1E">
              <a:alpha val="40000"/>
            </a:srgbClr>
          </a:solidFill>
          <a:ln/>
        </p:spPr>
        <p:txBody>
          <a:bodyPr/>
          <a:lstStyle/>
          <a:p>
            <a:endParaRPr lang="en-US"/>
          </a:p>
        </p:txBody>
      </p:sp>
      <p:sp>
        <p:nvSpPr>
          <p:cNvPr id="9" name="Text 7"/>
          <p:cNvSpPr/>
          <p:nvPr/>
        </p:nvSpPr>
        <p:spPr>
          <a:xfrm>
            <a:off x="12039600" y="3575726"/>
            <a:ext cx="5265420" cy="192249"/>
          </a:xfrm>
          <a:prstGeom prst="rect">
            <a:avLst/>
          </a:prstGeom>
          <a:noFill/>
          <a:ln/>
        </p:spPr>
        <p:txBody>
          <a:bodyPr wrap="square" lIns="25400" tIns="25400" rIns="25400" bIns="25400" rtlCol="0" anchor="ctr">
            <a:normAutofit/>
          </a:bodyPr>
          <a:lstStyle/>
          <a:p>
            <a:pPr marL="0" indent="0" algn="l">
              <a:lnSpc>
                <a:spcPct val="135273"/>
              </a:lnSpc>
              <a:buNone/>
            </a:pPr>
            <a:r>
              <a:rPr lang="en-US" sz="1800" b="1" kern="0" spc="144" dirty="0">
                <a:solidFill>
                  <a:srgbClr val="201E1C">
                    <a:alpha val="60000"/>
                  </a:srgbClr>
                </a:solidFill>
                <a:latin typeface="Arial" pitchFamily="34" charset="0"/>
                <a:ea typeface="Arial" pitchFamily="34" charset="-122"/>
                <a:cs typeface="Arial" pitchFamily="34" charset="-120"/>
              </a:rPr>
              <a:t>WHAT IT PROVES</a:t>
            </a:r>
            <a:endParaRPr lang="en-US" sz="1800" dirty="0"/>
          </a:p>
        </p:txBody>
      </p:sp>
      <p:sp>
        <p:nvSpPr>
          <p:cNvPr id="10" name="Shape 8"/>
          <p:cNvSpPr/>
          <p:nvPr/>
        </p:nvSpPr>
        <p:spPr>
          <a:xfrm>
            <a:off x="1143000" y="5024363"/>
            <a:ext cx="762000" cy="9525"/>
          </a:xfrm>
          <a:prstGeom prst="rect">
            <a:avLst/>
          </a:prstGeom>
          <a:solidFill>
            <a:srgbClr val="201E1E">
              <a:alpha val="40000"/>
            </a:srgbClr>
          </a:solidFill>
          <a:ln/>
        </p:spPr>
        <p:txBody>
          <a:bodyPr/>
          <a:lstStyle/>
          <a:p>
            <a:endParaRPr lang="en-US"/>
          </a:p>
        </p:txBody>
      </p:sp>
      <p:sp>
        <p:nvSpPr>
          <p:cNvPr id="11" name="Text 9"/>
          <p:cNvSpPr/>
          <p:nvPr/>
        </p:nvSpPr>
        <p:spPr>
          <a:xfrm>
            <a:off x="1143000" y="4480247"/>
            <a:ext cx="609600" cy="216694"/>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1</a:t>
            </a:r>
            <a:endParaRPr lang="en-US" sz="1875" dirty="0"/>
          </a:p>
        </p:txBody>
      </p:sp>
      <p:sp>
        <p:nvSpPr>
          <p:cNvPr id="12" name="Shape 10"/>
          <p:cNvSpPr/>
          <p:nvPr/>
        </p:nvSpPr>
        <p:spPr>
          <a:xfrm>
            <a:off x="1905000" y="5024363"/>
            <a:ext cx="9906000" cy="9525"/>
          </a:xfrm>
          <a:prstGeom prst="rect">
            <a:avLst/>
          </a:prstGeom>
          <a:solidFill>
            <a:srgbClr val="201E1E">
              <a:alpha val="40000"/>
            </a:srgbClr>
          </a:solidFill>
          <a:ln/>
        </p:spPr>
        <p:txBody>
          <a:bodyPr/>
          <a:lstStyle/>
          <a:p>
            <a:endParaRPr lang="en-US"/>
          </a:p>
        </p:txBody>
      </p:sp>
      <p:sp>
        <p:nvSpPr>
          <p:cNvPr id="13" name="Text 11"/>
          <p:cNvSpPr/>
          <p:nvPr/>
        </p:nvSpPr>
        <p:spPr>
          <a:xfrm>
            <a:off x="2133600" y="4419005"/>
            <a:ext cx="4033592" cy="366713"/>
          </a:xfrm>
          <a:prstGeom prst="rect">
            <a:avLst/>
          </a:prstGeom>
          <a:noFill/>
          <a:ln/>
        </p:spPr>
        <p:txBody>
          <a:bodyPr wrap="square" lIns="25400" tIns="25400" rIns="25400" bIns="25400" rtlCol="0" anchor="t">
            <a:normAutofit/>
          </a:bodyPr>
          <a:lstStyle/>
          <a:p>
            <a:pPr marL="0" indent="0" algn="l">
              <a:lnSpc>
                <a:spcPct val="137136"/>
              </a:lnSpc>
              <a:buNone/>
            </a:pPr>
            <a:r>
              <a:rPr lang="en-US" sz="1958" kern="0" spc="-20" dirty="0">
                <a:solidFill>
                  <a:srgbClr val="201E1D"/>
                </a:solidFill>
                <a:latin typeface="Courier New" pitchFamily="34" charset="0"/>
                <a:ea typeface="Courier New" pitchFamily="34" charset="-122"/>
                <a:cs typeface="Courier New" pitchFamily="34" charset="-120"/>
              </a:rPr>
              <a:t>docker compose up --build</a:t>
            </a:r>
            <a:endParaRPr lang="en-US" sz="1958" dirty="0"/>
          </a:p>
        </p:txBody>
      </p:sp>
      <p:sp>
        <p:nvSpPr>
          <p:cNvPr id="14" name="Shape 12"/>
          <p:cNvSpPr/>
          <p:nvPr/>
        </p:nvSpPr>
        <p:spPr>
          <a:xfrm>
            <a:off x="11811000" y="5024363"/>
            <a:ext cx="5334000" cy="9525"/>
          </a:xfrm>
          <a:prstGeom prst="rect">
            <a:avLst/>
          </a:prstGeom>
          <a:solidFill>
            <a:srgbClr val="201E1E">
              <a:alpha val="40000"/>
            </a:srgbClr>
          </a:solidFill>
          <a:ln/>
        </p:spPr>
        <p:txBody>
          <a:bodyPr/>
          <a:lstStyle/>
          <a:p>
            <a:endParaRPr lang="en-US"/>
          </a:p>
        </p:txBody>
      </p:sp>
      <p:sp>
        <p:nvSpPr>
          <p:cNvPr id="15" name="Text 13"/>
          <p:cNvSpPr/>
          <p:nvPr/>
        </p:nvSpPr>
        <p:spPr>
          <a:xfrm>
            <a:off x="12039600" y="4472418"/>
            <a:ext cx="5265420" cy="232353"/>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Three services come up healthy</a:t>
            </a:r>
            <a:endParaRPr lang="en-US" sz="2175" dirty="0"/>
          </a:p>
        </p:txBody>
      </p:sp>
      <p:sp>
        <p:nvSpPr>
          <p:cNvPr id="16" name="Shape 14"/>
          <p:cNvSpPr/>
          <p:nvPr/>
        </p:nvSpPr>
        <p:spPr>
          <a:xfrm>
            <a:off x="1143000" y="5938763"/>
            <a:ext cx="762000" cy="9525"/>
          </a:xfrm>
          <a:prstGeom prst="rect">
            <a:avLst/>
          </a:prstGeom>
          <a:solidFill>
            <a:srgbClr val="201E1E">
              <a:alpha val="40000"/>
            </a:srgbClr>
          </a:solidFill>
          <a:ln/>
        </p:spPr>
        <p:txBody>
          <a:bodyPr/>
          <a:lstStyle/>
          <a:p>
            <a:endParaRPr lang="en-US"/>
          </a:p>
        </p:txBody>
      </p:sp>
      <p:sp>
        <p:nvSpPr>
          <p:cNvPr id="17" name="Text 15"/>
          <p:cNvSpPr/>
          <p:nvPr/>
        </p:nvSpPr>
        <p:spPr>
          <a:xfrm>
            <a:off x="1143000" y="5399410"/>
            <a:ext cx="609600" cy="211931"/>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2</a:t>
            </a:r>
            <a:endParaRPr lang="en-US" sz="1875" dirty="0"/>
          </a:p>
        </p:txBody>
      </p:sp>
      <p:sp>
        <p:nvSpPr>
          <p:cNvPr id="18" name="Shape 16"/>
          <p:cNvSpPr/>
          <p:nvPr/>
        </p:nvSpPr>
        <p:spPr>
          <a:xfrm>
            <a:off x="1905000" y="5938763"/>
            <a:ext cx="9906000" cy="9525"/>
          </a:xfrm>
          <a:prstGeom prst="rect">
            <a:avLst/>
          </a:prstGeom>
          <a:solidFill>
            <a:srgbClr val="201E1E">
              <a:alpha val="40000"/>
            </a:srgbClr>
          </a:solidFill>
          <a:ln/>
        </p:spPr>
        <p:txBody>
          <a:bodyPr/>
          <a:lstStyle/>
          <a:p>
            <a:endParaRPr lang="en-US"/>
          </a:p>
        </p:txBody>
      </p:sp>
      <p:sp>
        <p:nvSpPr>
          <p:cNvPr id="19" name="Text 17"/>
          <p:cNvSpPr/>
          <p:nvPr/>
        </p:nvSpPr>
        <p:spPr>
          <a:xfrm>
            <a:off x="2133600" y="5391580"/>
            <a:ext cx="9745980" cy="227590"/>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Browser at </a:t>
            </a:r>
            <a:r>
              <a:rPr lang="en-US" sz="1958" dirty="0">
                <a:solidFill>
                  <a:srgbClr val="201E1D"/>
                </a:solidFill>
                <a:latin typeface="Courier New" pitchFamily="34" charset="0"/>
                <a:ea typeface="Courier New" pitchFamily="34" charset="-122"/>
                <a:cs typeface="Courier New" pitchFamily="34" charset="-120"/>
              </a:rPr>
              <a:t>:3000 </a:t>
            </a:r>
            <a:r>
              <a:rPr lang="en-US" sz="2175" dirty="0">
                <a:solidFill>
                  <a:srgbClr val="201E1D"/>
                </a:solidFill>
                <a:latin typeface="Arial" pitchFamily="34" charset="0"/>
                <a:ea typeface="Arial" pitchFamily="34" charset="-122"/>
                <a:cs typeface="Arial" pitchFamily="34" charset="-120"/>
              </a:rPr>
              <a:t>— submit an application</a:t>
            </a:r>
            <a:endParaRPr lang="en-US" sz="2175" dirty="0"/>
          </a:p>
        </p:txBody>
      </p:sp>
      <p:sp>
        <p:nvSpPr>
          <p:cNvPr id="20" name="Shape 18"/>
          <p:cNvSpPr/>
          <p:nvPr/>
        </p:nvSpPr>
        <p:spPr>
          <a:xfrm>
            <a:off x="11811000" y="5938763"/>
            <a:ext cx="5334000" cy="9525"/>
          </a:xfrm>
          <a:prstGeom prst="rect">
            <a:avLst/>
          </a:prstGeom>
          <a:solidFill>
            <a:srgbClr val="201E1E">
              <a:alpha val="40000"/>
            </a:srgbClr>
          </a:solidFill>
          <a:ln/>
        </p:spPr>
        <p:txBody>
          <a:bodyPr/>
          <a:lstStyle/>
          <a:p>
            <a:endParaRPr lang="en-US"/>
          </a:p>
        </p:txBody>
      </p:sp>
      <p:sp>
        <p:nvSpPr>
          <p:cNvPr id="21" name="Text 19"/>
          <p:cNvSpPr/>
          <p:nvPr/>
        </p:nvSpPr>
        <p:spPr>
          <a:xfrm>
            <a:off x="12039600" y="5391580"/>
            <a:ext cx="5265420" cy="227590"/>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The round-trip works, end to end</a:t>
            </a:r>
            <a:endParaRPr lang="en-US" sz="2175" dirty="0"/>
          </a:p>
        </p:txBody>
      </p:sp>
      <p:sp>
        <p:nvSpPr>
          <p:cNvPr id="22" name="Shape 20"/>
          <p:cNvSpPr/>
          <p:nvPr/>
        </p:nvSpPr>
        <p:spPr>
          <a:xfrm>
            <a:off x="1143000" y="7281118"/>
            <a:ext cx="762000" cy="9525"/>
          </a:xfrm>
          <a:prstGeom prst="rect">
            <a:avLst/>
          </a:prstGeom>
          <a:solidFill>
            <a:srgbClr val="201E1E">
              <a:alpha val="40000"/>
            </a:srgbClr>
          </a:solidFill>
          <a:ln/>
        </p:spPr>
        <p:txBody>
          <a:bodyPr/>
          <a:lstStyle/>
          <a:p>
            <a:endParaRPr lang="en-US"/>
          </a:p>
        </p:txBody>
      </p:sp>
      <p:sp>
        <p:nvSpPr>
          <p:cNvPr id="23" name="Text 21"/>
          <p:cNvSpPr/>
          <p:nvPr/>
        </p:nvSpPr>
        <p:spPr>
          <a:xfrm>
            <a:off x="1143000" y="6313810"/>
            <a:ext cx="609600" cy="639887"/>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3</a:t>
            </a:r>
            <a:endParaRPr lang="en-US" sz="1875" dirty="0"/>
          </a:p>
        </p:txBody>
      </p:sp>
      <p:sp>
        <p:nvSpPr>
          <p:cNvPr id="24" name="Shape 22"/>
          <p:cNvSpPr/>
          <p:nvPr/>
        </p:nvSpPr>
        <p:spPr>
          <a:xfrm>
            <a:off x="1905000" y="7281118"/>
            <a:ext cx="9906000" cy="9525"/>
          </a:xfrm>
          <a:prstGeom prst="rect">
            <a:avLst/>
          </a:prstGeom>
          <a:solidFill>
            <a:srgbClr val="201E1E">
              <a:alpha val="40000"/>
            </a:srgbClr>
          </a:solidFill>
          <a:ln/>
        </p:spPr>
        <p:txBody>
          <a:bodyPr/>
          <a:lstStyle/>
          <a:p>
            <a:endParaRPr lang="en-US"/>
          </a:p>
        </p:txBody>
      </p:sp>
      <p:sp>
        <p:nvSpPr>
          <p:cNvPr id="25" name="Text 23"/>
          <p:cNvSpPr/>
          <p:nvPr/>
        </p:nvSpPr>
        <p:spPr>
          <a:xfrm>
            <a:off x="2133600" y="6305980"/>
            <a:ext cx="9745980" cy="655546"/>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Refresh the page</a:t>
            </a:r>
            <a:endParaRPr lang="en-US" sz="2175" dirty="0"/>
          </a:p>
        </p:txBody>
      </p:sp>
      <p:sp>
        <p:nvSpPr>
          <p:cNvPr id="26" name="Shape 24"/>
          <p:cNvSpPr/>
          <p:nvPr/>
        </p:nvSpPr>
        <p:spPr>
          <a:xfrm>
            <a:off x="11811000" y="7281118"/>
            <a:ext cx="5334000" cy="9525"/>
          </a:xfrm>
          <a:prstGeom prst="rect">
            <a:avLst/>
          </a:prstGeom>
          <a:solidFill>
            <a:srgbClr val="201E1E">
              <a:alpha val="40000"/>
            </a:srgbClr>
          </a:solidFill>
          <a:ln/>
        </p:spPr>
        <p:txBody>
          <a:bodyPr/>
          <a:lstStyle/>
          <a:p>
            <a:endParaRPr lang="en-US"/>
          </a:p>
        </p:txBody>
      </p:sp>
      <p:sp>
        <p:nvSpPr>
          <p:cNvPr id="27" name="Text 25"/>
          <p:cNvSpPr/>
          <p:nvPr/>
        </p:nvSpPr>
        <p:spPr>
          <a:xfrm>
            <a:off x="12039600" y="6305980"/>
            <a:ext cx="5265420" cy="655546"/>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AE1800"/>
                </a:solidFill>
                <a:latin typeface="Arial" pitchFamily="34" charset="0"/>
                <a:ea typeface="Arial" pitchFamily="34" charset="-122"/>
                <a:cs typeface="Arial" pitchFamily="34" charset="-120"/>
              </a:rPr>
              <a:t>It persisted </a:t>
            </a:r>
            <a:r>
              <a:rPr lang="en-US" sz="2175" dirty="0">
                <a:solidFill>
                  <a:srgbClr val="201E1D"/>
                </a:solidFill>
                <a:latin typeface="Arial" pitchFamily="34" charset="0"/>
                <a:ea typeface="Arial" pitchFamily="34" charset="-122"/>
                <a:cs typeface="Arial" pitchFamily="34" charset="-120"/>
              </a:rPr>
              <a:t>— the row hit Postgres, not state</a:t>
            </a:r>
            <a:endParaRPr lang="en-US" sz="2175" dirty="0"/>
          </a:p>
        </p:txBody>
      </p:sp>
      <p:sp>
        <p:nvSpPr>
          <p:cNvPr id="28" name="Shape 26"/>
          <p:cNvSpPr/>
          <p:nvPr/>
        </p:nvSpPr>
        <p:spPr>
          <a:xfrm>
            <a:off x="1143000" y="8195518"/>
            <a:ext cx="762000" cy="9525"/>
          </a:xfrm>
          <a:prstGeom prst="rect">
            <a:avLst/>
          </a:prstGeom>
          <a:solidFill>
            <a:srgbClr val="201E1E">
              <a:alpha val="40000"/>
            </a:srgbClr>
          </a:solidFill>
          <a:ln/>
        </p:spPr>
        <p:txBody>
          <a:bodyPr/>
          <a:lstStyle/>
          <a:p>
            <a:endParaRPr lang="en-US"/>
          </a:p>
        </p:txBody>
      </p:sp>
      <p:sp>
        <p:nvSpPr>
          <p:cNvPr id="29" name="Text 27"/>
          <p:cNvSpPr/>
          <p:nvPr/>
        </p:nvSpPr>
        <p:spPr>
          <a:xfrm>
            <a:off x="1143000" y="7656165"/>
            <a:ext cx="609600" cy="211931"/>
          </a:xfrm>
          <a:prstGeom prst="rect">
            <a:avLst/>
          </a:prstGeom>
          <a:noFill/>
          <a:ln/>
        </p:spPr>
        <p:txBody>
          <a:bodyPr wrap="square" lIns="25400" tIns="25400" rIns="25400" bIns="25400" rtlCol="0" anchor="ctr">
            <a:normAutofit/>
          </a:bodyPr>
          <a:lstStyle/>
          <a:p>
            <a:pPr marL="0" indent="0" algn="l">
              <a:lnSpc>
                <a:spcPct val="135965"/>
              </a:lnSpc>
              <a:buNone/>
            </a:pPr>
            <a:r>
              <a:rPr lang="en-US" sz="1875" dirty="0">
                <a:solidFill>
                  <a:srgbClr val="201E1D"/>
                </a:solidFill>
                <a:latin typeface="Courier New" pitchFamily="34" charset="0"/>
                <a:ea typeface="Courier New" pitchFamily="34" charset="-122"/>
                <a:cs typeface="Courier New" pitchFamily="34" charset="-120"/>
              </a:rPr>
              <a:t>4</a:t>
            </a:r>
            <a:endParaRPr lang="en-US" sz="1875" dirty="0"/>
          </a:p>
        </p:txBody>
      </p:sp>
      <p:sp>
        <p:nvSpPr>
          <p:cNvPr id="30" name="Shape 28"/>
          <p:cNvSpPr/>
          <p:nvPr/>
        </p:nvSpPr>
        <p:spPr>
          <a:xfrm>
            <a:off x="1905000" y="8195518"/>
            <a:ext cx="9906000" cy="9525"/>
          </a:xfrm>
          <a:prstGeom prst="rect">
            <a:avLst/>
          </a:prstGeom>
          <a:solidFill>
            <a:srgbClr val="201E1E">
              <a:alpha val="40000"/>
            </a:srgbClr>
          </a:solidFill>
          <a:ln/>
        </p:spPr>
        <p:txBody>
          <a:bodyPr/>
          <a:lstStyle/>
          <a:p>
            <a:endParaRPr lang="en-US"/>
          </a:p>
        </p:txBody>
      </p:sp>
      <p:sp>
        <p:nvSpPr>
          <p:cNvPr id="31" name="Text 29"/>
          <p:cNvSpPr/>
          <p:nvPr/>
        </p:nvSpPr>
        <p:spPr>
          <a:xfrm>
            <a:off x="2133600" y="7648336"/>
            <a:ext cx="9745980" cy="227590"/>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Repo URL in the channel</a:t>
            </a:r>
            <a:endParaRPr lang="en-US" sz="2175" dirty="0"/>
          </a:p>
        </p:txBody>
      </p:sp>
      <p:sp>
        <p:nvSpPr>
          <p:cNvPr id="32" name="Shape 30"/>
          <p:cNvSpPr/>
          <p:nvPr/>
        </p:nvSpPr>
        <p:spPr>
          <a:xfrm>
            <a:off x="11811000" y="8195518"/>
            <a:ext cx="5334000" cy="9525"/>
          </a:xfrm>
          <a:prstGeom prst="rect">
            <a:avLst/>
          </a:prstGeom>
          <a:solidFill>
            <a:srgbClr val="201E1E">
              <a:alpha val="40000"/>
            </a:srgbClr>
          </a:solidFill>
          <a:ln/>
        </p:spPr>
        <p:txBody>
          <a:bodyPr/>
          <a:lstStyle/>
          <a:p>
            <a:endParaRPr lang="en-US"/>
          </a:p>
        </p:txBody>
      </p:sp>
      <p:sp>
        <p:nvSpPr>
          <p:cNvPr id="33" name="Text 31"/>
          <p:cNvSpPr/>
          <p:nvPr/>
        </p:nvSpPr>
        <p:spPr>
          <a:xfrm>
            <a:off x="12039600" y="7648336"/>
            <a:ext cx="5265420" cy="227590"/>
          </a:xfrm>
          <a:prstGeom prst="rect">
            <a:avLst/>
          </a:prstGeom>
          <a:noFill/>
          <a:ln/>
        </p:spPr>
        <p:txBody>
          <a:bodyPr wrap="square" lIns="25400" tIns="25400" rIns="25400" bIns="25400" rtlCol="0" anchor="ctr">
            <a:normAutofit/>
          </a:bodyPr>
          <a:lstStyle/>
          <a:p>
            <a:pPr marL="0" indent="0" algn="l">
              <a:lnSpc>
                <a:spcPct val="134179"/>
              </a:lnSpc>
              <a:buNone/>
            </a:pPr>
            <a:r>
              <a:rPr lang="en-US" sz="2175" dirty="0">
                <a:solidFill>
                  <a:srgbClr val="201E1D"/>
                </a:solidFill>
                <a:latin typeface="Arial" pitchFamily="34" charset="0"/>
                <a:ea typeface="Arial" pitchFamily="34" charset="-122"/>
                <a:cs typeface="Arial" pitchFamily="34" charset="-120"/>
              </a:rPr>
              <a:t>README runs it from one command</a:t>
            </a:r>
            <a:endParaRPr lang="en-US" sz="2175" dirty="0"/>
          </a:p>
        </p:txBody>
      </p:sp>
      <p:sp>
        <p:nvSpPr>
          <p:cNvPr id="34" name="Text 32"/>
          <p:cNvSpPr/>
          <p:nvPr/>
        </p:nvSpPr>
        <p:spPr>
          <a:xfrm>
            <a:off x="1143000" y="8502328"/>
            <a:ext cx="15732151"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Demo two or three volunteers on the projector — ideally one who hit and fixed the </a:t>
            </a:r>
            <a:r>
              <a:rPr lang="en-US" sz="1875" dirty="0">
                <a:solidFill>
                  <a:srgbClr val="211D1D">
                    <a:alpha val="55000"/>
                  </a:srgbClr>
                </a:solidFill>
                <a:latin typeface="Courier New" pitchFamily="34" charset="0"/>
                <a:ea typeface="Courier New" pitchFamily="34" charset="-122"/>
                <a:cs typeface="Courier New" pitchFamily="34" charset="-120"/>
              </a:rPr>
              <a:t>db</a:t>
            </a:r>
            <a:r>
              <a:rPr lang="en-US" sz="2100" dirty="0">
                <a:solidFill>
                  <a:srgbClr val="211D1D">
                    <a:alpha val="55000"/>
                  </a:srgbClr>
                </a:solidFill>
                <a:latin typeface="Arial" pitchFamily="34" charset="0"/>
                <a:ea typeface="Arial" pitchFamily="34" charset="-122"/>
                <a:cs typeface="Arial" pitchFamily="34" charset="-120"/>
              </a:rPr>
              <a:t>-versus-</a:t>
            </a:r>
            <a:r>
              <a:rPr lang="en-US" sz="1875" dirty="0">
                <a:solidFill>
                  <a:srgbClr val="211D1D">
                    <a:alpha val="55000"/>
                  </a:srgbClr>
                </a:solidFill>
                <a:latin typeface="Courier New" pitchFamily="34" charset="0"/>
                <a:ea typeface="Courier New" pitchFamily="34" charset="-122"/>
                <a:cs typeface="Courier New" pitchFamily="34" charset="-120"/>
              </a:rPr>
              <a:t>localhost </a:t>
            </a:r>
            <a:r>
              <a:rPr lang="en-US" sz="2100" dirty="0">
                <a:solidFill>
                  <a:srgbClr val="211D1D">
                    <a:alpha val="55000"/>
                  </a:srgbClr>
                </a:solidFill>
                <a:latin typeface="Arial" pitchFamily="34" charset="0"/>
                <a:ea typeface="Arial" pitchFamily="34" charset="-122"/>
                <a:cs typeface="Arial" pitchFamily="34" charset="-120"/>
              </a:rPr>
              <a:t>issue. That fix is worth more to the room than a clean run.</a:t>
            </a:r>
            <a:endParaRPr lang="en-US" sz="2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06 · VERIFICATION · THE GATE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The Week 1 readiness gate</a:t>
            </a:r>
            <a:endParaRPr lang="en-US" sz="4800" dirty="0"/>
          </a:p>
        </p:txBody>
      </p:sp>
      <p:sp>
        <p:nvSpPr>
          <p:cNvPr id="4" name="Text 2"/>
          <p:cNvSpPr/>
          <p:nvPr/>
        </p:nvSpPr>
        <p:spPr>
          <a:xfrm>
            <a:off x="1143000" y="3206800"/>
            <a:ext cx="14668500" cy="2602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Three boxes per learner — </a:t>
            </a:r>
            <a:r>
              <a:rPr lang="en-US" sz="2550" dirty="0">
                <a:solidFill>
                  <a:srgbClr val="AE1800"/>
                </a:solidFill>
                <a:latin typeface="Arial" pitchFamily="34" charset="0"/>
                <a:ea typeface="Arial" pitchFamily="34" charset="-122"/>
                <a:cs typeface="Arial" pitchFamily="34" charset="-120"/>
              </a:rPr>
              <a:t>compose up</a:t>
            </a:r>
            <a:r>
              <a:rPr lang="en-US" sz="2550" dirty="0">
                <a:solidFill>
                  <a:srgbClr val="201E1D"/>
                </a:solidFill>
                <a:latin typeface="Arial" pitchFamily="34" charset="0"/>
                <a:ea typeface="Arial" pitchFamily="34" charset="-122"/>
                <a:cs typeface="Arial" pitchFamily="34" charset="-120"/>
              </a:rPr>
              <a:t>, </a:t>
            </a:r>
            <a:r>
              <a:rPr lang="en-US" sz="2550" dirty="0">
                <a:solidFill>
                  <a:srgbClr val="AE1800"/>
                </a:solidFill>
                <a:latin typeface="Arial" pitchFamily="34" charset="0"/>
                <a:ea typeface="Arial" pitchFamily="34" charset="-122"/>
                <a:cs typeface="Arial" pitchFamily="34" charset="-120"/>
              </a:rPr>
              <a:t>browser round-trip</a:t>
            </a:r>
            <a:r>
              <a:rPr lang="en-US" sz="2550" dirty="0">
                <a:solidFill>
                  <a:srgbClr val="201E1D"/>
                </a:solidFill>
                <a:latin typeface="Arial" pitchFamily="34" charset="0"/>
                <a:ea typeface="Arial" pitchFamily="34" charset="-122"/>
                <a:cs typeface="Arial" pitchFamily="34" charset="-120"/>
              </a:rPr>
              <a:t>, </a:t>
            </a:r>
            <a:r>
              <a:rPr lang="en-US" sz="2550" dirty="0">
                <a:solidFill>
                  <a:srgbClr val="AE1800"/>
                </a:solidFill>
                <a:latin typeface="Arial" pitchFamily="34" charset="0"/>
                <a:ea typeface="Arial" pitchFamily="34" charset="-122"/>
                <a:cs typeface="Arial" pitchFamily="34" charset="-120"/>
              </a:rPr>
              <a:t>pushed</a:t>
            </a:r>
            <a:endParaRPr lang="en-US" sz="2550" dirty="0"/>
          </a:p>
        </p:txBody>
      </p:sp>
      <p:sp>
        <p:nvSpPr>
          <p:cNvPr id="5" name="Text 3"/>
          <p:cNvSpPr/>
          <p:nvPr/>
        </p:nvSpPr>
        <p:spPr>
          <a:xfrm>
            <a:off x="1143000" y="3892525"/>
            <a:ext cx="14668500" cy="2602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All three ticked means you are ready for Week 1 — that is the whole purpose of the checkpoint</a:t>
            </a:r>
            <a:endParaRPr lang="en-US" sz="2550" dirty="0"/>
          </a:p>
        </p:txBody>
      </p:sp>
      <p:sp>
        <p:nvSpPr>
          <p:cNvPr id="6" name="Text 4"/>
          <p:cNvSpPr/>
          <p:nvPr/>
        </p:nvSpPr>
        <p:spPr>
          <a:xfrm>
            <a:off x="1143000" y="4578251"/>
            <a:ext cx="13735050" cy="7174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Anyone missing a tick gets a 1:1 follow-up slot before Week 1 — a quiet booking, never a public flag</a:t>
            </a:r>
            <a:endParaRPr lang="en-US" sz="25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3223915"/>
            <a:ext cx="2921176" cy="2266950"/>
          </a:xfrm>
          <a:prstGeom prst="rect">
            <a:avLst/>
          </a:prstGeom>
          <a:noFill/>
          <a:ln/>
        </p:spPr>
        <p:txBody>
          <a:bodyPr wrap="square" lIns="25400" tIns="25400" rIns="25400" bIns="25400" rtlCol="0" anchor="t">
            <a:normAutofit/>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07</a:t>
            </a:r>
            <a:endParaRPr lang="en-US" sz="19500" dirty="0"/>
          </a:p>
        </p:txBody>
      </p:sp>
      <p:sp>
        <p:nvSpPr>
          <p:cNvPr id="3" name="Text 1"/>
          <p:cNvSpPr/>
          <p:nvPr/>
        </p:nvSpPr>
        <p:spPr>
          <a:xfrm>
            <a:off x="1107653" y="5833765"/>
            <a:ext cx="4540277"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Wrap &amp; Week 1</a:t>
            </a:r>
            <a:endParaRPr lang="en-US" sz="4800" dirty="0"/>
          </a:p>
        </p:txBody>
      </p:sp>
      <p:sp>
        <p:nvSpPr>
          <p:cNvPr id="4" name="Text 2"/>
          <p:cNvSpPr/>
          <p:nvPr/>
        </p:nvSpPr>
        <p:spPr>
          <a:xfrm>
            <a:off x="1143000" y="6651427"/>
            <a:ext cx="6319160" cy="221084"/>
          </a:xfrm>
          <a:prstGeom prst="rect">
            <a:avLst/>
          </a:prstGeom>
          <a:noFill/>
          <a:ln/>
        </p:spPr>
        <p:txBody>
          <a:bodyPr wrap="square" lIns="25400" tIns="25400" rIns="25400" bIns="25400" rtlCol="0" anchor="t">
            <a:normAutofit/>
          </a:bodyPr>
          <a:lstStyle/>
          <a:p>
            <a:pPr marL="0" indent="0" algn="l">
              <a:lnSpc>
                <a:spcPct val="133538"/>
              </a:lnSpc>
              <a:buNone/>
            </a:pPr>
            <a:r>
              <a:rPr lang="en-US" sz="2100" kern="0" spc="126" dirty="0">
                <a:solidFill>
                  <a:srgbClr val="F3F2F2"/>
                </a:solidFill>
                <a:latin typeface="Arial" pitchFamily="34" charset="0"/>
                <a:ea typeface="Arial" pitchFamily="34" charset="-122"/>
                <a:cs typeface="Arial" pitchFamily="34" charset="-120"/>
              </a:rPr>
              <a:t>2:55 – 3:00 · 5 MINUTES · WHOLE GROUP</a:t>
            </a:r>
            <a:endParaRPr lang="en-US" sz="2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WRAP</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Look at what is on your screen</a:t>
            </a:r>
            <a:endParaRPr lang="en-US" sz="4800" dirty="0"/>
          </a:p>
        </p:txBody>
      </p:sp>
      <p:sp>
        <p:nvSpPr>
          <p:cNvPr id="4" name="Text 2"/>
          <p:cNvSpPr/>
          <p:nvPr/>
        </p:nvSpPr>
        <p:spPr>
          <a:xfrm>
            <a:off x="1143000" y="3143176"/>
            <a:ext cx="6317127" cy="390525"/>
          </a:xfrm>
          <a:prstGeom prst="rect">
            <a:avLst/>
          </a:prstGeom>
          <a:noFill/>
          <a:ln/>
        </p:spPr>
        <p:txBody>
          <a:bodyPr wrap="square" lIns="0" tIns="0" rIns="0" bIns="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A typed Python service — Module 1's world</a:t>
            </a:r>
            <a:endParaRPr lang="en-US" sz="2550" dirty="0"/>
          </a:p>
        </p:txBody>
      </p:sp>
      <p:sp>
        <p:nvSpPr>
          <p:cNvPr id="5" name="Text 3"/>
          <p:cNvSpPr/>
          <p:nvPr/>
        </p:nvSpPr>
        <p:spPr>
          <a:xfrm>
            <a:off x="1143000" y="3567038"/>
            <a:ext cx="14668500" cy="3524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11D1D">
                    <a:alpha val="55000"/>
                  </a:srgbClr>
                </a:solidFill>
                <a:latin typeface="Arial" pitchFamily="34" charset="0"/>
                <a:ea typeface="Arial" pitchFamily="34" charset="-122"/>
                <a:cs typeface="Arial" pitchFamily="34" charset="-120"/>
              </a:rPr>
              <a:t>The same routes, models and tests you built this morning.</a:t>
            </a:r>
            <a:endParaRPr lang="en-US" sz="2100" dirty="0"/>
          </a:p>
        </p:txBody>
      </p:sp>
      <p:sp>
        <p:nvSpPr>
          <p:cNvPr id="6" name="Text 4"/>
          <p:cNvSpPr/>
          <p:nvPr/>
        </p:nvSpPr>
        <p:spPr>
          <a:xfrm>
            <a:off x="1143000" y="4344963"/>
            <a:ext cx="14668500" cy="2602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A web page calling it over HTTP — Module 2's world</a:t>
            </a:r>
            <a:endParaRPr lang="en-US" sz="2550" dirty="0"/>
          </a:p>
        </p:txBody>
      </p:sp>
      <p:sp>
        <p:nvSpPr>
          <p:cNvPr id="7" name="Text 5"/>
          <p:cNvSpPr/>
          <p:nvPr/>
        </p:nvSpPr>
        <p:spPr>
          <a:xfrm>
            <a:off x="1143000" y="5030688"/>
            <a:ext cx="14668500" cy="260226"/>
          </a:xfrm>
          <a:prstGeom prst="rect">
            <a:avLst/>
          </a:prstGeom>
          <a:noFill/>
          <a:ln/>
        </p:spPr>
        <p:txBody>
          <a:bodyPr wrap="square" lIns="25400" tIns="25400" rIns="25400" bIns="25400" rtlCol="0" anchor="t">
            <a:normAutofit/>
          </a:bodyPr>
          <a:lstStyle/>
          <a:p>
            <a:pPr marL="0" indent="0" algn="l">
              <a:lnSpc>
                <a:spcPct val="123077"/>
              </a:lnSpc>
              <a:buNone/>
            </a:pPr>
            <a:r>
              <a:rPr lang="en-US" sz="2550" dirty="0">
                <a:solidFill>
                  <a:srgbClr val="201E1D"/>
                </a:solidFill>
                <a:latin typeface="Arial" pitchFamily="34" charset="0"/>
                <a:ea typeface="Arial" pitchFamily="34" charset="-122"/>
                <a:cs typeface="Arial" pitchFamily="34" charset="-120"/>
              </a:rPr>
              <a:t>A database, containers and Git holding it together — the plumbing every project here uses</a:t>
            </a:r>
            <a:endParaRPr lang="en-US" sz="2550" dirty="0"/>
          </a:p>
        </p:txBody>
      </p:sp>
      <p:sp>
        <p:nvSpPr>
          <p:cNvPr id="8" name="Text 6"/>
          <p:cNvSpPr/>
          <p:nvPr/>
        </p:nvSpPr>
        <p:spPr>
          <a:xfrm>
            <a:off x="1143000" y="6052914"/>
            <a:ext cx="9603038" cy="905396"/>
          </a:xfrm>
          <a:prstGeom prst="rect">
            <a:avLst/>
          </a:prstGeom>
          <a:noFill/>
          <a:ln/>
        </p:spPr>
        <p:txBody>
          <a:bodyPr wrap="square" lIns="25400" tIns="25400" rIns="25400" bIns="25400" rtlCol="0" anchor="t">
            <a:normAutofit/>
          </a:bodyPr>
          <a:lstStyle/>
          <a:p>
            <a:pPr marL="0" indent="0" algn="l">
              <a:lnSpc>
                <a:spcPct val="135652"/>
              </a:lnSpc>
              <a:buNone/>
            </a:pPr>
            <a:r>
              <a:rPr lang="en-US" sz="3000" b="1" kern="0" spc="-45" dirty="0">
                <a:solidFill>
                  <a:srgbClr val="201E1D"/>
                </a:solidFill>
                <a:latin typeface="Arial" pitchFamily="34" charset="0"/>
                <a:ea typeface="Arial" pitchFamily="34" charset="-122"/>
                <a:cs typeface="Arial" pitchFamily="34" charset="-120"/>
              </a:rPr>
              <a:t>Week 1 builds this </a:t>
            </a:r>
            <a:r>
              <a:rPr lang="en-US" sz="3000" b="1" kern="0" spc="-45" dirty="0">
                <a:solidFill>
                  <a:srgbClr val="AE1800"/>
                </a:solidFill>
                <a:latin typeface="Arial" pitchFamily="34" charset="0"/>
                <a:ea typeface="Arial" pitchFamily="34" charset="-122"/>
                <a:cs typeface="Arial" pitchFamily="34" charset="-120"/>
              </a:rPr>
              <a:t>same shape </a:t>
            </a:r>
            <a:r>
              <a:rPr lang="en-US" sz="3000" b="1" kern="0" spc="-45" dirty="0">
                <a:solidFill>
                  <a:srgbClr val="201E1D"/>
                </a:solidFill>
                <a:latin typeface="Arial" pitchFamily="34" charset="0"/>
                <a:ea typeface="Arial" pitchFamily="34" charset="-122"/>
                <a:cs typeface="Arial" pitchFamily="34" charset="-120"/>
              </a:rPr>
              <a:t>, wider — you have already closed the loop once.</a:t>
            </a:r>
            <a:endParaRPr lang="en-US" sz="3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07 · WRAP · BEFORE WEEK 1</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Two things before Week 1</a:t>
            </a:r>
            <a:endParaRPr lang="en-US" sz="4800" dirty="0"/>
          </a:p>
        </p:txBody>
      </p:sp>
      <p:sp>
        <p:nvSpPr>
          <p:cNvPr id="4" name="Shape 2"/>
          <p:cNvSpPr/>
          <p:nvPr/>
        </p:nvSpPr>
        <p:spPr>
          <a:xfrm>
            <a:off x="1143000" y="3190875"/>
            <a:ext cx="77724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854964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A one-minute retro</a:t>
            </a:r>
            <a:endParaRPr lang="en-US" sz="2550" dirty="0"/>
          </a:p>
        </p:txBody>
      </p:sp>
      <p:sp>
        <p:nvSpPr>
          <p:cNvPr id="6" name="Text 4"/>
          <p:cNvSpPr/>
          <p:nvPr/>
        </p:nvSpPr>
        <p:spPr>
          <a:xfrm>
            <a:off x="1143000" y="3931741"/>
            <a:ext cx="8005572" cy="6782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Post to the channel: one thing that clicked, one thing still fuzzy. It feeds the Week 1 opening and tells us where to slow down.</a:t>
            </a:r>
            <a:endParaRPr lang="en-US" sz="2100" dirty="0"/>
          </a:p>
        </p:txBody>
      </p:sp>
      <p:sp>
        <p:nvSpPr>
          <p:cNvPr id="7" name="Shape 5"/>
          <p:cNvSpPr/>
          <p:nvPr/>
        </p:nvSpPr>
        <p:spPr>
          <a:xfrm>
            <a:off x="9372600" y="3190875"/>
            <a:ext cx="7772400" cy="19050"/>
          </a:xfrm>
          <a:prstGeom prst="rect">
            <a:avLst/>
          </a:prstGeom>
          <a:solidFill>
            <a:srgbClr val="201E1E">
              <a:alpha val="40000"/>
            </a:srgbClr>
          </a:solidFill>
          <a:ln/>
        </p:spPr>
        <p:txBody>
          <a:bodyPr/>
          <a:lstStyle/>
          <a:p>
            <a:endParaRPr lang="en-US"/>
          </a:p>
        </p:txBody>
      </p:sp>
      <p:sp>
        <p:nvSpPr>
          <p:cNvPr id="8" name="Text 6"/>
          <p:cNvSpPr/>
          <p:nvPr/>
        </p:nvSpPr>
        <p:spPr>
          <a:xfrm>
            <a:off x="9372600" y="3425577"/>
            <a:ext cx="854964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Re-run it at home</a:t>
            </a:r>
            <a:endParaRPr lang="en-US" sz="2550" dirty="0"/>
          </a:p>
        </p:txBody>
      </p:sp>
      <p:sp>
        <p:nvSpPr>
          <p:cNvPr id="9" name="Text 7"/>
          <p:cNvSpPr/>
          <p:nvPr/>
        </p:nvSpPr>
        <p:spPr>
          <a:xfrm>
            <a:off x="9372600" y="3931741"/>
            <a:ext cx="8005572"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Clone </a:t>
            </a:r>
            <a:r>
              <a:rPr lang="en-US" sz="1890" dirty="0">
                <a:solidFill>
                  <a:srgbClr val="201E1D"/>
                </a:solidFill>
                <a:latin typeface="Courier New" pitchFamily="34" charset="0"/>
                <a:ea typeface="Courier New" pitchFamily="34" charset="-122"/>
                <a:cs typeface="Courier New" pitchFamily="34" charset="-120"/>
              </a:rPr>
              <a:t>checkpoint-complete </a:t>
            </a:r>
            <a:r>
              <a:rPr lang="en-US" sz="2100" dirty="0">
                <a:solidFill>
                  <a:srgbClr val="201E1D"/>
                </a:solidFill>
                <a:latin typeface="Arial" pitchFamily="34" charset="0"/>
                <a:ea typeface="Arial" pitchFamily="34" charset="-122"/>
                <a:cs typeface="Arial" pitchFamily="34" charset="-120"/>
              </a:rPr>
              <a:t>— the reference implementation — and bring it up from scratch in under fifteen minutes. Repetition is the consolidation.</a:t>
            </a:r>
            <a:endParaRPr lang="en-US" sz="2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EC3013"/>
        </a:solidFill>
        <a:effectLst/>
      </p:bgPr>
    </p:bg>
    <p:spTree>
      <p:nvGrpSpPr>
        <p:cNvPr id="1" name=""/>
        <p:cNvGrpSpPr/>
        <p:nvPr/>
      </p:nvGrpSpPr>
      <p:grpSpPr>
        <a:xfrm>
          <a:off x="0" y="0"/>
          <a:ext cx="0" cy="0"/>
          <a:chOff x="0" y="0"/>
          <a:chExt cx="0" cy="0"/>
        </a:xfrm>
      </p:grpSpPr>
      <p:sp>
        <p:nvSpPr>
          <p:cNvPr id="2" name="Text 0"/>
          <p:cNvSpPr/>
          <p:nvPr/>
        </p:nvSpPr>
        <p:spPr>
          <a:xfrm>
            <a:off x="1031602" y="3223915"/>
            <a:ext cx="2921176" cy="2266950"/>
          </a:xfrm>
          <a:prstGeom prst="rect">
            <a:avLst/>
          </a:prstGeom>
          <a:noFill/>
          <a:ln/>
        </p:spPr>
        <p:txBody>
          <a:bodyPr wrap="square" lIns="25400" tIns="25400" rIns="25400" bIns="25400" rtlCol="0" anchor="t">
            <a:normAutofit/>
          </a:bodyPr>
          <a:lstStyle/>
          <a:p>
            <a:pPr marL="0" indent="0" algn="l">
              <a:lnSpc>
                <a:spcPct val="78261"/>
              </a:lnSpc>
              <a:buNone/>
            </a:pPr>
            <a:r>
              <a:rPr lang="en-US" sz="19500" b="1" kern="0" spc="-390" dirty="0">
                <a:solidFill>
                  <a:srgbClr val="AE1800"/>
                </a:solidFill>
                <a:latin typeface="Arial" pitchFamily="34" charset="0"/>
                <a:ea typeface="Arial" pitchFamily="34" charset="-122"/>
                <a:cs typeface="Arial" pitchFamily="34" charset="-120"/>
              </a:rPr>
              <a:t>08</a:t>
            </a:r>
            <a:endParaRPr lang="en-US" sz="19500" dirty="0"/>
          </a:p>
        </p:txBody>
      </p:sp>
      <p:sp>
        <p:nvSpPr>
          <p:cNvPr id="3" name="Text 1"/>
          <p:cNvSpPr/>
          <p:nvPr/>
        </p:nvSpPr>
        <p:spPr>
          <a:xfrm>
            <a:off x="1107653" y="5833765"/>
            <a:ext cx="6050756"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F3F2F2"/>
                </a:solidFill>
                <a:latin typeface="Arial" pitchFamily="34" charset="0"/>
                <a:ea typeface="Arial" pitchFamily="34" charset="-122"/>
                <a:cs typeface="Arial" pitchFamily="34" charset="-120"/>
              </a:rPr>
              <a:t>Interview preparation</a:t>
            </a:r>
            <a:endParaRPr lang="en-US" sz="4800" dirty="0"/>
          </a:p>
        </p:txBody>
      </p:sp>
      <p:sp>
        <p:nvSpPr>
          <p:cNvPr id="4" name="Text 2"/>
          <p:cNvSpPr/>
          <p:nvPr/>
        </p:nvSpPr>
        <p:spPr>
          <a:xfrm>
            <a:off x="1143000" y="6651427"/>
            <a:ext cx="5959487" cy="221084"/>
          </a:xfrm>
          <a:prstGeom prst="rect">
            <a:avLst/>
          </a:prstGeom>
          <a:noFill/>
          <a:ln/>
        </p:spPr>
        <p:txBody>
          <a:bodyPr wrap="square" lIns="25400" tIns="25400" rIns="25400" bIns="25400" rtlCol="0" anchor="t">
            <a:normAutofit/>
          </a:bodyPr>
          <a:lstStyle/>
          <a:p>
            <a:pPr marL="0" indent="0" algn="l">
              <a:lnSpc>
                <a:spcPct val="133538"/>
              </a:lnSpc>
              <a:buNone/>
            </a:pPr>
            <a:r>
              <a:rPr lang="en-US" sz="2100" kern="0" spc="126" dirty="0">
                <a:solidFill>
                  <a:srgbClr val="F3F2F2"/>
                </a:solidFill>
                <a:latin typeface="Arial" pitchFamily="34" charset="0"/>
                <a:ea typeface="Arial" pitchFamily="34" charset="-122"/>
                <a:cs typeface="Arial" pitchFamily="34" charset="-120"/>
              </a:rPr>
              <a:t>APPENDIX · SELF-STUDY REFERENCE</a:t>
            </a:r>
            <a:endParaRPr lang="en-US" sz="2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08 · INTERVIEW</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How to use these questions</a:t>
            </a:r>
            <a:endParaRPr lang="en-US" sz="4800" dirty="0"/>
          </a:p>
        </p:txBody>
      </p:sp>
      <p:sp>
        <p:nvSpPr>
          <p:cNvPr id="4" name="Shape 2"/>
          <p:cNvSpPr/>
          <p:nvPr/>
        </p:nvSpPr>
        <p:spPr>
          <a:xfrm>
            <a:off x="1143000" y="3190875"/>
            <a:ext cx="5029200" cy="19050"/>
          </a:xfrm>
          <a:prstGeom prst="rect">
            <a:avLst/>
          </a:prstGeom>
          <a:solidFill>
            <a:srgbClr val="201E1E">
              <a:alpha val="40000"/>
            </a:srgbClr>
          </a:solidFill>
          <a:ln/>
        </p:spPr>
        <p:txBody>
          <a:bodyPr/>
          <a:lstStyle/>
          <a:p>
            <a:endParaRPr lang="en-US"/>
          </a:p>
        </p:txBody>
      </p:sp>
      <p:sp>
        <p:nvSpPr>
          <p:cNvPr id="5" name="Text 3"/>
          <p:cNvSpPr/>
          <p:nvPr/>
        </p:nvSpPr>
        <p:spPr>
          <a:xfrm>
            <a:off x="11430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Everything here is fair game</a:t>
            </a:r>
            <a:endParaRPr lang="en-US" sz="2550" dirty="0"/>
          </a:p>
        </p:txBody>
      </p:sp>
      <p:sp>
        <p:nvSpPr>
          <p:cNvPr id="6" name="Text 4"/>
          <p:cNvSpPr/>
          <p:nvPr/>
        </p:nvSpPr>
        <p:spPr>
          <a:xfrm>
            <a:off x="11430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These are the questions this exact stack invites — from a phone screen to a system-design round.</a:t>
            </a:r>
            <a:endParaRPr lang="en-US" sz="2100" dirty="0"/>
          </a:p>
        </p:txBody>
      </p:sp>
      <p:sp>
        <p:nvSpPr>
          <p:cNvPr id="7" name="Shape 5"/>
          <p:cNvSpPr/>
          <p:nvPr/>
        </p:nvSpPr>
        <p:spPr>
          <a:xfrm>
            <a:off x="6629400" y="3190875"/>
            <a:ext cx="5029200" cy="19050"/>
          </a:xfrm>
          <a:prstGeom prst="rect">
            <a:avLst/>
          </a:prstGeom>
          <a:solidFill>
            <a:srgbClr val="201E1E">
              <a:alpha val="40000"/>
            </a:srgbClr>
          </a:solidFill>
          <a:ln/>
        </p:spPr>
        <p:txBody>
          <a:bodyPr/>
          <a:lstStyle/>
          <a:p>
            <a:endParaRPr lang="en-US"/>
          </a:p>
        </p:txBody>
      </p:sp>
      <p:sp>
        <p:nvSpPr>
          <p:cNvPr id="8" name="Text 6"/>
          <p:cNvSpPr/>
          <p:nvPr/>
        </p:nvSpPr>
        <p:spPr>
          <a:xfrm>
            <a:off x="66294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Answers are starting points</a:t>
            </a:r>
            <a:endParaRPr lang="en-US" sz="2550" dirty="0"/>
          </a:p>
        </p:txBody>
      </p:sp>
      <p:sp>
        <p:nvSpPr>
          <p:cNvPr id="9" name="Text 7"/>
          <p:cNvSpPr/>
          <p:nvPr/>
        </p:nvSpPr>
        <p:spPr>
          <a:xfrm>
            <a:off x="66294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Say the model answer, then reach for the code you wrote today as the concrete example.</a:t>
            </a:r>
            <a:endParaRPr lang="en-US" sz="2100" dirty="0"/>
          </a:p>
        </p:txBody>
      </p:sp>
      <p:sp>
        <p:nvSpPr>
          <p:cNvPr id="10" name="Shape 8"/>
          <p:cNvSpPr/>
          <p:nvPr/>
        </p:nvSpPr>
        <p:spPr>
          <a:xfrm>
            <a:off x="12115800" y="3190875"/>
            <a:ext cx="5029200" cy="19050"/>
          </a:xfrm>
          <a:prstGeom prst="rect">
            <a:avLst/>
          </a:prstGeom>
          <a:solidFill>
            <a:srgbClr val="201E1E">
              <a:alpha val="40000"/>
            </a:srgbClr>
          </a:solidFill>
          <a:ln/>
        </p:spPr>
        <p:txBody>
          <a:bodyPr/>
          <a:lstStyle/>
          <a:p>
            <a:endParaRPr lang="en-US"/>
          </a:p>
        </p:txBody>
      </p:sp>
      <p:sp>
        <p:nvSpPr>
          <p:cNvPr id="11" name="Text 9"/>
          <p:cNvSpPr/>
          <p:nvPr/>
        </p:nvSpPr>
        <p:spPr>
          <a:xfrm>
            <a:off x="12115800" y="3425577"/>
            <a:ext cx="553212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kern="0" spc="-38" dirty="0">
                <a:solidFill>
                  <a:srgbClr val="201E1D"/>
                </a:solidFill>
                <a:latin typeface="Arial" pitchFamily="34" charset="0"/>
                <a:ea typeface="Arial" pitchFamily="34" charset="-122"/>
                <a:cs typeface="Arial" pitchFamily="34" charset="-120"/>
              </a:rPr>
              <a:t>Name the layer</a:t>
            </a:r>
            <a:endParaRPr lang="en-US" sz="2550" dirty="0"/>
          </a:p>
        </p:txBody>
      </p:sp>
      <p:sp>
        <p:nvSpPr>
          <p:cNvPr id="12" name="Text 10"/>
          <p:cNvSpPr/>
          <p:nvPr/>
        </p:nvSpPr>
        <p:spPr>
          <a:xfrm>
            <a:off x="12115800" y="3931741"/>
            <a:ext cx="5180076" cy="1135484"/>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E1D"/>
                </a:solidFill>
                <a:latin typeface="Arial" pitchFamily="34" charset="0"/>
                <a:ea typeface="Arial" pitchFamily="34" charset="-122"/>
                <a:cs typeface="Arial" pitchFamily="34" charset="-120"/>
              </a:rPr>
              <a:t>The strongest answers locate a thing in the stack — boundary, network, database — not just define it.</a:t>
            </a:r>
            <a:endParaRPr lang="en-US" sz="2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08 · INTERVIEW · PYTHON &amp; TYPING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Python &amp; typing</a:t>
            </a:r>
            <a:endParaRPr lang="en-US" sz="4800" dirty="0"/>
          </a:p>
        </p:txBody>
      </p:sp>
      <p:sp>
        <p:nvSpPr>
          <p:cNvPr id="4" name="Shape 2"/>
          <p:cNvSpPr/>
          <p:nvPr/>
        </p:nvSpPr>
        <p:spPr>
          <a:xfrm>
            <a:off x="1143000" y="2971800"/>
            <a:ext cx="14859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207422"/>
            <a:ext cx="14859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454524"/>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Q1</a:t>
            </a:r>
            <a:endParaRPr lang="en-US" sz="1800" dirty="0"/>
          </a:p>
        </p:txBody>
      </p:sp>
      <p:sp>
        <p:nvSpPr>
          <p:cNvPr id="7" name="Text 5"/>
          <p:cNvSpPr/>
          <p:nvPr/>
        </p:nvSpPr>
        <p:spPr>
          <a:xfrm>
            <a:off x="1981200" y="3454524"/>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Explain virtual environments and why they matter.</a:t>
            </a:r>
            <a:endParaRPr lang="en-US" sz="2550" dirty="0"/>
          </a:p>
        </p:txBody>
      </p:sp>
      <p:sp>
        <p:nvSpPr>
          <p:cNvPr id="8" name="Text 6"/>
          <p:cNvSpPr/>
          <p:nvPr/>
        </p:nvSpPr>
        <p:spPr>
          <a:xfrm>
            <a:off x="1981200" y="3819823"/>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Per-project Python and packages, reproducible from </a:t>
            </a:r>
            <a:r>
              <a:rPr lang="en-US" sz="1890" dirty="0">
                <a:solidFill>
                  <a:srgbClr val="201F1D">
                    <a:alpha val="62000"/>
                  </a:srgbClr>
                </a:solidFill>
                <a:latin typeface="Courier New" pitchFamily="34" charset="0"/>
                <a:ea typeface="Courier New" pitchFamily="34" charset="-122"/>
                <a:cs typeface="Courier New" pitchFamily="34" charset="-120"/>
              </a:rPr>
              <a:t>requirements.txt</a:t>
            </a:r>
            <a:r>
              <a:rPr lang="en-US" sz="2100" dirty="0">
                <a:solidFill>
                  <a:srgbClr val="201F1D">
                    <a:alpha val="62000"/>
                  </a:srgbClr>
                </a:solidFill>
                <a:latin typeface="Arial" pitchFamily="34" charset="0"/>
                <a:ea typeface="Arial" pitchFamily="34" charset="-122"/>
                <a:cs typeface="Arial" pitchFamily="34" charset="-120"/>
              </a:rPr>
              <a:t>; deleting the folder is a clean uninstall.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dependency hygiene.</a:t>
            </a:r>
            <a:endParaRPr lang="en-US" sz="2100" dirty="0"/>
          </a:p>
        </p:txBody>
      </p:sp>
      <p:sp>
        <p:nvSpPr>
          <p:cNvPr id="9" name="Shape 7"/>
          <p:cNvSpPr/>
          <p:nvPr/>
        </p:nvSpPr>
        <p:spPr>
          <a:xfrm>
            <a:off x="1143000" y="6985843"/>
            <a:ext cx="14859000" cy="19050"/>
          </a:xfrm>
          <a:prstGeom prst="rect">
            <a:avLst/>
          </a:prstGeom>
          <a:solidFill>
            <a:srgbClr val="201E1E">
              <a:alpha val="40000"/>
            </a:srgbClr>
          </a:solidFill>
          <a:ln/>
        </p:spPr>
        <p:txBody>
          <a:bodyPr/>
          <a:lstStyle/>
          <a:p>
            <a:endParaRPr lang="en-US"/>
          </a:p>
        </p:txBody>
      </p:sp>
      <p:sp>
        <p:nvSpPr>
          <p:cNvPr id="10" name="Text 8"/>
          <p:cNvSpPr/>
          <p:nvPr/>
        </p:nvSpPr>
        <p:spPr>
          <a:xfrm>
            <a:off x="1143000" y="5690146"/>
            <a:ext cx="647700" cy="8701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Q2</a:t>
            </a:r>
            <a:endParaRPr lang="en-US" sz="1800" dirty="0"/>
          </a:p>
        </p:txBody>
      </p:sp>
      <p:sp>
        <p:nvSpPr>
          <p:cNvPr id="11" name="Text 9"/>
          <p:cNvSpPr/>
          <p:nvPr/>
        </p:nvSpPr>
        <p:spPr>
          <a:xfrm>
            <a:off x="1981200" y="5690146"/>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dataclass or Pydantic model — what is the real difference?</a:t>
            </a:r>
            <a:endParaRPr lang="en-US" sz="2550" dirty="0"/>
          </a:p>
        </p:txBody>
      </p:sp>
      <p:sp>
        <p:nvSpPr>
          <p:cNvPr id="12" name="Text 10"/>
          <p:cNvSpPr/>
          <p:nvPr/>
        </p:nvSpPr>
        <p:spPr>
          <a:xfrm>
            <a:off x="1981200" y="6055444"/>
            <a:ext cx="14441424" cy="5048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A dataclass only annotates; Pydantic parses, coerces and rejects at runtime.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knowing where validation belongs.</a:t>
            </a:r>
            <a:endParaRPr lang="en-US" sz="2100" dirty="0"/>
          </a:p>
        </p:txBody>
      </p:sp>
      <p:sp>
        <p:nvSpPr>
          <p:cNvPr id="13" name="Shape 11"/>
          <p:cNvSpPr/>
          <p:nvPr/>
        </p:nvSpPr>
        <p:spPr>
          <a:xfrm>
            <a:off x="1143000" y="9221465"/>
            <a:ext cx="148590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7468567"/>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Q3</a:t>
            </a:r>
            <a:endParaRPr lang="en-US" sz="1800" dirty="0"/>
          </a:p>
        </p:txBody>
      </p:sp>
      <p:sp>
        <p:nvSpPr>
          <p:cNvPr id="15" name="Text 13"/>
          <p:cNvSpPr/>
          <p:nvPr/>
        </p:nvSpPr>
        <p:spPr>
          <a:xfrm>
            <a:off x="1981200" y="7468567"/>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When do you use </a:t>
            </a:r>
            <a:r>
              <a:rPr lang="en-US" sz="2295" b="1" dirty="0">
                <a:solidFill>
                  <a:srgbClr val="201E1D"/>
                </a:solidFill>
                <a:latin typeface="Courier New" pitchFamily="34" charset="0"/>
                <a:ea typeface="Courier New" pitchFamily="34" charset="-122"/>
                <a:cs typeface="Courier New" pitchFamily="34" charset="-120"/>
              </a:rPr>
              <a:t>float | None </a:t>
            </a:r>
            <a:r>
              <a:rPr lang="en-US" sz="2550" b="1" dirty="0">
                <a:solidFill>
                  <a:srgbClr val="201E1D"/>
                </a:solidFill>
                <a:latin typeface="Arial" pitchFamily="34" charset="0"/>
                <a:ea typeface="Arial" pitchFamily="34" charset="-122"/>
                <a:cs typeface="Arial" pitchFamily="34" charset="-120"/>
              </a:rPr>
              <a:t>instead of a required field?</a:t>
            </a:r>
            <a:endParaRPr lang="en-US" sz="2550" dirty="0"/>
          </a:p>
        </p:txBody>
      </p:sp>
      <p:sp>
        <p:nvSpPr>
          <p:cNvPr id="16" name="Text 14"/>
          <p:cNvSpPr/>
          <p:nvPr/>
        </p:nvSpPr>
        <p:spPr>
          <a:xfrm>
            <a:off x="1981200" y="7833866"/>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Only where absence is genuinely meaningful; otherwise require the value so callers do not guard everywhere.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modelling optionality on purpose.</a:t>
            </a:r>
            <a:endParaRPr lang="en-US" sz="2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08 · INTERVIEW · FASTAPI &amp; PYDANTIC</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FastAPI &amp; Pydantic</a:t>
            </a:r>
            <a:endParaRPr lang="en-US" sz="4800" dirty="0"/>
          </a:p>
        </p:txBody>
      </p:sp>
      <p:sp>
        <p:nvSpPr>
          <p:cNvPr id="4" name="Shape 2"/>
          <p:cNvSpPr/>
          <p:nvPr/>
        </p:nvSpPr>
        <p:spPr>
          <a:xfrm>
            <a:off x="1143000" y="2971800"/>
            <a:ext cx="14859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207422"/>
            <a:ext cx="14859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454524"/>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Q1</a:t>
            </a:r>
            <a:endParaRPr lang="en-US" sz="1800" dirty="0"/>
          </a:p>
        </p:txBody>
      </p:sp>
      <p:sp>
        <p:nvSpPr>
          <p:cNvPr id="7" name="Text 5"/>
          <p:cNvSpPr/>
          <p:nvPr/>
        </p:nvSpPr>
        <p:spPr>
          <a:xfrm>
            <a:off x="1981200" y="3454524"/>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How does FastAPI produce validation and docs with so little code?</a:t>
            </a:r>
            <a:endParaRPr lang="en-US" sz="2550" dirty="0"/>
          </a:p>
        </p:txBody>
      </p:sp>
      <p:sp>
        <p:nvSpPr>
          <p:cNvPr id="8" name="Text 6"/>
          <p:cNvSpPr/>
          <p:nvPr/>
        </p:nvSpPr>
        <p:spPr>
          <a:xfrm>
            <a:off x="1981200" y="3819823"/>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It reads your type hints and Pydantic models into an OpenAPI schema — Swagger UI, request validation and response filtering all follow.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hints doing double duty.</a:t>
            </a:r>
            <a:endParaRPr lang="en-US" sz="2100" dirty="0"/>
          </a:p>
        </p:txBody>
      </p:sp>
      <p:sp>
        <p:nvSpPr>
          <p:cNvPr id="9" name="Shape 7"/>
          <p:cNvSpPr/>
          <p:nvPr/>
        </p:nvSpPr>
        <p:spPr>
          <a:xfrm>
            <a:off x="1143000" y="7443043"/>
            <a:ext cx="14859000" cy="19050"/>
          </a:xfrm>
          <a:prstGeom prst="rect">
            <a:avLst/>
          </a:prstGeom>
          <a:solidFill>
            <a:srgbClr val="201E1E">
              <a:alpha val="40000"/>
            </a:srgbClr>
          </a:solidFill>
          <a:ln/>
        </p:spPr>
        <p:txBody>
          <a:bodyPr/>
          <a:lstStyle/>
          <a:p>
            <a:endParaRPr lang="en-US"/>
          </a:p>
        </p:txBody>
      </p:sp>
      <p:sp>
        <p:nvSpPr>
          <p:cNvPr id="10" name="Text 8"/>
          <p:cNvSpPr/>
          <p:nvPr/>
        </p:nvSpPr>
        <p:spPr>
          <a:xfrm>
            <a:off x="1143000" y="5690146"/>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Q2</a:t>
            </a:r>
            <a:endParaRPr lang="en-US" sz="1800" dirty="0"/>
          </a:p>
        </p:txBody>
      </p:sp>
      <p:sp>
        <p:nvSpPr>
          <p:cNvPr id="11" name="Text 9"/>
          <p:cNvSpPr/>
          <p:nvPr/>
        </p:nvSpPr>
        <p:spPr>
          <a:xfrm>
            <a:off x="1981200" y="5690146"/>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Distinguish 400, 404 and 422.</a:t>
            </a:r>
            <a:endParaRPr lang="en-US" sz="2550" dirty="0"/>
          </a:p>
        </p:txBody>
      </p:sp>
      <p:sp>
        <p:nvSpPr>
          <p:cNvPr id="12" name="Text 10"/>
          <p:cNvSpPr/>
          <p:nvPr/>
        </p:nvSpPr>
        <p:spPr>
          <a:xfrm>
            <a:off x="1981200" y="6055444"/>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422 is Pydantic rejecting the shape before the handler; 404 is your logic, resource missing; 400 is a generic bad request.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mapping errors to layers.</a:t>
            </a:r>
            <a:endParaRPr lang="en-US" sz="2100" dirty="0"/>
          </a:p>
        </p:txBody>
      </p:sp>
      <p:sp>
        <p:nvSpPr>
          <p:cNvPr id="13" name="Shape 11"/>
          <p:cNvSpPr/>
          <p:nvPr/>
        </p:nvSpPr>
        <p:spPr>
          <a:xfrm>
            <a:off x="1143000" y="9678665"/>
            <a:ext cx="148590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7925767"/>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Q3</a:t>
            </a:r>
            <a:endParaRPr lang="en-US" sz="1800" dirty="0"/>
          </a:p>
        </p:txBody>
      </p:sp>
      <p:sp>
        <p:nvSpPr>
          <p:cNvPr id="15" name="Text 13"/>
          <p:cNvSpPr/>
          <p:nvPr/>
        </p:nvSpPr>
        <p:spPr>
          <a:xfrm>
            <a:off x="1981200" y="7925767"/>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What does </a:t>
            </a:r>
            <a:r>
              <a:rPr lang="en-US" sz="2295" b="1" dirty="0">
                <a:solidFill>
                  <a:srgbClr val="201E1D"/>
                </a:solidFill>
                <a:latin typeface="Courier New" pitchFamily="34" charset="0"/>
                <a:ea typeface="Courier New" pitchFamily="34" charset="-122"/>
                <a:cs typeface="Courier New" pitchFamily="34" charset="-120"/>
              </a:rPr>
              <a:t>response_model </a:t>
            </a:r>
            <a:r>
              <a:rPr lang="en-US" sz="2550" b="1" dirty="0">
                <a:solidFill>
                  <a:srgbClr val="201E1D"/>
                </a:solidFill>
                <a:latin typeface="Arial" pitchFamily="34" charset="0"/>
                <a:ea typeface="Arial" pitchFamily="34" charset="-122"/>
                <a:cs typeface="Arial" pitchFamily="34" charset="-120"/>
              </a:rPr>
              <a:t>give you beyond docs?</a:t>
            </a:r>
            <a:endParaRPr lang="en-US" sz="2550" dirty="0"/>
          </a:p>
        </p:txBody>
      </p:sp>
      <p:sp>
        <p:nvSpPr>
          <p:cNvPr id="16" name="Text 14"/>
          <p:cNvSpPr/>
          <p:nvPr/>
        </p:nvSpPr>
        <p:spPr>
          <a:xfrm>
            <a:off x="1981200" y="8291066"/>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It validates and filters the output — internal fields never leak, and the response contract is enforced on the way out.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output as a contract.</a:t>
            </a:r>
            <a:endParaRPr lang="en-US" sz="2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08 · INTERVIEW · TESTING</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Testing</a:t>
            </a:r>
            <a:endParaRPr lang="en-US" sz="4800" dirty="0"/>
          </a:p>
        </p:txBody>
      </p:sp>
      <p:sp>
        <p:nvSpPr>
          <p:cNvPr id="4" name="Shape 2"/>
          <p:cNvSpPr/>
          <p:nvPr/>
        </p:nvSpPr>
        <p:spPr>
          <a:xfrm>
            <a:off x="1143000" y="2971800"/>
            <a:ext cx="14859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207422"/>
            <a:ext cx="14859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454524"/>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Q1</a:t>
            </a:r>
            <a:endParaRPr lang="en-US" sz="1800" dirty="0"/>
          </a:p>
        </p:txBody>
      </p:sp>
      <p:sp>
        <p:nvSpPr>
          <p:cNvPr id="7" name="Text 5"/>
          <p:cNvSpPr/>
          <p:nvPr/>
        </p:nvSpPr>
        <p:spPr>
          <a:xfrm>
            <a:off x="1981200" y="3454524"/>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How would you test a FastAPI endpoint?</a:t>
            </a:r>
            <a:endParaRPr lang="en-US" sz="2550" dirty="0"/>
          </a:p>
        </p:txBody>
      </p:sp>
      <p:sp>
        <p:nvSpPr>
          <p:cNvPr id="8" name="Text 6"/>
          <p:cNvSpPr/>
          <p:nvPr/>
        </p:nvSpPr>
        <p:spPr>
          <a:xfrm>
            <a:off x="1981200" y="3819823"/>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Drive it with </a:t>
            </a:r>
            <a:r>
              <a:rPr lang="en-US" sz="1890" dirty="0">
                <a:solidFill>
                  <a:srgbClr val="201F1D">
                    <a:alpha val="62000"/>
                  </a:srgbClr>
                </a:solidFill>
                <a:latin typeface="Courier New" pitchFamily="34" charset="0"/>
                <a:ea typeface="Courier New" pitchFamily="34" charset="-122"/>
                <a:cs typeface="Courier New" pitchFamily="34" charset="-120"/>
              </a:rPr>
              <a:t>TestClient </a:t>
            </a:r>
            <a:r>
              <a:rPr lang="en-US" sz="2100" dirty="0">
                <a:solidFill>
                  <a:srgbClr val="201F1D">
                    <a:alpha val="62000"/>
                  </a:srgbClr>
                </a:solidFill>
                <a:latin typeface="Arial" pitchFamily="34" charset="0"/>
                <a:ea typeface="Arial" pitchFamily="34" charset="-122"/>
                <a:cs typeface="Arial" pitchFamily="34" charset="-120"/>
              </a:rPr>
              <a:t>in-process; assert status, response shape and validation failures; isolate state per test.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testing behaviour, not internals.</a:t>
            </a:r>
            <a:endParaRPr lang="en-US" sz="2100" dirty="0"/>
          </a:p>
        </p:txBody>
      </p:sp>
      <p:sp>
        <p:nvSpPr>
          <p:cNvPr id="9" name="Shape 7"/>
          <p:cNvSpPr/>
          <p:nvPr/>
        </p:nvSpPr>
        <p:spPr>
          <a:xfrm>
            <a:off x="1143000" y="7443043"/>
            <a:ext cx="14859000" cy="19050"/>
          </a:xfrm>
          <a:prstGeom prst="rect">
            <a:avLst/>
          </a:prstGeom>
          <a:solidFill>
            <a:srgbClr val="201E1E">
              <a:alpha val="40000"/>
            </a:srgbClr>
          </a:solidFill>
          <a:ln/>
        </p:spPr>
        <p:txBody>
          <a:bodyPr/>
          <a:lstStyle/>
          <a:p>
            <a:endParaRPr lang="en-US"/>
          </a:p>
        </p:txBody>
      </p:sp>
      <p:sp>
        <p:nvSpPr>
          <p:cNvPr id="10" name="Text 8"/>
          <p:cNvSpPr/>
          <p:nvPr/>
        </p:nvSpPr>
        <p:spPr>
          <a:xfrm>
            <a:off x="1143000" y="5690146"/>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Q2</a:t>
            </a:r>
            <a:endParaRPr lang="en-US" sz="1800" dirty="0"/>
          </a:p>
        </p:txBody>
      </p:sp>
      <p:sp>
        <p:nvSpPr>
          <p:cNvPr id="11" name="Text 9"/>
          <p:cNvSpPr/>
          <p:nvPr/>
        </p:nvSpPr>
        <p:spPr>
          <a:xfrm>
            <a:off x="1981200" y="5690146"/>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Why bother testing the failure path?</a:t>
            </a:r>
            <a:endParaRPr lang="en-US" sz="2550" dirty="0"/>
          </a:p>
        </p:txBody>
      </p:sp>
      <p:sp>
        <p:nvSpPr>
          <p:cNvPr id="12" name="Text 10"/>
          <p:cNvSpPr/>
          <p:nvPr/>
        </p:nvSpPr>
        <p:spPr>
          <a:xfrm>
            <a:off x="1981200" y="6055444"/>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It guards the contract consumers depend on — a green happy-path test can still hide a broken validation rule.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contract thinking.</a:t>
            </a:r>
            <a:endParaRPr lang="en-US" sz="2100" dirty="0"/>
          </a:p>
        </p:txBody>
      </p:sp>
      <p:sp>
        <p:nvSpPr>
          <p:cNvPr id="13" name="Shape 11"/>
          <p:cNvSpPr/>
          <p:nvPr/>
        </p:nvSpPr>
        <p:spPr>
          <a:xfrm>
            <a:off x="1143000" y="9678665"/>
            <a:ext cx="148590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7925767"/>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Q3</a:t>
            </a:r>
            <a:endParaRPr lang="en-US" sz="1800" dirty="0"/>
          </a:p>
        </p:txBody>
      </p:sp>
      <p:sp>
        <p:nvSpPr>
          <p:cNvPr id="15" name="Text 13"/>
          <p:cNvSpPr/>
          <p:nvPr/>
        </p:nvSpPr>
        <p:spPr>
          <a:xfrm>
            <a:off x="1981200" y="7925767"/>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How do you keep a suite fast and deterministic?</a:t>
            </a:r>
            <a:endParaRPr lang="en-US" sz="2550" dirty="0"/>
          </a:p>
        </p:txBody>
      </p:sp>
      <p:sp>
        <p:nvSpPr>
          <p:cNvPr id="16" name="Text 14"/>
          <p:cNvSpPr/>
          <p:nvPr/>
        </p:nvSpPr>
        <p:spPr>
          <a:xfrm>
            <a:off x="1981200" y="8291066"/>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Run in-process with </a:t>
            </a:r>
            <a:r>
              <a:rPr lang="en-US" sz="1890" dirty="0">
                <a:solidFill>
                  <a:srgbClr val="201F1D">
                    <a:alpha val="62000"/>
                  </a:srgbClr>
                </a:solidFill>
                <a:latin typeface="Courier New" pitchFamily="34" charset="0"/>
                <a:ea typeface="Courier New" pitchFamily="34" charset="-122"/>
                <a:cs typeface="Courier New" pitchFamily="34" charset="-120"/>
              </a:rPr>
              <a:t>TestClient</a:t>
            </a:r>
            <a:r>
              <a:rPr lang="en-US" sz="2100" dirty="0">
                <a:solidFill>
                  <a:srgbClr val="201F1D">
                    <a:alpha val="62000"/>
                  </a:srgbClr>
                </a:solidFill>
                <a:latin typeface="Arial" pitchFamily="34" charset="0"/>
                <a:ea typeface="Arial" pitchFamily="34" charset="-122"/>
                <a:cs typeface="Arial" pitchFamily="34" charset="-120"/>
              </a:rPr>
              <a:t>, reset shared state per test, and touch no network — so order never matters.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reliable suites.</a:t>
            </a:r>
            <a:endParaRPr lang="en-US" sz="2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08 · INTERVIEW · DOCKER &amp; COMPOSE</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Docker &amp; Compose</a:t>
            </a:r>
            <a:endParaRPr lang="en-US" sz="4800" dirty="0"/>
          </a:p>
        </p:txBody>
      </p:sp>
      <p:sp>
        <p:nvSpPr>
          <p:cNvPr id="4" name="Shape 2"/>
          <p:cNvSpPr/>
          <p:nvPr/>
        </p:nvSpPr>
        <p:spPr>
          <a:xfrm>
            <a:off x="1143000" y="2971800"/>
            <a:ext cx="14859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207422"/>
            <a:ext cx="14859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454524"/>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Q1</a:t>
            </a:r>
            <a:endParaRPr lang="en-US" sz="1800" dirty="0"/>
          </a:p>
        </p:txBody>
      </p:sp>
      <p:sp>
        <p:nvSpPr>
          <p:cNvPr id="7" name="Text 5"/>
          <p:cNvSpPr/>
          <p:nvPr/>
        </p:nvSpPr>
        <p:spPr>
          <a:xfrm>
            <a:off x="1981200" y="3454524"/>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What do </a:t>
            </a:r>
            <a:r>
              <a:rPr lang="en-US" sz="2295" b="1" dirty="0">
                <a:solidFill>
                  <a:srgbClr val="201E1D"/>
                </a:solidFill>
                <a:latin typeface="Courier New" pitchFamily="34" charset="0"/>
                <a:ea typeface="Courier New" pitchFamily="34" charset="-122"/>
                <a:cs typeface="Courier New" pitchFamily="34" charset="-120"/>
              </a:rPr>
              <a:t>depends_on </a:t>
            </a:r>
            <a:r>
              <a:rPr lang="en-US" sz="2550" b="1" dirty="0">
                <a:solidFill>
                  <a:srgbClr val="201E1D"/>
                </a:solidFill>
                <a:latin typeface="Arial" pitchFamily="34" charset="0"/>
                <a:ea typeface="Arial" pitchFamily="34" charset="-122"/>
                <a:cs typeface="Arial" pitchFamily="34" charset="-120"/>
              </a:rPr>
              <a:t>and a healthcheck each do?</a:t>
            </a:r>
            <a:endParaRPr lang="en-US" sz="2550" dirty="0"/>
          </a:p>
        </p:txBody>
      </p:sp>
      <p:sp>
        <p:nvSpPr>
          <p:cNvPr id="8" name="Text 6"/>
          <p:cNvSpPr/>
          <p:nvPr/>
        </p:nvSpPr>
        <p:spPr>
          <a:xfrm>
            <a:off x="1981200" y="3819823"/>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1890" dirty="0">
                <a:solidFill>
                  <a:srgbClr val="201F1D">
                    <a:alpha val="62000"/>
                  </a:srgbClr>
                </a:solidFill>
                <a:latin typeface="Courier New" pitchFamily="34" charset="0"/>
                <a:ea typeface="Courier New" pitchFamily="34" charset="-122"/>
                <a:cs typeface="Courier New" pitchFamily="34" charset="-120"/>
              </a:rPr>
              <a:t>depends_on </a:t>
            </a:r>
            <a:r>
              <a:rPr lang="en-US" sz="2100" dirty="0">
                <a:solidFill>
                  <a:srgbClr val="201F1D">
                    <a:alpha val="62000"/>
                  </a:srgbClr>
                </a:solidFill>
                <a:latin typeface="Arial" pitchFamily="34" charset="0"/>
                <a:ea typeface="Arial" pitchFamily="34" charset="-122"/>
                <a:cs typeface="Arial" pitchFamily="34" charset="-120"/>
              </a:rPr>
              <a:t>orders startup; the healthcheck plus </a:t>
            </a:r>
            <a:r>
              <a:rPr lang="en-US" sz="1890" dirty="0">
                <a:solidFill>
                  <a:srgbClr val="201F1D">
                    <a:alpha val="62000"/>
                  </a:srgbClr>
                </a:solidFill>
                <a:latin typeface="Courier New" pitchFamily="34" charset="0"/>
                <a:ea typeface="Courier New" pitchFamily="34" charset="-122"/>
                <a:cs typeface="Courier New" pitchFamily="34" charset="-120"/>
              </a:rPr>
              <a:t>condition: service_healthy </a:t>
            </a:r>
            <a:r>
              <a:rPr lang="en-US" sz="2100" dirty="0">
                <a:solidFill>
                  <a:srgbClr val="201F1D">
                    <a:alpha val="62000"/>
                  </a:srgbClr>
                </a:solidFill>
                <a:latin typeface="Arial" pitchFamily="34" charset="0"/>
                <a:ea typeface="Arial" pitchFamily="34" charset="-122"/>
                <a:cs typeface="Arial" pitchFamily="34" charset="-120"/>
              </a:rPr>
              <a:t>makes the api wait until Postgres truly accepts connections.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started is not ready.</a:t>
            </a:r>
            <a:endParaRPr lang="en-US" sz="2100" dirty="0"/>
          </a:p>
        </p:txBody>
      </p:sp>
      <p:sp>
        <p:nvSpPr>
          <p:cNvPr id="9" name="Shape 7"/>
          <p:cNvSpPr/>
          <p:nvPr/>
        </p:nvSpPr>
        <p:spPr>
          <a:xfrm>
            <a:off x="1143000" y="7443043"/>
            <a:ext cx="14859000" cy="19050"/>
          </a:xfrm>
          <a:prstGeom prst="rect">
            <a:avLst/>
          </a:prstGeom>
          <a:solidFill>
            <a:srgbClr val="201E1E">
              <a:alpha val="40000"/>
            </a:srgbClr>
          </a:solidFill>
          <a:ln/>
        </p:spPr>
        <p:txBody>
          <a:bodyPr/>
          <a:lstStyle/>
          <a:p>
            <a:endParaRPr lang="en-US"/>
          </a:p>
        </p:txBody>
      </p:sp>
      <p:sp>
        <p:nvSpPr>
          <p:cNvPr id="10" name="Text 8"/>
          <p:cNvSpPr/>
          <p:nvPr/>
        </p:nvSpPr>
        <p:spPr>
          <a:xfrm>
            <a:off x="1143000" y="5690146"/>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Q2</a:t>
            </a:r>
            <a:endParaRPr lang="en-US" sz="1800" dirty="0"/>
          </a:p>
        </p:txBody>
      </p:sp>
      <p:sp>
        <p:nvSpPr>
          <p:cNvPr id="11" name="Text 9"/>
          <p:cNvSpPr/>
          <p:nvPr/>
        </p:nvSpPr>
        <p:spPr>
          <a:xfrm>
            <a:off x="1981200" y="5690146"/>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Why does the browser use </a:t>
            </a:r>
            <a:r>
              <a:rPr lang="en-US" sz="2295" b="1" dirty="0">
                <a:solidFill>
                  <a:srgbClr val="201E1D"/>
                </a:solidFill>
                <a:latin typeface="Courier New" pitchFamily="34" charset="0"/>
                <a:ea typeface="Courier New" pitchFamily="34" charset="-122"/>
                <a:cs typeface="Courier New" pitchFamily="34" charset="-120"/>
              </a:rPr>
              <a:t>localhost </a:t>
            </a:r>
            <a:r>
              <a:rPr lang="en-US" sz="2550" b="1" dirty="0">
                <a:solidFill>
                  <a:srgbClr val="201E1D"/>
                </a:solidFill>
                <a:latin typeface="Arial" pitchFamily="34" charset="0"/>
                <a:ea typeface="Arial" pitchFamily="34" charset="-122"/>
                <a:cs typeface="Arial" pitchFamily="34" charset="-120"/>
              </a:rPr>
              <a:t>but the api uses </a:t>
            </a:r>
            <a:r>
              <a:rPr lang="en-US" sz="2295" b="1" dirty="0">
                <a:solidFill>
                  <a:srgbClr val="201E1D"/>
                </a:solidFill>
                <a:latin typeface="Courier New" pitchFamily="34" charset="0"/>
                <a:ea typeface="Courier New" pitchFamily="34" charset="-122"/>
                <a:cs typeface="Courier New" pitchFamily="34" charset="-120"/>
              </a:rPr>
              <a:t>db</a:t>
            </a:r>
            <a:r>
              <a:rPr lang="en-US" sz="2550" b="1" dirty="0">
                <a:solidFill>
                  <a:srgbClr val="201E1D"/>
                </a:solidFill>
                <a:latin typeface="Arial" pitchFamily="34" charset="0"/>
                <a:ea typeface="Arial" pitchFamily="34" charset="-122"/>
                <a:cs typeface="Arial" pitchFamily="34" charset="-120"/>
              </a:rPr>
              <a:t>?</a:t>
            </a:r>
            <a:endParaRPr lang="en-US" sz="2550" dirty="0"/>
          </a:p>
        </p:txBody>
      </p:sp>
      <p:sp>
        <p:nvSpPr>
          <p:cNvPr id="12" name="Text 10"/>
          <p:cNvSpPr/>
          <p:nvPr/>
        </p:nvSpPr>
        <p:spPr>
          <a:xfrm>
            <a:off x="1981200" y="6055444"/>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Service-name DNS resolves inside the compose network; the browser is outside it and reaches the api on the published host port.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the network boundary.</a:t>
            </a:r>
            <a:endParaRPr lang="en-US" sz="2100" dirty="0"/>
          </a:p>
        </p:txBody>
      </p:sp>
      <p:sp>
        <p:nvSpPr>
          <p:cNvPr id="13" name="Shape 11"/>
          <p:cNvSpPr/>
          <p:nvPr/>
        </p:nvSpPr>
        <p:spPr>
          <a:xfrm>
            <a:off x="1143000" y="9221465"/>
            <a:ext cx="148590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7925767"/>
            <a:ext cx="647700" cy="8701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Q3</a:t>
            </a:r>
            <a:endParaRPr lang="en-US" sz="1800" dirty="0"/>
          </a:p>
        </p:txBody>
      </p:sp>
      <p:sp>
        <p:nvSpPr>
          <p:cNvPr id="15" name="Text 13"/>
          <p:cNvSpPr/>
          <p:nvPr/>
        </p:nvSpPr>
        <p:spPr>
          <a:xfrm>
            <a:off x="1981200" y="7925767"/>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Why copy the dependency files before the source in a Dockerfile?</a:t>
            </a:r>
            <a:endParaRPr lang="en-US" sz="2550" dirty="0"/>
          </a:p>
        </p:txBody>
      </p:sp>
      <p:sp>
        <p:nvSpPr>
          <p:cNvPr id="16" name="Text 14"/>
          <p:cNvSpPr/>
          <p:nvPr/>
        </p:nvSpPr>
        <p:spPr>
          <a:xfrm>
            <a:off x="1981200" y="8291066"/>
            <a:ext cx="14441424" cy="5048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Layer caching: dependencies re-install only when they change, not on every source edit.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build performance.</a:t>
            </a:r>
            <a:endParaRPr lang="en-US" sz="2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08 · INTERVIEW · DATABASES &amp; REST</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Databases &amp; REST</a:t>
            </a:r>
            <a:endParaRPr lang="en-US" sz="4800" dirty="0"/>
          </a:p>
        </p:txBody>
      </p:sp>
      <p:sp>
        <p:nvSpPr>
          <p:cNvPr id="4" name="Shape 2"/>
          <p:cNvSpPr/>
          <p:nvPr/>
        </p:nvSpPr>
        <p:spPr>
          <a:xfrm>
            <a:off x="1143000" y="2971800"/>
            <a:ext cx="14859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207422"/>
            <a:ext cx="14859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454524"/>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Q1</a:t>
            </a:r>
            <a:endParaRPr lang="en-US" sz="1800" dirty="0"/>
          </a:p>
        </p:txBody>
      </p:sp>
      <p:sp>
        <p:nvSpPr>
          <p:cNvPr id="7" name="Text 5"/>
          <p:cNvSpPr/>
          <p:nvPr/>
        </p:nvSpPr>
        <p:spPr>
          <a:xfrm>
            <a:off x="1981200" y="3454524"/>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How do you keep request data from causing SQL injection?</a:t>
            </a:r>
            <a:endParaRPr lang="en-US" sz="2550" dirty="0"/>
          </a:p>
        </p:txBody>
      </p:sp>
      <p:sp>
        <p:nvSpPr>
          <p:cNvPr id="8" name="Text 6"/>
          <p:cNvSpPr/>
          <p:nvPr/>
        </p:nvSpPr>
        <p:spPr>
          <a:xfrm>
            <a:off x="1981200" y="3819823"/>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Parameterised queries — named or placeholder params — never string-formatted SQL. The driver escapes the values.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safe data access.</a:t>
            </a:r>
            <a:endParaRPr lang="en-US" sz="2100" dirty="0"/>
          </a:p>
        </p:txBody>
      </p:sp>
      <p:sp>
        <p:nvSpPr>
          <p:cNvPr id="9" name="Shape 7"/>
          <p:cNvSpPr/>
          <p:nvPr/>
        </p:nvSpPr>
        <p:spPr>
          <a:xfrm>
            <a:off x="1143000" y="7443043"/>
            <a:ext cx="14859000" cy="19050"/>
          </a:xfrm>
          <a:prstGeom prst="rect">
            <a:avLst/>
          </a:prstGeom>
          <a:solidFill>
            <a:srgbClr val="201E1E">
              <a:alpha val="40000"/>
            </a:srgbClr>
          </a:solidFill>
          <a:ln/>
        </p:spPr>
        <p:txBody>
          <a:bodyPr/>
          <a:lstStyle/>
          <a:p>
            <a:endParaRPr lang="en-US"/>
          </a:p>
        </p:txBody>
      </p:sp>
      <p:sp>
        <p:nvSpPr>
          <p:cNvPr id="10" name="Text 8"/>
          <p:cNvSpPr/>
          <p:nvPr/>
        </p:nvSpPr>
        <p:spPr>
          <a:xfrm>
            <a:off x="1143000" y="5690146"/>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Q2</a:t>
            </a:r>
            <a:endParaRPr lang="en-US" sz="1800" dirty="0"/>
          </a:p>
        </p:txBody>
      </p:sp>
      <p:sp>
        <p:nvSpPr>
          <p:cNvPr id="11" name="Text 9"/>
          <p:cNvSpPr/>
          <p:nvPr/>
        </p:nvSpPr>
        <p:spPr>
          <a:xfrm>
            <a:off x="1981200" y="5690146"/>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Should validation live in the API or the database?</a:t>
            </a:r>
            <a:endParaRPr lang="en-US" sz="2550" dirty="0"/>
          </a:p>
        </p:txBody>
      </p:sp>
      <p:sp>
        <p:nvSpPr>
          <p:cNvPr id="12" name="Text 10"/>
          <p:cNvSpPr/>
          <p:nvPr/>
        </p:nvSpPr>
        <p:spPr>
          <a:xfrm>
            <a:off x="1981200" y="6055444"/>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Both, defensively: Pydantic at the boundary for precise errors, a DB </a:t>
            </a:r>
            <a:r>
              <a:rPr lang="en-US" sz="1890" dirty="0">
                <a:solidFill>
                  <a:srgbClr val="201F1D">
                    <a:alpha val="62000"/>
                  </a:srgbClr>
                </a:solidFill>
                <a:latin typeface="Courier New" pitchFamily="34" charset="0"/>
                <a:ea typeface="Courier New" pitchFamily="34" charset="-122"/>
                <a:cs typeface="Courier New" pitchFamily="34" charset="-120"/>
              </a:rPr>
              <a:t>CHECK </a:t>
            </a:r>
            <a:r>
              <a:rPr lang="en-US" sz="2100" dirty="0">
                <a:solidFill>
                  <a:srgbClr val="201F1D">
                    <a:alpha val="62000"/>
                  </a:srgbClr>
                </a:solidFill>
                <a:latin typeface="Arial" pitchFamily="34" charset="0"/>
                <a:ea typeface="Arial" pitchFamily="34" charset="-122"/>
                <a:cs typeface="Arial" pitchFamily="34" charset="-120"/>
              </a:rPr>
              <a:t>/ </a:t>
            </a:r>
            <a:r>
              <a:rPr lang="en-US" sz="1890" dirty="0">
                <a:solidFill>
                  <a:srgbClr val="201F1D">
                    <a:alpha val="62000"/>
                  </a:srgbClr>
                </a:solidFill>
                <a:latin typeface="Courier New" pitchFamily="34" charset="0"/>
                <a:ea typeface="Courier New" pitchFamily="34" charset="-122"/>
                <a:cs typeface="Courier New" pitchFamily="34" charset="-120"/>
              </a:rPr>
              <a:t>NOT NULL </a:t>
            </a:r>
            <a:r>
              <a:rPr lang="en-US" sz="2100" dirty="0">
                <a:solidFill>
                  <a:srgbClr val="201F1D">
                    <a:alpha val="62000"/>
                  </a:srgbClr>
                </a:solidFill>
                <a:latin typeface="Arial" pitchFamily="34" charset="0"/>
                <a:ea typeface="Arial" pitchFamily="34" charset="-122"/>
                <a:cs typeface="Arial" pitchFamily="34" charset="-120"/>
              </a:rPr>
              <a:t>as the last line.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defence in depth.</a:t>
            </a:r>
            <a:endParaRPr lang="en-US" sz="2100" dirty="0"/>
          </a:p>
        </p:txBody>
      </p:sp>
      <p:sp>
        <p:nvSpPr>
          <p:cNvPr id="13" name="Shape 11"/>
          <p:cNvSpPr/>
          <p:nvPr/>
        </p:nvSpPr>
        <p:spPr>
          <a:xfrm>
            <a:off x="1143000" y="9221465"/>
            <a:ext cx="148590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7925767"/>
            <a:ext cx="647700" cy="8701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Q3</a:t>
            </a:r>
            <a:endParaRPr lang="en-US" sz="1800" dirty="0"/>
          </a:p>
        </p:txBody>
      </p:sp>
      <p:sp>
        <p:nvSpPr>
          <p:cNvPr id="15" name="Text 13"/>
          <p:cNvSpPr/>
          <p:nvPr/>
        </p:nvSpPr>
        <p:spPr>
          <a:xfrm>
            <a:off x="1981200" y="7925767"/>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How does the list endpoint scale as rows grow?</a:t>
            </a:r>
            <a:endParaRPr lang="en-US" sz="2550" dirty="0"/>
          </a:p>
        </p:txBody>
      </p:sp>
      <p:sp>
        <p:nvSpPr>
          <p:cNvPr id="16" name="Text 14"/>
          <p:cNvSpPr/>
          <p:nvPr/>
        </p:nvSpPr>
        <p:spPr>
          <a:xfrm>
            <a:off x="1981200" y="8291066"/>
            <a:ext cx="14441424" cy="5048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Add pagination and an index on the sort column, and avoid </a:t>
            </a:r>
            <a:r>
              <a:rPr lang="en-US" sz="1890" dirty="0">
                <a:solidFill>
                  <a:srgbClr val="201F1D">
                    <a:alpha val="62000"/>
                  </a:srgbClr>
                </a:solidFill>
                <a:latin typeface="Courier New" pitchFamily="34" charset="0"/>
                <a:ea typeface="Courier New" pitchFamily="34" charset="-122"/>
                <a:cs typeface="Courier New" pitchFamily="34" charset="-120"/>
              </a:rPr>
              <a:t>SELECT * </a:t>
            </a:r>
            <a:r>
              <a:rPr lang="en-US" sz="2100" dirty="0">
                <a:solidFill>
                  <a:srgbClr val="201F1D">
                    <a:alpha val="62000"/>
                  </a:srgbClr>
                </a:solidFill>
                <a:latin typeface="Arial" pitchFamily="34" charset="0"/>
                <a:ea typeface="Arial" pitchFamily="34" charset="-122"/>
                <a:cs typeface="Arial" pitchFamily="34" charset="-120"/>
              </a:rPr>
              <a:t>in hot paths.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thinking past the toy.</a:t>
            </a:r>
            <a:endParaRPr lang="en-US" sz="2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08 · INTERVIEW · SYSTEM DESIGN · SENIOR</a:t>
            </a:r>
            <a:endParaRPr lang="en-US" sz="1800" dirty="0"/>
          </a:p>
        </p:txBody>
      </p:sp>
      <p:sp>
        <p:nvSpPr>
          <p:cNvPr id="3" name="Text 1"/>
          <p:cNvSpPr/>
          <p:nvPr/>
        </p:nvSpPr>
        <p:spPr>
          <a:xfrm>
            <a:off x="1107653" y="1849338"/>
            <a:ext cx="17641081" cy="474762"/>
          </a:xfrm>
          <a:prstGeom prst="rect">
            <a:avLst/>
          </a:prstGeom>
          <a:noFill/>
          <a:ln/>
        </p:spPr>
        <p:txBody>
          <a:bodyPr wrap="square" lIns="25400" tIns="25400" rIns="25400" bIns="25400" rtlCol="0" anchor="t">
            <a:normAutofit/>
          </a:bodyPr>
          <a:lstStyle/>
          <a:p>
            <a:pPr marL="0" indent="0" algn="l">
              <a:lnSpc>
                <a:spcPct val="97959"/>
              </a:lnSpc>
              <a:buNone/>
            </a:pPr>
            <a:r>
              <a:rPr lang="en-US" sz="4800" b="1" kern="0" spc="-72" dirty="0">
                <a:solidFill>
                  <a:srgbClr val="201E1D"/>
                </a:solidFill>
                <a:latin typeface="Arial" pitchFamily="34" charset="0"/>
                <a:ea typeface="Arial" pitchFamily="34" charset="-122"/>
                <a:cs typeface="Arial" pitchFamily="34" charset="-120"/>
              </a:rPr>
              <a:t>The whole bridge</a:t>
            </a:r>
            <a:endParaRPr lang="en-US" sz="4800" dirty="0"/>
          </a:p>
        </p:txBody>
      </p:sp>
      <p:sp>
        <p:nvSpPr>
          <p:cNvPr id="4" name="Shape 2"/>
          <p:cNvSpPr/>
          <p:nvPr/>
        </p:nvSpPr>
        <p:spPr>
          <a:xfrm>
            <a:off x="1143000" y="2971800"/>
            <a:ext cx="14859000" cy="19050"/>
          </a:xfrm>
          <a:prstGeom prst="rect">
            <a:avLst/>
          </a:prstGeom>
          <a:solidFill>
            <a:srgbClr val="201E1E">
              <a:alpha val="40000"/>
            </a:srgbClr>
          </a:solidFill>
          <a:ln/>
        </p:spPr>
        <p:txBody>
          <a:bodyPr/>
          <a:lstStyle/>
          <a:p>
            <a:endParaRPr lang="en-US"/>
          </a:p>
        </p:txBody>
      </p:sp>
      <p:sp>
        <p:nvSpPr>
          <p:cNvPr id="5" name="Shape 3"/>
          <p:cNvSpPr/>
          <p:nvPr/>
        </p:nvSpPr>
        <p:spPr>
          <a:xfrm>
            <a:off x="1143000" y="5207422"/>
            <a:ext cx="14859000" cy="19050"/>
          </a:xfrm>
          <a:prstGeom prst="rect">
            <a:avLst/>
          </a:prstGeom>
          <a:solidFill>
            <a:srgbClr val="201E1E">
              <a:alpha val="40000"/>
            </a:srgbClr>
          </a:solidFill>
          <a:ln/>
        </p:spPr>
        <p:txBody>
          <a:bodyPr/>
          <a:lstStyle/>
          <a:p>
            <a:endParaRPr lang="en-US"/>
          </a:p>
        </p:txBody>
      </p:sp>
      <p:sp>
        <p:nvSpPr>
          <p:cNvPr id="6" name="Text 4"/>
          <p:cNvSpPr/>
          <p:nvPr/>
        </p:nvSpPr>
        <p:spPr>
          <a:xfrm>
            <a:off x="1143000" y="3454524"/>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Q1</a:t>
            </a:r>
            <a:endParaRPr lang="en-US" sz="1800" dirty="0"/>
          </a:p>
        </p:txBody>
      </p:sp>
      <p:sp>
        <p:nvSpPr>
          <p:cNvPr id="7" name="Text 5"/>
          <p:cNvSpPr/>
          <p:nvPr/>
        </p:nvSpPr>
        <p:spPr>
          <a:xfrm>
            <a:off x="1981200" y="3454524"/>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Trace a request from browser click to database row and back.</a:t>
            </a:r>
            <a:endParaRPr lang="en-US" sz="2550" dirty="0"/>
          </a:p>
        </p:txBody>
      </p:sp>
      <p:sp>
        <p:nvSpPr>
          <p:cNvPr id="8" name="Text 6"/>
          <p:cNvSpPr/>
          <p:nvPr/>
        </p:nvSpPr>
        <p:spPr>
          <a:xfrm>
            <a:off x="1981200" y="3819823"/>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POST → CORS allows the origin → route → Pydantic validates → parameterised </a:t>
            </a:r>
            <a:r>
              <a:rPr lang="en-US" sz="1890" dirty="0">
                <a:solidFill>
                  <a:srgbClr val="201F1D">
                    <a:alpha val="62000"/>
                  </a:srgbClr>
                </a:solidFill>
                <a:latin typeface="Courier New" pitchFamily="34" charset="0"/>
                <a:ea typeface="Courier New" pitchFamily="34" charset="-122"/>
                <a:cs typeface="Courier New" pitchFamily="34" charset="-120"/>
              </a:rPr>
              <a:t>INSERT … RETURNING </a:t>
            </a:r>
            <a:r>
              <a:rPr lang="en-US" sz="2100" dirty="0">
                <a:solidFill>
                  <a:srgbClr val="201F1D">
                    <a:alpha val="62000"/>
                  </a:srgbClr>
                </a:solidFill>
                <a:latin typeface="Arial" pitchFamily="34" charset="0"/>
                <a:ea typeface="Arial" pitchFamily="34" charset="-122"/>
                <a:cs typeface="Arial" pitchFamily="34" charset="-120"/>
              </a:rPr>
              <a:t>→ row → </a:t>
            </a:r>
            <a:r>
              <a:rPr lang="en-US" sz="1890" dirty="0">
                <a:solidFill>
                  <a:srgbClr val="201F1D">
                    <a:alpha val="62000"/>
                  </a:srgbClr>
                </a:solidFill>
                <a:latin typeface="Courier New" pitchFamily="34" charset="0"/>
                <a:ea typeface="Courier New" pitchFamily="34" charset="-122"/>
                <a:cs typeface="Courier New" pitchFamily="34" charset="-120"/>
              </a:rPr>
              <a:t>ApplicationOut </a:t>
            </a:r>
            <a:r>
              <a:rPr lang="en-US" sz="2100" dirty="0">
                <a:solidFill>
                  <a:srgbClr val="201F1D">
                    <a:alpha val="62000"/>
                  </a:srgbClr>
                </a:solidFill>
                <a:latin typeface="Arial" pitchFamily="34" charset="0"/>
                <a:ea typeface="Arial" pitchFamily="34" charset="-122"/>
                <a:cs typeface="Arial" pitchFamily="34" charset="-120"/>
              </a:rPr>
              <a:t>→ JSON → React re-renders.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end-to-end reasoning.</a:t>
            </a:r>
            <a:endParaRPr lang="en-US" sz="2100" dirty="0"/>
          </a:p>
        </p:txBody>
      </p:sp>
      <p:sp>
        <p:nvSpPr>
          <p:cNvPr id="9" name="Shape 7"/>
          <p:cNvSpPr/>
          <p:nvPr/>
        </p:nvSpPr>
        <p:spPr>
          <a:xfrm>
            <a:off x="1143000" y="7443043"/>
            <a:ext cx="14859000" cy="19050"/>
          </a:xfrm>
          <a:prstGeom prst="rect">
            <a:avLst/>
          </a:prstGeom>
          <a:solidFill>
            <a:srgbClr val="201E1E">
              <a:alpha val="40000"/>
            </a:srgbClr>
          </a:solidFill>
          <a:ln/>
        </p:spPr>
        <p:txBody>
          <a:bodyPr/>
          <a:lstStyle/>
          <a:p>
            <a:endParaRPr lang="en-US"/>
          </a:p>
        </p:txBody>
      </p:sp>
      <p:sp>
        <p:nvSpPr>
          <p:cNvPr id="10" name="Text 8"/>
          <p:cNvSpPr/>
          <p:nvPr/>
        </p:nvSpPr>
        <p:spPr>
          <a:xfrm>
            <a:off x="1143000" y="5690146"/>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Q2</a:t>
            </a:r>
            <a:endParaRPr lang="en-US" sz="1800" dirty="0"/>
          </a:p>
        </p:txBody>
      </p:sp>
      <p:sp>
        <p:nvSpPr>
          <p:cNvPr id="11" name="Text 9"/>
          <p:cNvSpPr/>
          <p:nvPr/>
        </p:nvSpPr>
        <p:spPr>
          <a:xfrm>
            <a:off x="1981200" y="5690146"/>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This is a toy — what would you add for production?</a:t>
            </a:r>
            <a:endParaRPr lang="en-US" sz="2550" dirty="0"/>
          </a:p>
        </p:txBody>
      </p:sp>
      <p:sp>
        <p:nvSpPr>
          <p:cNvPr id="12" name="Text 10"/>
          <p:cNvSpPr/>
          <p:nvPr/>
        </p:nvSpPr>
        <p:spPr>
          <a:xfrm>
            <a:off x="1981200" y="6055444"/>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Migrations over </a:t>
            </a:r>
            <a:r>
              <a:rPr lang="en-US" sz="1890" dirty="0">
                <a:solidFill>
                  <a:srgbClr val="201F1D">
                    <a:alpha val="62000"/>
                  </a:srgbClr>
                </a:solidFill>
                <a:latin typeface="Courier New" pitchFamily="34" charset="0"/>
                <a:ea typeface="Courier New" pitchFamily="34" charset="-122"/>
                <a:cs typeface="Courier New" pitchFamily="34" charset="-120"/>
              </a:rPr>
              <a:t>init.sql</a:t>
            </a:r>
            <a:r>
              <a:rPr lang="en-US" sz="2100" dirty="0">
                <a:solidFill>
                  <a:srgbClr val="201F1D">
                    <a:alpha val="62000"/>
                  </a:srgbClr>
                </a:solidFill>
                <a:latin typeface="Arial" pitchFamily="34" charset="0"/>
                <a:ea typeface="Arial" pitchFamily="34" charset="-122"/>
                <a:cs typeface="Arial" pitchFamily="34" charset="-120"/>
              </a:rPr>
              <a:t>, connection pooling, secrets, auth, pagination, logging, tests in CI, multi-stage images.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production maturity.</a:t>
            </a:r>
            <a:endParaRPr lang="en-US" sz="2100" dirty="0"/>
          </a:p>
        </p:txBody>
      </p:sp>
      <p:sp>
        <p:nvSpPr>
          <p:cNvPr id="13" name="Shape 11"/>
          <p:cNvSpPr/>
          <p:nvPr/>
        </p:nvSpPr>
        <p:spPr>
          <a:xfrm>
            <a:off x="1143000" y="9678665"/>
            <a:ext cx="14859000" cy="19050"/>
          </a:xfrm>
          <a:prstGeom prst="rect">
            <a:avLst/>
          </a:prstGeom>
          <a:solidFill>
            <a:srgbClr val="201E1E">
              <a:alpha val="40000"/>
            </a:srgbClr>
          </a:solidFill>
          <a:ln/>
        </p:spPr>
        <p:txBody>
          <a:bodyPr/>
          <a:lstStyle/>
          <a:p>
            <a:endParaRPr lang="en-US"/>
          </a:p>
        </p:txBody>
      </p:sp>
      <p:sp>
        <p:nvSpPr>
          <p:cNvPr id="14" name="Text 12"/>
          <p:cNvSpPr/>
          <p:nvPr/>
        </p:nvSpPr>
        <p:spPr>
          <a:xfrm>
            <a:off x="1143000" y="7925767"/>
            <a:ext cx="647700" cy="1327324"/>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EC3013"/>
                </a:solidFill>
                <a:latin typeface="Arial" pitchFamily="34" charset="0"/>
                <a:ea typeface="Arial" pitchFamily="34" charset="-122"/>
                <a:cs typeface="Arial" pitchFamily="34" charset="-120"/>
              </a:rPr>
              <a:t>Q3</a:t>
            </a:r>
            <a:endParaRPr lang="en-US" sz="1800" dirty="0"/>
          </a:p>
        </p:txBody>
      </p:sp>
      <p:sp>
        <p:nvSpPr>
          <p:cNvPr id="15" name="Text 13"/>
          <p:cNvSpPr/>
          <p:nvPr/>
        </p:nvSpPr>
        <p:spPr>
          <a:xfrm>
            <a:off x="1981200" y="7925767"/>
            <a:ext cx="15422880" cy="270049"/>
          </a:xfrm>
          <a:prstGeom prst="rect">
            <a:avLst/>
          </a:prstGeom>
          <a:noFill/>
          <a:ln/>
        </p:spPr>
        <p:txBody>
          <a:bodyPr wrap="square" lIns="25400" tIns="25400" rIns="25400" bIns="25400" rtlCol="0" anchor="t">
            <a:normAutofit/>
          </a:bodyPr>
          <a:lstStyle/>
          <a:p>
            <a:pPr marL="0" indent="0" algn="l">
              <a:lnSpc>
                <a:spcPct val="123077"/>
              </a:lnSpc>
              <a:buNone/>
            </a:pPr>
            <a:r>
              <a:rPr lang="en-US" sz="2550" b="1" dirty="0">
                <a:solidFill>
                  <a:srgbClr val="201E1D"/>
                </a:solidFill>
                <a:latin typeface="Arial" pitchFamily="34" charset="0"/>
                <a:ea typeface="Arial" pitchFamily="34" charset="-122"/>
                <a:cs typeface="Arial" pitchFamily="34" charset="-120"/>
              </a:rPr>
              <a:t>Where does this break under load, and what is the first fix?</a:t>
            </a:r>
            <a:endParaRPr lang="en-US" sz="2550" dirty="0"/>
          </a:p>
        </p:txBody>
      </p:sp>
      <p:sp>
        <p:nvSpPr>
          <p:cNvPr id="16" name="Text 14"/>
          <p:cNvSpPr/>
          <p:nvPr/>
        </p:nvSpPr>
        <p:spPr>
          <a:xfrm>
            <a:off x="1981200" y="8291066"/>
            <a:ext cx="14441424" cy="962025"/>
          </a:xfrm>
          <a:prstGeom prst="rect">
            <a:avLst/>
          </a:prstGeom>
          <a:noFill/>
          <a:ln/>
        </p:spPr>
        <p:txBody>
          <a:bodyPr wrap="square" lIns="25400" tIns="25400" rIns="25400" bIns="25400" rtlCol="0" anchor="t">
            <a:normAutofit/>
          </a:bodyPr>
          <a:lstStyle/>
          <a:p>
            <a:pPr marL="0" indent="0" algn="l">
              <a:lnSpc>
                <a:spcPct val="147692"/>
              </a:lnSpc>
              <a:buNone/>
            </a:pPr>
            <a:r>
              <a:rPr lang="en-US" sz="2100" dirty="0">
                <a:solidFill>
                  <a:srgbClr val="201F1D">
                    <a:alpha val="62000"/>
                  </a:srgbClr>
                </a:solidFill>
                <a:latin typeface="Arial" pitchFamily="34" charset="0"/>
                <a:ea typeface="Arial" pitchFamily="34" charset="-122"/>
                <a:cs typeface="Arial" pitchFamily="34" charset="-120"/>
              </a:rPr>
              <a:t>Database connections — add pooling; keep the api stateless so it scales horizontally behind the published port. </a:t>
            </a:r>
            <a:r>
              <a:rPr lang="en-US" sz="1800" b="1" dirty="0">
                <a:solidFill>
                  <a:srgbClr val="AE1800"/>
                </a:solidFill>
                <a:latin typeface="Arial" pitchFamily="34" charset="0"/>
                <a:ea typeface="Arial" pitchFamily="34" charset="-122"/>
                <a:cs typeface="Arial" pitchFamily="34" charset="-120"/>
              </a:rPr>
              <a:t>Signal </a:t>
            </a:r>
            <a:r>
              <a:rPr lang="en-US" sz="2100" dirty="0">
                <a:solidFill>
                  <a:srgbClr val="201F1D">
                    <a:alpha val="62000"/>
                  </a:srgbClr>
                </a:solidFill>
                <a:latin typeface="Arial" pitchFamily="34" charset="0"/>
                <a:ea typeface="Arial" pitchFamily="34" charset="-122"/>
                <a:cs typeface="Arial" pitchFamily="34" charset="-120"/>
              </a:rPr>
              <a:t>bottleneck instinct.</a:t>
            </a:r>
            <a:endParaRPr lang="en-US" sz="2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143000" y="528935"/>
            <a:ext cx="1760220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kern="0" spc="144" dirty="0">
                <a:solidFill>
                  <a:srgbClr val="EC3013"/>
                </a:solidFill>
                <a:latin typeface="Arial" pitchFamily="34" charset="0"/>
                <a:ea typeface="Arial" pitchFamily="34" charset="-122"/>
                <a:cs typeface="Arial" pitchFamily="34" charset="-120"/>
              </a:rPr>
              <a:t>THE BRIDGE SESSION · MODULE 1 → MODULE 2</a:t>
            </a:r>
            <a:endParaRPr lang="en-US" sz="1800" dirty="0"/>
          </a:p>
        </p:txBody>
      </p:sp>
      <p:sp>
        <p:nvSpPr>
          <p:cNvPr id="3" name="Text 1"/>
          <p:cNvSpPr/>
          <p:nvPr/>
        </p:nvSpPr>
        <p:spPr>
          <a:xfrm>
            <a:off x="1074539" y="3307556"/>
            <a:ext cx="17677507" cy="1181100"/>
          </a:xfrm>
          <a:prstGeom prst="rect">
            <a:avLst/>
          </a:prstGeom>
          <a:noFill/>
          <a:ln/>
        </p:spPr>
        <p:txBody>
          <a:bodyPr wrap="square" lIns="25400" tIns="25400" rIns="25400" bIns="25400" rtlCol="0" anchor="t">
            <a:normAutofit/>
          </a:bodyPr>
          <a:lstStyle/>
          <a:p>
            <a:pPr marL="0" indent="0" algn="l">
              <a:lnSpc>
                <a:spcPct val="83916"/>
              </a:lnSpc>
              <a:buNone/>
            </a:pPr>
            <a:r>
              <a:rPr lang="en-US" sz="9300" b="1" kern="0" spc="-186" dirty="0">
                <a:solidFill>
                  <a:srgbClr val="201E1D"/>
                </a:solidFill>
                <a:latin typeface="Arial" pitchFamily="34" charset="0"/>
                <a:ea typeface="Arial" pitchFamily="34" charset="-122"/>
                <a:cs typeface="Arial" pitchFamily="34" charset="-120"/>
              </a:rPr>
              <a:t>The loop is closed</a:t>
            </a:r>
            <a:endParaRPr lang="en-US" sz="9300" dirty="0"/>
          </a:p>
        </p:txBody>
      </p:sp>
      <p:sp>
        <p:nvSpPr>
          <p:cNvPr id="4" name="Text 2"/>
          <p:cNvSpPr/>
          <p:nvPr/>
        </p:nvSpPr>
        <p:spPr>
          <a:xfrm>
            <a:off x="1142999" y="4907756"/>
            <a:ext cx="12791942" cy="1881187"/>
          </a:xfrm>
          <a:prstGeom prst="rect">
            <a:avLst/>
          </a:prstGeom>
          <a:noFill/>
          <a:ln/>
        </p:spPr>
        <p:txBody>
          <a:bodyPr wrap="square" lIns="25400" tIns="25400" rIns="25400" bIns="25400" rtlCol="0" anchor="t">
            <a:normAutofit/>
          </a:bodyPr>
          <a:lstStyle/>
          <a:p>
            <a:pPr marL="0" indent="0" algn="l">
              <a:lnSpc>
                <a:spcPct val="104348"/>
              </a:lnSpc>
              <a:buNone/>
            </a:pPr>
            <a:r>
              <a:rPr lang="en-US" sz="3000" dirty="0">
                <a:solidFill>
                  <a:srgbClr val="211D1D">
                    <a:alpha val="55000"/>
                  </a:srgbClr>
                </a:solidFill>
                <a:latin typeface="Arial" pitchFamily="34" charset="0"/>
                <a:ea typeface="Arial" pitchFamily="34" charset="-122"/>
                <a:cs typeface="Arial" pitchFamily="34" charset="-120"/>
              </a:rPr>
              <a:t>A typed service, a page that calls it, a database and containers behind them — running together, pushed to Git. Re-run </a:t>
            </a:r>
            <a:r>
              <a:rPr lang="en-US" sz="2460" dirty="0">
                <a:solidFill>
                  <a:srgbClr val="211D1D">
                    <a:alpha val="55000"/>
                  </a:srgbClr>
                </a:solidFill>
                <a:latin typeface="Courier New" pitchFamily="34" charset="0"/>
                <a:ea typeface="Courier New" pitchFamily="34" charset="-122"/>
                <a:cs typeface="Courier New" pitchFamily="34" charset="-120"/>
              </a:rPr>
              <a:t>checkpoint-complete</a:t>
            </a:r>
            <a:r>
              <a:rPr lang="en-US" sz="3000" dirty="0">
                <a:solidFill>
                  <a:srgbClr val="211D1D">
                    <a:alpha val="55000"/>
                  </a:srgbClr>
                </a:solidFill>
                <a:latin typeface="Arial" pitchFamily="34" charset="0"/>
                <a:ea typeface="Arial" pitchFamily="34" charset="-122"/>
                <a:cs typeface="Arial" pitchFamily="34" charset="-120"/>
              </a:rPr>
              <a:t>.</a:t>
            </a:r>
            <a:endParaRPr lang="en-US" sz="3000" dirty="0"/>
          </a:p>
        </p:txBody>
      </p:sp>
      <p:sp>
        <p:nvSpPr>
          <p:cNvPr id="5" name="Text 3"/>
          <p:cNvSpPr/>
          <p:nvPr/>
        </p:nvSpPr>
        <p:spPr>
          <a:xfrm>
            <a:off x="1143000" y="8987210"/>
            <a:ext cx="1967560"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Python &amp; FastAPI</a:t>
            </a:r>
            <a:endParaRPr lang="en-US" sz="1800" dirty="0"/>
          </a:p>
        </p:txBody>
      </p:sp>
      <p:sp>
        <p:nvSpPr>
          <p:cNvPr id="6" name="Text 4"/>
          <p:cNvSpPr/>
          <p:nvPr/>
        </p:nvSpPr>
        <p:spPr>
          <a:xfrm>
            <a:off x="3103141" y="8987210"/>
            <a:ext cx="152326"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3350716" y="8987210"/>
            <a:ext cx="2528188"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Integration Checkpoint</a:t>
            </a:r>
            <a:endParaRPr lang="en-US" sz="1800" dirty="0"/>
          </a:p>
        </p:txBody>
      </p:sp>
      <p:sp>
        <p:nvSpPr>
          <p:cNvPr id="8" name="Text 6"/>
          <p:cNvSpPr/>
          <p:nvPr/>
        </p:nvSpPr>
        <p:spPr>
          <a:xfrm>
            <a:off x="5820519" y="8987210"/>
            <a:ext cx="152326"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6068095" y="8987210"/>
            <a:ext cx="1548787" cy="194890"/>
          </a:xfrm>
          <a:prstGeom prst="rect">
            <a:avLst/>
          </a:prstGeom>
          <a:noFill/>
          <a:ln/>
        </p:spPr>
        <p:txBody>
          <a:bodyPr wrap="square" lIns="25400" tIns="25400" rIns="25400" bIns="25400" rtlCol="0" anchor="t">
            <a:normAutofit/>
          </a:bodyPr>
          <a:lstStyle/>
          <a:p>
            <a:pPr marL="0" indent="0" algn="l">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Week 1 ahead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417</TotalTime>
  <Words>7509</Words>
  <Application>Microsoft Macintosh PowerPoint</Application>
  <PresentationFormat>Custom</PresentationFormat>
  <Paragraphs>972</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Amit Pandey</cp:lastModifiedBy>
  <cp:revision>12</cp:revision>
  <dcterms:created xsi:type="dcterms:W3CDTF">2026-07-19T15:30:41Z</dcterms:created>
  <dcterms:modified xsi:type="dcterms:W3CDTF">2026-07-19T22:28:31Z</dcterms:modified>
</cp:coreProperties>
</file>